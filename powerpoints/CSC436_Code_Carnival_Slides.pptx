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cb7c89-eca5-babe-3506-f0fa5556f2fb}">
          <p14:sldIdLst>
            <p14:sldId id="256"/>
            <p14:sldId id="257"/>
            <p14:sldId id="258"/>
          </p14:sldIdLst>
        </p14:section>
        <p14:section name="Barker's Guesses" id="{2a5f1ee3-03a1-ecb3-18a0-afde65ee1779}">
          <p14:sldIdLst>
            <p14:sldId id="259"/>
            <p14:sldId id="260"/>
            <p14:sldId id="261"/>
            <p14:sldId id="262"/>
            <p14:sldId id="263"/>
            <p14:sldId id="264"/>
            <p14:sldId id="265"/>
          </p14:sldIdLst>
        </p14:section>
        <p14:section name="The Big Top" id="{625dd6f0-16ae-9943-6bfd-feae664de97c}">
          <p14:sldIdLst>
            <p14:sldId id="266"/>
            <p14:sldId id="267"/>
            <p14:sldId id="268"/>
            <p14:sldId id="269"/>
            <p14:sldId id="270"/>
            <p14:sldId id="271"/>
            <p14:sldId id="272"/>
            <p14:sldId id="273"/>
            <p14:sldId id="274"/>
            <p14:sldId id="275"/>
          </p14:sldIdLst>
        </p14:section>
        <p14:section name="The Midway" id="{026666d5-5be5-7d83-ba56-b3b626ebad48}">
          <p14:sldIdLst>
            <p14:sldId id="276"/>
            <p14:sldId id="277"/>
            <p14:sldId id="278"/>
            <p14:sldId id="279"/>
            <p14:sldId id="280"/>
          </p14:sldIdLst>
        </p14:section>
        <p14:section name="Grand Finale" id="{6e894d00-9321-58a9-ff61-d7b007adcaae}">
          <p14:sldIdLst>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Music on as students arrive. Raffle tickets visible on the desk. SAY: "Welcome to the Code Carnival. Today nothing is graded except your fun. Everything you finish pays out in tickets, and at 2:05 the Prize Counter opens. Teams with the most tickets shop first." Get students into 9 teams of 3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walkthrough of the day. The path line should be drawn behind the circles; if it shows on top, send it to back in PowerPoint.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tickets immediately when a team hits a milestone. The instant payout is what keeps energy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in the room is expected to know these topics yet. Say that out loud: "These are guesses, not a quiz. Wrong answers are how we learn what today is about." Each answer reveal is a 30 second preview of something we teach later. Correct teams get 2 tickets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AND PREVIEW: C. Modern browsers can draw 3D on their own. Three.js is a JavaScript library that makes that much easier to use. If the projector is free, open a well-known 3D portfolio site (search "Bruno Simon portfolio") and drive around for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AND PREVIEW: D. Three.js thinks like a film crew: a scene (the set), meshes (the actors), a camera, and lights. We will use exactly this analogy in Act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AND PREVIEW: There is no wrong drawing. Reveal: a red button, white text, fully rounded pill shape, roomy padding, and a drop shadow. That is Tailwind CSS: the class names describe the look, so you can often guess the result without knowing CSS. Give tickets to the closest 2 or 3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AND PREVIEW: B. A framework is a pile of styling someone already wrote and tested. You snap the pieces together instead of building every piece yourself. Act 2 is a tour of the most popular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AND PREVIEW: Open discussion, take 3 or 4 guesses. Reveal: if the site is careless, the browser may treat that text as part of the page and run it for every visitor who loads the comments. That family of problems is called cross-site scripting (XSS). The fix is simple and we will see it in Act 3: always show visitor text as plain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AND PREVIEW: D. Bots constantly scan public code for leaked keys, and leaks can be found very quickly. That is why secrets never go in your code or your repo. Act 3 shows where they go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minutes per act. Each act goes: what is it, words you will hear, a tiny demo. Keep it tight; the booths are where they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zero 3D knowledge. If anyone has used Blender, Unity, or Roblox Studio, invite them to share: same ideas, different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Point at each card and give an everyday example. Ask: "If I forget the camera, what does the audience see?" (Nothing.) This slide is the vocabulary for the whole booth.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it in chunks and refresh after each chunk so they see nothing, then a canvas, then a cube. DELIBERATE MISTAKE: the cube is black. Ask the room why, and pay tickets to anyone who remembers Guess 2 ("we forgot the lights"). Then add: scene.add(new THREE.AmbientLight(0xffffff, 0.5)); Do not explain PerspectiveCamera arguments in detail; say "60 is how wide the lens is, the rest we can ignore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Guess 4 (the LEGO box). Keep this conceptual. Nobody needs to know CSS selectors to use Tailwind classes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one HTML tag on the whiteboard with class="..." and point to it. That is the only CSS knowledge they need for the booth.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what the Fun House booth uses. The bottom row is the Bonus Framework Tour. Mention that shadcn/ui pairs with the React work we have been doing all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inside the fun-house page of the starter so the frameworks are already loaded. Version 2 is the button they drew in Guess 3, so show the drawings again. Finish by clicking the Synthwave theme button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ride inspection, not hacking. We are the people who make rides safe. Callback to Guess 5 (XSS) and Guess 6 (leaked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"If a key is in your React code, who can see it?" Target: anyone who opens DevTools. Callback to Guess 6. If students already know Supabase: the anon key is fine in the browser only because RLS decides what each user can do; the service role key never goes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1 to 3 start at Ring Toss, 4 to 6 at Fun House, 7 to 9 at Safety Inspector. Rotate clockwise.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usual station model in costume: Safety Inspector is the instructor station, Fun House is collaborative, Ring Toss is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only need the Act 1 words to do Bronze and Silver. Common snags: black scene means no lights; a shape that is missing is usually behind the camera or not added with scene.add(). The click detection (a raycaster, an invisible laser from the mouse into the scene) is already written for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should keep tailwindcss.com/docs and daisyui.com/components open in a tab. WATCH FOR: classes typed with a typo silently do nothing (bg-red-50O). If a class has no effect, check spelling against the docs first. Theme buttons use DaisyUI theme-controller, which needs no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is in the lesson plan. The five cards: secret key in a component, RLS off, user text via innerHTML, no validation, .env committed. Push for "rotate the key" on card 5, not just "delete the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name their booth in the header first. Call "ten minutes to opening" at 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1:35 every team should have Silver. If not, lock in Bronze plus Gold and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the build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count tickets; highest total shops first. Adjust prices to your prize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one sentence each: Three.js is scene, camera, renderer. CSS can animate almost anything with transform. Visitor text is text, validate twice, secrets stay backstage.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NT_LIGH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609585" cy="320040"/>
          </a:xfrm>
          <a:prstGeom prst="rect">
            <a:avLst/>
          </a:prstGeom>
          <a:solidFill>
            <a:schemeClr val="accent1"/>
          </a:solidFill>
          <a:ln/>
        </p:spPr>
      </p:sp>
      <p:sp>
        <p:nvSpPr>
          <p:cNvPr id="3" name="Shape 1"/>
          <p:cNvSpPr/>
          <p:nvPr/>
        </p:nvSpPr>
        <p:spPr>
          <a:xfrm>
            <a:off x="609585" y="0"/>
            <a:ext cx="609585" cy="320040"/>
          </a:xfrm>
          <a:prstGeom prst="rect">
            <a:avLst/>
          </a:prstGeom>
          <a:solidFill>
            <a:schemeClr val="bg2"/>
          </a:solidFill>
          <a:ln/>
        </p:spPr>
      </p:sp>
      <p:sp>
        <p:nvSpPr>
          <p:cNvPr id="4" name="Shape 2"/>
          <p:cNvSpPr/>
          <p:nvPr/>
        </p:nvSpPr>
        <p:spPr>
          <a:xfrm>
            <a:off x="1219170" y="0"/>
            <a:ext cx="609585" cy="320040"/>
          </a:xfrm>
          <a:prstGeom prst="rect">
            <a:avLst/>
          </a:prstGeom>
          <a:solidFill>
            <a:schemeClr val="accent1"/>
          </a:solidFill>
          <a:ln/>
        </p:spPr>
      </p:sp>
      <p:sp>
        <p:nvSpPr>
          <p:cNvPr id="5" name="Shape 3"/>
          <p:cNvSpPr/>
          <p:nvPr/>
        </p:nvSpPr>
        <p:spPr>
          <a:xfrm>
            <a:off x="1828754" y="0"/>
            <a:ext cx="609585" cy="320040"/>
          </a:xfrm>
          <a:prstGeom prst="rect">
            <a:avLst/>
          </a:prstGeom>
          <a:solidFill>
            <a:schemeClr val="bg2"/>
          </a:solidFill>
          <a:ln/>
        </p:spPr>
      </p:sp>
      <p:sp>
        <p:nvSpPr>
          <p:cNvPr id="6" name="Shape 4"/>
          <p:cNvSpPr/>
          <p:nvPr/>
        </p:nvSpPr>
        <p:spPr>
          <a:xfrm>
            <a:off x="2438339" y="0"/>
            <a:ext cx="609585" cy="320040"/>
          </a:xfrm>
          <a:prstGeom prst="rect">
            <a:avLst/>
          </a:prstGeom>
          <a:solidFill>
            <a:schemeClr val="accent1"/>
          </a:solidFill>
          <a:ln/>
        </p:spPr>
      </p:sp>
      <p:sp>
        <p:nvSpPr>
          <p:cNvPr id="7" name="Shape 5"/>
          <p:cNvSpPr/>
          <p:nvPr/>
        </p:nvSpPr>
        <p:spPr>
          <a:xfrm>
            <a:off x="3047924" y="0"/>
            <a:ext cx="609585" cy="320040"/>
          </a:xfrm>
          <a:prstGeom prst="rect">
            <a:avLst/>
          </a:prstGeom>
          <a:solidFill>
            <a:schemeClr val="bg2"/>
          </a:solidFill>
          <a:ln/>
        </p:spPr>
      </p:sp>
      <p:sp>
        <p:nvSpPr>
          <p:cNvPr id="8" name="Shape 6"/>
          <p:cNvSpPr/>
          <p:nvPr/>
        </p:nvSpPr>
        <p:spPr>
          <a:xfrm>
            <a:off x="3657509" y="0"/>
            <a:ext cx="609585" cy="320040"/>
          </a:xfrm>
          <a:prstGeom prst="rect">
            <a:avLst/>
          </a:prstGeom>
          <a:solidFill>
            <a:schemeClr val="accent1"/>
          </a:solidFill>
          <a:ln/>
        </p:spPr>
      </p:sp>
      <p:sp>
        <p:nvSpPr>
          <p:cNvPr id="9" name="Shape 7"/>
          <p:cNvSpPr/>
          <p:nvPr/>
        </p:nvSpPr>
        <p:spPr>
          <a:xfrm>
            <a:off x="4267093" y="0"/>
            <a:ext cx="609585" cy="320040"/>
          </a:xfrm>
          <a:prstGeom prst="rect">
            <a:avLst/>
          </a:prstGeom>
          <a:solidFill>
            <a:schemeClr val="bg2"/>
          </a:solidFill>
          <a:ln/>
        </p:spPr>
      </p:sp>
      <p:sp>
        <p:nvSpPr>
          <p:cNvPr id="10" name="Shape 8"/>
          <p:cNvSpPr/>
          <p:nvPr/>
        </p:nvSpPr>
        <p:spPr>
          <a:xfrm>
            <a:off x="4876678" y="0"/>
            <a:ext cx="609585" cy="320040"/>
          </a:xfrm>
          <a:prstGeom prst="rect">
            <a:avLst/>
          </a:prstGeom>
          <a:solidFill>
            <a:schemeClr val="accent1"/>
          </a:solidFill>
          <a:ln/>
        </p:spPr>
      </p:sp>
      <p:sp>
        <p:nvSpPr>
          <p:cNvPr id="11" name="Shape 9"/>
          <p:cNvSpPr/>
          <p:nvPr/>
        </p:nvSpPr>
        <p:spPr>
          <a:xfrm>
            <a:off x="5486263" y="0"/>
            <a:ext cx="609585" cy="320040"/>
          </a:xfrm>
          <a:prstGeom prst="rect">
            <a:avLst/>
          </a:prstGeom>
          <a:solidFill>
            <a:schemeClr val="bg2"/>
          </a:solidFill>
          <a:ln/>
        </p:spPr>
      </p:sp>
      <p:sp>
        <p:nvSpPr>
          <p:cNvPr id="12" name="Shape 10"/>
          <p:cNvSpPr/>
          <p:nvPr/>
        </p:nvSpPr>
        <p:spPr>
          <a:xfrm>
            <a:off x="6095848" y="0"/>
            <a:ext cx="609585" cy="320040"/>
          </a:xfrm>
          <a:prstGeom prst="rect">
            <a:avLst/>
          </a:prstGeom>
          <a:solidFill>
            <a:schemeClr val="accent1"/>
          </a:solidFill>
          <a:ln/>
        </p:spPr>
      </p:sp>
      <p:sp>
        <p:nvSpPr>
          <p:cNvPr id="13" name="Shape 11"/>
          <p:cNvSpPr/>
          <p:nvPr/>
        </p:nvSpPr>
        <p:spPr>
          <a:xfrm>
            <a:off x="6705432" y="0"/>
            <a:ext cx="609585" cy="320040"/>
          </a:xfrm>
          <a:prstGeom prst="rect">
            <a:avLst/>
          </a:prstGeom>
          <a:solidFill>
            <a:schemeClr val="bg2"/>
          </a:solidFill>
          <a:ln/>
        </p:spPr>
      </p:sp>
      <p:sp>
        <p:nvSpPr>
          <p:cNvPr id="14" name="Shape 12"/>
          <p:cNvSpPr/>
          <p:nvPr/>
        </p:nvSpPr>
        <p:spPr>
          <a:xfrm>
            <a:off x="7315017" y="0"/>
            <a:ext cx="609585" cy="320040"/>
          </a:xfrm>
          <a:prstGeom prst="rect">
            <a:avLst/>
          </a:prstGeom>
          <a:solidFill>
            <a:schemeClr val="accent1"/>
          </a:solidFill>
          <a:ln/>
        </p:spPr>
      </p:sp>
      <p:sp>
        <p:nvSpPr>
          <p:cNvPr id="15" name="Shape 13"/>
          <p:cNvSpPr/>
          <p:nvPr/>
        </p:nvSpPr>
        <p:spPr>
          <a:xfrm>
            <a:off x="7924602" y="0"/>
            <a:ext cx="609585" cy="320040"/>
          </a:xfrm>
          <a:prstGeom prst="rect">
            <a:avLst/>
          </a:prstGeom>
          <a:solidFill>
            <a:schemeClr val="bg2"/>
          </a:solidFill>
          <a:ln/>
        </p:spPr>
      </p:sp>
      <p:sp>
        <p:nvSpPr>
          <p:cNvPr id="16" name="Shape 14"/>
          <p:cNvSpPr/>
          <p:nvPr/>
        </p:nvSpPr>
        <p:spPr>
          <a:xfrm>
            <a:off x="8534187" y="0"/>
            <a:ext cx="609585" cy="320040"/>
          </a:xfrm>
          <a:prstGeom prst="rect">
            <a:avLst/>
          </a:prstGeom>
          <a:solidFill>
            <a:schemeClr val="accent1"/>
          </a:solidFill>
          <a:ln/>
        </p:spPr>
      </p:sp>
      <p:sp>
        <p:nvSpPr>
          <p:cNvPr id="17" name="Shape 15"/>
          <p:cNvSpPr/>
          <p:nvPr/>
        </p:nvSpPr>
        <p:spPr>
          <a:xfrm>
            <a:off x="9143771" y="0"/>
            <a:ext cx="609585" cy="320040"/>
          </a:xfrm>
          <a:prstGeom prst="rect">
            <a:avLst/>
          </a:prstGeom>
          <a:solidFill>
            <a:schemeClr val="bg2"/>
          </a:solidFill>
          <a:ln/>
        </p:spPr>
      </p:sp>
      <p:sp>
        <p:nvSpPr>
          <p:cNvPr id="18" name="Shape 16"/>
          <p:cNvSpPr/>
          <p:nvPr/>
        </p:nvSpPr>
        <p:spPr>
          <a:xfrm>
            <a:off x="9753356" y="0"/>
            <a:ext cx="609585" cy="320040"/>
          </a:xfrm>
          <a:prstGeom prst="rect">
            <a:avLst/>
          </a:prstGeom>
          <a:solidFill>
            <a:schemeClr val="accent1"/>
          </a:solidFill>
          <a:ln/>
        </p:spPr>
      </p:sp>
      <p:sp>
        <p:nvSpPr>
          <p:cNvPr id="19" name="Shape 17"/>
          <p:cNvSpPr/>
          <p:nvPr/>
        </p:nvSpPr>
        <p:spPr>
          <a:xfrm>
            <a:off x="10362941" y="0"/>
            <a:ext cx="609585" cy="320040"/>
          </a:xfrm>
          <a:prstGeom prst="rect">
            <a:avLst/>
          </a:prstGeom>
          <a:solidFill>
            <a:schemeClr val="bg2"/>
          </a:solidFill>
          <a:ln/>
        </p:spPr>
      </p:sp>
      <p:sp>
        <p:nvSpPr>
          <p:cNvPr id="20" name="Shape 18"/>
          <p:cNvSpPr/>
          <p:nvPr/>
        </p:nvSpPr>
        <p:spPr>
          <a:xfrm>
            <a:off x="10972526" y="0"/>
            <a:ext cx="609585" cy="320040"/>
          </a:xfrm>
          <a:prstGeom prst="rect">
            <a:avLst/>
          </a:prstGeom>
          <a:solidFill>
            <a:schemeClr val="accent1"/>
          </a:solidFill>
          <a:ln/>
        </p:spPr>
      </p:sp>
      <p:sp>
        <p:nvSpPr>
          <p:cNvPr id="21" name="Shape 19"/>
          <p:cNvSpPr/>
          <p:nvPr/>
        </p:nvSpPr>
        <p:spPr>
          <a:xfrm>
            <a:off x="11582110" y="0"/>
            <a:ext cx="609585" cy="320040"/>
          </a:xfrm>
          <a:prstGeom prst="rect">
            <a:avLst/>
          </a:prstGeom>
          <a:solidFill>
            <a:schemeClr val="bg2"/>
          </a:solidFill>
          <a:ln/>
        </p:spPr>
      </p:sp>
      <p:sp>
        <p:nvSpPr>
          <p:cNvPr id="22" name="Shape 20"/>
          <p:cNvSpPr/>
          <p:nvPr/>
        </p:nvSpPr>
        <p:spPr>
          <a:xfrm>
            <a:off x="0" y="320040"/>
            <a:ext cx="12191695" cy="73152"/>
          </a:xfrm>
          <a:prstGeom prst="rect">
            <a:avLst/>
          </a:prstGeom>
          <a:solidFill>
            <a:schemeClr val="accent2"/>
          </a:solidFill>
          <a:ln/>
        </p:spPr>
      </p:sp>
      <p:sp>
        <p:nvSpPr>
          <p:cNvPr id="23" name="Text 21"/>
          <p:cNvSpPr/>
          <p:nvPr>
            <p:ph idx="121" type="title" hasCustomPrompt="1"/>
          </p:nvPr>
        </p:nvSpPr>
        <p:spPr>
          <a:xfrm>
            <a:off x="548640" y="548640"/>
            <a:ext cx="11064240" cy="822960"/>
          </a:xfrm>
          <a:prstGeom prst="rect">
            <a:avLst/>
          </a:prstGeom>
          <a:noFill/>
          <a:ln/>
        </p:spPr>
        <p:txBody>
          <a:bodyPr wrap="square" rtlCol="0"/>
          <a:lstStyle>
            <a:lvl1pPr indent="0" marL="0">
              <a:buNone/>
              <a:defRPr lang="en-US" sz="3400" b="1" dirty="0">
                <a:solidFill>
                  <a:schemeClr val="accent1"/>
                </a:solidFill>
              </a:defRPr>
            </a:lvl1pPr>
          </a:lstStyle>
          <a:p>
            <a:pPr indent="0" marL="0">
              <a:buNone/>
            </a:pPr>
            <a:endParaRPr lang="en-US" sz="3400" dirty="0"/>
          </a:p>
        </p:txBody>
      </p:sp>
      <p:sp>
        <p:nvSpPr>
          <p:cNvPr id="24" name="Shape 21"/>
          <p:cNvSpPr/>
          <p:nvPr/>
        </p:nvSpPr>
        <p:spPr>
          <a:xfrm>
            <a:off x="0" y="6583680"/>
            <a:ext cx="12191695" cy="274320"/>
          </a:xfrm>
          <a:prstGeom prst="rect">
            <a:avLst/>
          </a:prstGeom>
          <a:solidFill>
            <a:schemeClr val="tx2"/>
          </a:solidFill>
          <a:ln/>
        </p:spPr>
      </p:sp>
      <p:sp>
        <p:nvSpPr>
          <p:cNvPr id="25" name="Text 22"/>
          <p:cNvSpPr/>
          <p:nvPr/>
        </p:nvSpPr>
        <p:spPr>
          <a:xfrm>
            <a:off x="548640" y="6583680"/>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CSC 436  |  The Code Carnival</a:t>
            </a:r>
            <a:endParaRPr lang="en-US" sz="10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NT_DARK">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0" y="0"/>
            <a:ext cx="609585" cy="548640"/>
          </a:xfrm>
          <a:prstGeom prst="rect">
            <a:avLst/>
          </a:prstGeom>
          <a:solidFill>
            <a:schemeClr val="accent1"/>
          </a:solidFill>
          <a:ln/>
        </p:spPr>
      </p:sp>
      <p:sp>
        <p:nvSpPr>
          <p:cNvPr id="3" name="Shape 1"/>
          <p:cNvSpPr/>
          <p:nvPr/>
        </p:nvSpPr>
        <p:spPr>
          <a:xfrm>
            <a:off x="609585" y="0"/>
            <a:ext cx="609585" cy="548640"/>
          </a:xfrm>
          <a:prstGeom prst="rect">
            <a:avLst/>
          </a:prstGeom>
          <a:solidFill>
            <a:schemeClr val="bg2"/>
          </a:solidFill>
          <a:ln/>
        </p:spPr>
      </p:sp>
      <p:sp>
        <p:nvSpPr>
          <p:cNvPr id="4" name="Shape 2"/>
          <p:cNvSpPr/>
          <p:nvPr/>
        </p:nvSpPr>
        <p:spPr>
          <a:xfrm>
            <a:off x="1219170" y="0"/>
            <a:ext cx="609585" cy="548640"/>
          </a:xfrm>
          <a:prstGeom prst="rect">
            <a:avLst/>
          </a:prstGeom>
          <a:solidFill>
            <a:schemeClr val="accent1"/>
          </a:solidFill>
          <a:ln/>
        </p:spPr>
      </p:sp>
      <p:sp>
        <p:nvSpPr>
          <p:cNvPr id="5" name="Shape 3"/>
          <p:cNvSpPr/>
          <p:nvPr/>
        </p:nvSpPr>
        <p:spPr>
          <a:xfrm>
            <a:off x="1828754" y="0"/>
            <a:ext cx="609585" cy="548640"/>
          </a:xfrm>
          <a:prstGeom prst="rect">
            <a:avLst/>
          </a:prstGeom>
          <a:solidFill>
            <a:schemeClr val="bg2"/>
          </a:solidFill>
          <a:ln/>
        </p:spPr>
      </p:sp>
      <p:sp>
        <p:nvSpPr>
          <p:cNvPr id="6" name="Shape 4"/>
          <p:cNvSpPr/>
          <p:nvPr/>
        </p:nvSpPr>
        <p:spPr>
          <a:xfrm>
            <a:off x="2438339" y="0"/>
            <a:ext cx="609585" cy="548640"/>
          </a:xfrm>
          <a:prstGeom prst="rect">
            <a:avLst/>
          </a:prstGeom>
          <a:solidFill>
            <a:schemeClr val="accent1"/>
          </a:solidFill>
          <a:ln/>
        </p:spPr>
      </p:sp>
      <p:sp>
        <p:nvSpPr>
          <p:cNvPr id="7" name="Shape 5"/>
          <p:cNvSpPr/>
          <p:nvPr/>
        </p:nvSpPr>
        <p:spPr>
          <a:xfrm>
            <a:off x="3047924" y="0"/>
            <a:ext cx="609585" cy="548640"/>
          </a:xfrm>
          <a:prstGeom prst="rect">
            <a:avLst/>
          </a:prstGeom>
          <a:solidFill>
            <a:schemeClr val="bg2"/>
          </a:solidFill>
          <a:ln/>
        </p:spPr>
      </p:sp>
      <p:sp>
        <p:nvSpPr>
          <p:cNvPr id="8" name="Shape 6"/>
          <p:cNvSpPr/>
          <p:nvPr/>
        </p:nvSpPr>
        <p:spPr>
          <a:xfrm>
            <a:off x="3657509" y="0"/>
            <a:ext cx="609585" cy="548640"/>
          </a:xfrm>
          <a:prstGeom prst="rect">
            <a:avLst/>
          </a:prstGeom>
          <a:solidFill>
            <a:schemeClr val="accent1"/>
          </a:solidFill>
          <a:ln/>
        </p:spPr>
      </p:sp>
      <p:sp>
        <p:nvSpPr>
          <p:cNvPr id="9" name="Shape 7"/>
          <p:cNvSpPr/>
          <p:nvPr/>
        </p:nvSpPr>
        <p:spPr>
          <a:xfrm>
            <a:off x="4267093" y="0"/>
            <a:ext cx="609585" cy="548640"/>
          </a:xfrm>
          <a:prstGeom prst="rect">
            <a:avLst/>
          </a:prstGeom>
          <a:solidFill>
            <a:schemeClr val="bg2"/>
          </a:solidFill>
          <a:ln/>
        </p:spPr>
      </p:sp>
      <p:sp>
        <p:nvSpPr>
          <p:cNvPr id="10" name="Shape 8"/>
          <p:cNvSpPr/>
          <p:nvPr/>
        </p:nvSpPr>
        <p:spPr>
          <a:xfrm>
            <a:off x="4876678" y="0"/>
            <a:ext cx="609585" cy="548640"/>
          </a:xfrm>
          <a:prstGeom prst="rect">
            <a:avLst/>
          </a:prstGeom>
          <a:solidFill>
            <a:schemeClr val="accent1"/>
          </a:solidFill>
          <a:ln/>
        </p:spPr>
      </p:sp>
      <p:sp>
        <p:nvSpPr>
          <p:cNvPr id="11" name="Shape 9"/>
          <p:cNvSpPr/>
          <p:nvPr/>
        </p:nvSpPr>
        <p:spPr>
          <a:xfrm>
            <a:off x="5486263" y="0"/>
            <a:ext cx="609585" cy="548640"/>
          </a:xfrm>
          <a:prstGeom prst="rect">
            <a:avLst/>
          </a:prstGeom>
          <a:solidFill>
            <a:schemeClr val="bg2"/>
          </a:solidFill>
          <a:ln/>
        </p:spPr>
      </p:sp>
      <p:sp>
        <p:nvSpPr>
          <p:cNvPr id="12" name="Shape 10"/>
          <p:cNvSpPr/>
          <p:nvPr/>
        </p:nvSpPr>
        <p:spPr>
          <a:xfrm>
            <a:off x="6095848" y="0"/>
            <a:ext cx="609585" cy="548640"/>
          </a:xfrm>
          <a:prstGeom prst="rect">
            <a:avLst/>
          </a:prstGeom>
          <a:solidFill>
            <a:schemeClr val="accent1"/>
          </a:solidFill>
          <a:ln/>
        </p:spPr>
      </p:sp>
      <p:sp>
        <p:nvSpPr>
          <p:cNvPr id="13" name="Shape 11"/>
          <p:cNvSpPr/>
          <p:nvPr/>
        </p:nvSpPr>
        <p:spPr>
          <a:xfrm>
            <a:off x="6705432" y="0"/>
            <a:ext cx="609585" cy="548640"/>
          </a:xfrm>
          <a:prstGeom prst="rect">
            <a:avLst/>
          </a:prstGeom>
          <a:solidFill>
            <a:schemeClr val="bg2"/>
          </a:solidFill>
          <a:ln/>
        </p:spPr>
      </p:sp>
      <p:sp>
        <p:nvSpPr>
          <p:cNvPr id="14" name="Shape 12"/>
          <p:cNvSpPr/>
          <p:nvPr/>
        </p:nvSpPr>
        <p:spPr>
          <a:xfrm>
            <a:off x="7315017" y="0"/>
            <a:ext cx="609585" cy="548640"/>
          </a:xfrm>
          <a:prstGeom prst="rect">
            <a:avLst/>
          </a:prstGeom>
          <a:solidFill>
            <a:schemeClr val="accent1"/>
          </a:solidFill>
          <a:ln/>
        </p:spPr>
      </p:sp>
      <p:sp>
        <p:nvSpPr>
          <p:cNvPr id="15" name="Shape 13"/>
          <p:cNvSpPr/>
          <p:nvPr/>
        </p:nvSpPr>
        <p:spPr>
          <a:xfrm>
            <a:off x="7924602" y="0"/>
            <a:ext cx="609585" cy="548640"/>
          </a:xfrm>
          <a:prstGeom prst="rect">
            <a:avLst/>
          </a:prstGeom>
          <a:solidFill>
            <a:schemeClr val="bg2"/>
          </a:solidFill>
          <a:ln/>
        </p:spPr>
      </p:sp>
      <p:sp>
        <p:nvSpPr>
          <p:cNvPr id="16" name="Shape 14"/>
          <p:cNvSpPr/>
          <p:nvPr/>
        </p:nvSpPr>
        <p:spPr>
          <a:xfrm>
            <a:off x="8534187" y="0"/>
            <a:ext cx="609585" cy="548640"/>
          </a:xfrm>
          <a:prstGeom prst="rect">
            <a:avLst/>
          </a:prstGeom>
          <a:solidFill>
            <a:schemeClr val="accent1"/>
          </a:solidFill>
          <a:ln/>
        </p:spPr>
      </p:sp>
      <p:sp>
        <p:nvSpPr>
          <p:cNvPr id="17" name="Shape 15"/>
          <p:cNvSpPr/>
          <p:nvPr/>
        </p:nvSpPr>
        <p:spPr>
          <a:xfrm>
            <a:off x="9143771" y="0"/>
            <a:ext cx="609585" cy="548640"/>
          </a:xfrm>
          <a:prstGeom prst="rect">
            <a:avLst/>
          </a:prstGeom>
          <a:solidFill>
            <a:schemeClr val="bg2"/>
          </a:solidFill>
          <a:ln/>
        </p:spPr>
      </p:sp>
      <p:sp>
        <p:nvSpPr>
          <p:cNvPr id="18" name="Shape 16"/>
          <p:cNvSpPr/>
          <p:nvPr/>
        </p:nvSpPr>
        <p:spPr>
          <a:xfrm>
            <a:off x="9753356" y="0"/>
            <a:ext cx="609585" cy="548640"/>
          </a:xfrm>
          <a:prstGeom prst="rect">
            <a:avLst/>
          </a:prstGeom>
          <a:solidFill>
            <a:schemeClr val="accent1"/>
          </a:solidFill>
          <a:ln/>
        </p:spPr>
      </p:sp>
      <p:sp>
        <p:nvSpPr>
          <p:cNvPr id="19" name="Shape 17"/>
          <p:cNvSpPr/>
          <p:nvPr/>
        </p:nvSpPr>
        <p:spPr>
          <a:xfrm>
            <a:off x="10362941" y="0"/>
            <a:ext cx="609585" cy="548640"/>
          </a:xfrm>
          <a:prstGeom prst="rect">
            <a:avLst/>
          </a:prstGeom>
          <a:solidFill>
            <a:schemeClr val="bg2"/>
          </a:solidFill>
          <a:ln/>
        </p:spPr>
      </p:sp>
      <p:sp>
        <p:nvSpPr>
          <p:cNvPr id="20" name="Shape 18"/>
          <p:cNvSpPr/>
          <p:nvPr/>
        </p:nvSpPr>
        <p:spPr>
          <a:xfrm>
            <a:off x="10972526" y="0"/>
            <a:ext cx="609585" cy="548640"/>
          </a:xfrm>
          <a:prstGeom prst="rect">
            <a:avLst/>
          </a:prstGeom>
          <a:solidFill>
            <a:schemeClr val="accent1"/>
          </a:solidFill>
          <a:ln/>
        </p:spPr>
      </p:sp>
      <p:sp>
        <p:nvSpPr>
          <p:cNvPr id="21" name="Shape 19"/>
          <p:cNvSpPr/>
          <p:nvPr/>
        </p:nvSpPr>
        <p:spPr>
          <a:xfrm>
            <a:off x="11582110" y="0"/>
            <a:ext cx="609585" cy="548640"/>
          </a:xfrm>
          <a:prstGeom prst="rect">
            <a:avLst/>
          </a:prstGeom>
          <a:solidFill>
            <a:schemeClr val="bg2"/>
          </a:solidFill>
          <a:ln/>
        </p:spPr>
      </p:sp>
      <p:sp>
        <p:nvSpPr>
          <p:cNvPr id="22" name="Shape 20"/>
          <p:cNvSpPr/>
          <p:nvPr/>
        </p:nvSpPr>
        <p:spPr>
          <a:xfrm>
            <a:off x="0" y="548640"/>
            <a:ext cx="12191695" cy="73152"/>
          </a:xfrm>
          <a:prstGeom prst="rect">
            <a:avLst/>
          </a:prstGeom>
          <a:solidFill>
            <a:schemeClr val="accent2"/>
          </a:solidFill>
          <a:ln/>
        </p:spPr>
      </p:sp>
      <p:sp>
        <p:nvSpPr>
          <p:cNvPr id="23" name="Text 21"/>
          <p:cNvSpPr/>
          <p:nvPr>
            <p:ph idx="121" type="title" hasCustomPrompt="1"/>
          </p:nvPr>
        </p:nvSpPr>
        <p:spPr>
          <a:xfrm>
            <a:off x="731520" y="2103120"/>
            <a:ext cx="10698480" cy="1280160"/>
          </a:xfrm>
          <a:prstGeom prst="rect">
            <a:avLst/>
          </a:prstGeom>
          <a:noFill/>
          <a:ln/>
        </p:spPr>
        <p:txBody>
          <a:bodyPr wrap="square" rtlCol="0"/>
          <a:lstStyle>
            <a:lvl1pPr algn="ctr" indent="0" marL="0">
              <a:buNone/>
              <a:defRPr lang="en-US" sz="5400" b="1" dirty="0">
                <a:solidFill>
                  <a:schemeClr val="accent2"/>
                </a:solidFill>
              </a:defRPr>
            </a:lvl1pPr>
          </a:lstStyle>
          <a:p>
            <a:pPr algn="ctr" indent="0" marL="0">
              <a:buNone/>
            </a:pPr>
            <a:endParaRPr lang="en-US" sz="5400" dirty="0"/>
          </a:p>
        </p:txBody>
      </p:sp>
      <p:sp>
        <p:nvSpPr>
          <p:cNvPr id="24" name="Text 21"/>
          <p:cNvSpPr/>
          <p:nvPr>
            <p:ph idx="122" type="body" hasCustomPrompt="1"/>
          </p:nvPr>
        </p:nvSpPr>
        <p:spPr>
          <a:xfrm>
            <a:off x="1371600" y="3474720"/>
            <a:ext cx="9418320" cy="1097280"/>
          </a:xfrm>
          <a:prstGeom prst="rect">
            <a:avLst/>
          </a:prstGeom>
          <a:noFill/>
          <a:ln/>
        </p:spPr>
        <p:txBody>
          <a:bodyPr wrap="square" rtlCol="0"/>
          <a:lstStyle>
            <a:lvl1pPr algn="ctr" indent="0" marL="0">
              <a:buNone/>
              <a:defRPr lang="en-US" sz="2200" dirty="0">
                <a:solidFill>
                  <a:schemeClr val="bg2"/>
                </a:solidFill>
              </a:defRPr>
            </a:lvl1pPr>
          </a:lstStyle>
          <a:p>
            <a:pPr algn="ctr" indent="0" marL="0">
              <a:buNone/>
            </a:pPr>
            <a:endParaRPr lang="en-US" sz="2200" dirty="0"/>
          </a:p>
        </p:txBody>
      </p:sp>
      <p:sp>
        <p:nvSpPr>
          <p:cNvPr id="25" name="Shape 21"/>
          <p:cNvSpPr/>
          <p:nvPr/>
        </p:nvSpPr>
        <p:spPr>
          <a:xfrm>
            <a:off x="0" y="6236208"/>
            <a:ext cx="12191695" cy="73152"/>
          </a:xfrm>
          <a:prstGeom prst="rect">
            <a:avLst/>
          </a:prstGeom>
          <a:solidFill>
            <a:schemeClr val="accent2"/>
          </a:solidFill>
          <a:ln/>
        </p:spPr>
      </p:sp>
      <p:sp>
        <p:nvSpPr>
          <p:cNvPr id="26" name="Shape 22"/>
          <p:cNvSpPr/>
          <p:nvPr/>
        </p:nvSpPr>
        <p:spPr>
          <a:xfrm>
            <a:off x="0" y="6309360"/>
            <a:ext cx="609585" cy="548640"/>
          </a:xfrm>
          <a:prstGeom prst="rect">
            <a:avLst/>
          </a:prstGeom>
          <a:solidFill>
            <a:schemeClr val="accent1"/>
          </a:solidFill>
          <a:ln/>
        </p:spPr>
      </p:sp>
      <p:sp>
        <p:nvSpPr>
          <p:cNvPr id="27" name="Shape 23"/>
          <p:cNvSpPr/>
          <p:nvPr/>
        </p:nvSpPr>
        <p:spPr>
          <a:xfrm>
            <a:off x="609585" y="6309360"/>
            <a:ext cx="609585" cy="548640"/>
          </a:xfrm>
          <a:prstGeom prst="rect">
            <a:avLst/>
          </a:prstGeom>
          <a:solidFill>
            <a:schemeClr val="bg2"/>
          </a:solidFill>
          <a:ln/>
        </p:spPr>
      </p:sp>
      <p:sp>
        <p:nvSpPr>
          <p:cNvPr id="28" name="Shape 24"/>
          <p:cNvSpPr/>
          <p:nvPr/>
        </p:nvSpPr>
        <p:spPr>
          <a:xfrm>
            <a:off x="1219170" y="6309360"/>
            <a:ext cx="609585" cy="548640"/>
          </a:xfrm>
          <a:prstGeom prst="rect">
            <a:avLst/>
          </a:prstGeom>
          <a:solidFill>
            <a:schemeClr val="accent1"/>
          </a:solidFill>
          <a:ln/>
        </p:spPr>
      </p:sp>
      <p:sp>
        <p:nvSpPr>
          <p:cNvPr id="29" name="Shape 25"/>
          <p:cNvSpPr/>
          <p:nvPr/>
        </p:nvSpPr>
        <p:spPr>
          <a:xfrm>
            <a:off x="1828754" y="6309360"/>
            <a:ext cx="609585" cy="548640"/>
          </a:xfrm>
          <a:prstGeom prst="rect">
            <a:avLst/>
          </a:prstGeom>
          <a:solidFill>
            <a:schemeClr val="bg2"/>
          </a:solidFill>
          <a:ln/>
        </p:spPr>
      </p:sp>
      <p:sp>
        <p:nvSpPr>
          <p:cNvPr id="30" name="Shape 26"/>
          <p:cNvSpPr/>
          <p:nvPr/>
        </p:nvSpPr>
        <p:spPr>
          <a:xfrm>
            <a:off x="2438339" y="6309360"/>
            <a:ext cx="609585" cy="548640"/>
          </a:xfrm>
          <a:prstGeom prst="rect">
            <a:avLst/>
          </a:prstGeom>
          <a:solidFill>
            <a:schemeClr val="accent1"/>
          </a:solidFill>
          <a:ln/>
        </p:spPr>
      </p:sp>
      <p:sp>
        <p:nvSpPr>
          <p:cNvPr id="31" name="Shape 27"/>
          <p:cNvSpPr/>
          <p:nvPr/>
        </p:nvSpPr>
        <p:spPr>
          <a:xfrm>
            <a:off x="3047924" y="6309360"/>
            <a:ext cx="609585" cy="548640"/>
          </a:xfrm>
          <a:prstGeom prst="rect">
            <a:avLst/>
          </a:prstGeom>
          <a:solidFill>
            <a:schemeClr val="bg2"/>
          </a:solidFill>
          <a:ln/>
        </p:spPr>
      </p:sp>
      <p:sp>
        <p:nvSpPr>
          <p:cNvPr id="32" name="Shape 28"/>
          <p:cNvSpPr/>
          <p:nvPr/>
        </p:nvSpPr>
        <p:spPr>
          <a:xfrm>
            <a:off x="3657509" y="6309360"/>
            <a:ext cx="609585" cy="548640"/>
          </a:xfrm>
          <a:prstGeom prst="rect">
            <a:avLst/>
          </a:prstGeom>
          <a:solidFill>
            <a:schemeClr val="accent1"/>
          </a:solidFill>
          <a:ln/>
        </p:spPr>
      </p:sp>
      <p:sp>
        <p:nvSpPr>
          <p:cNvPr id="33" name="Shape 29"/>
          <p:cNvSpPr/>
          <p:nvPr/>
        </p:nvSpPr>
        <p:spPr>
          <a:xfrm>
            <a:off x="4267093" y="6309360"/>
            <a:ext cx="609585" cy="548640"/>
          </a:xfrm>
          <a:prstGeom prst="rect">
            <a:avLst/>
          </a:prstGeom>
          <a:solidFill>
            <a:schemeClr val="bg2"/>
          </a:solidFill>
          <a:ln/>
        </p:spPr>
      </p:sp>
      <p:sp>
        <p:nvSpPr>
          <p:cNvPr id="34" name="Shape 30"/>
          <p:cNvSpPr/>
          <p:nvPr/>
        </p:nvSpPr>
        <p:spPr>
          <a:xfrm>
            <a:off x="4876678" y="6309360"/>
            <a:ext cx="609585" cy="548640"/>
          </a:xfrm>
          <a:prstGeom prst="rect">
            <a:avLst/>
          </a:prstGeom>
          <a:solidFill>
            <a:schemeClr val="accent1"/>
          </a:solidFill>
          <a:ln/>
        </p:spPr>
      </p:sp>
      <p:sp>
        <p:nvSpPr>
          <p:cNvPr id="35" name="Shape 31"/>
          <p:cNvSpPr/>
          <p:nvPr/>
        </p:nvSpPr>
        <p:spPr>
          <a:xfrm>
            <a:off x="5486263" y="6309360"/>
            <a:ext cx="609585" cy="548640"/>
          </a:xfrm>
          <a:prstGeom prst="rect">
            <a:avLst/>
          </a:prstGeom>
          <a:solidFill>
            <a:schemeClr val="bg2"/>
          </a:solidFill>
          <a:ln/>
        </p:spPr>
      </p:sp>
      <p:sp>
        <p:nvSpPr>
          <p:cNvPr id="36" name="Shape 32"/>
          <p:cNvSpPr/>
          <p:nvPr/>
        </p:nvSpPr>
        <p:spPr>
          <a:xfrm>
            <a:off x="6095848" y="6309360"/>
            <a:ext cx="609585" cy="548640"/>
          </a:xfrm>
          <a:prstGeom prst="rect">
            <a:avLst/>
          </a:prstGeom>
          <a:solidFill>
            <a:schemeClr val="accent1"/>
          </a:solidFill>
          <a:ln/>
        </p:spPr>
      </p:sp>
      <p:sp>
        <p:nvSpPr>
          <p:cNvPr id="37" name="Shape 33"/>
          <p:cNvSpPr/>
          <p:nvPr/>
        </p:nvSpPr>
        <p:spPr>
          <a:xfrm>
            <a:off x="6705432" y="6309360"/>
            <a:ext cx="609585" cy="548640"/>
          </a:xfrm>
          <a:prstGeom prst="rect">
            <a:avLst/>
          </a:prstGeom>
          <a:solidFill>
            <a:schemeClr val="bg2"/>
          </a:solidFill>
          <a:ln/>
        </p:spPr>
      </p:sp>
      <p:sp>
        <p:nvSpPr>
          <p:cNvPr id="38" name="Shape 34"/>
          <p:cNvSpPr/>
          <p:nvPr/>
        </p:nvSpPr>
        <p:spPr>
          <a:xfrm>
            <a:off x="7315017" y="6309360"/>
            <a:ext cx="609585" cy="548640"/>
          </a:xfrm>
          <a:prstGeom prst="rect">
            <a:avLst/>
          </a:prstGeom>
          <a:solidFill>
            <a:schemeClr val="accent1"/>
          </a:solidFill>
          <a:ln/>
        </p:spPr>
      </p:sp>
      <p:sp>
        <p:nvSpPr>
          <p:cNvPr id="39" name="Shape 35"/>
          <p:cNvSpPr/>
          <p:nvPr/>
        </p:nvSpPr>
        <p:spPr>
          <a:xfrm>
            <a:off x="7924602" y="6309360"/>
            <a:ext cx="609585" cy="548640"/>
          </a:xfrm>
          <a:prstGeom prst="rect">
            <a:avLst/>
          </a:prstGeom>
          <a:solidFill>
            <a:schemeClr val="bg2"/>
          </a:solidFill>
          <a:ln/>
        </p:spPr>
      </p:sp>
      <p:sp>
        <p:nvSpPr>
          <p:cNvPr id="40" name="Shape 36"/>
          <p:cNvSpPr/>
          <p:nvPr/>
        </p:nvSpPr>
        <p:spPr>
          <a:xfrm>
            <a:off x="8534187" y="6309360"/>
            <a:ext cx="609585" cy="548640"/>
          </a:xfrm>
          <a:prstGeom prst="rect">
            <a:avLst/>
          </a:prstGeom>
          <a:solidFill>
            <a:schemeClr val="accent1"/>
          </a:solidFill>
          <a:ln/>
        </p:spPr>
      </p:sp>
      <p:sp>
        <p:nvSpPr>
          <p:cNvPr id="41" name="Shape 37"/>
          <p:cNvSpPr/>
          <p:nvPr/>
        </p:nvSpPr>
        <p:spPr>
          <a:xfrm>
            <a:off x="9143771" y="6309360"/>
            <a:ext cx="609585" cy="548640"/>
          </a:xfrm>
          <a:prstGeom prst="rect">
            <a:avLst/>
          </a:prstGeom>
          <a:solidFill>
            <a:schemeClr val="bg2"/>
          </a:solidFill>
          <a:ln/>
        </p:spPr>
      </p:sp>
      <p:sp>
        <p:nvSpPr>
          <p:cNvPr id="42" name="Shape 38"/>
          <p:cNvSpPr/>
          <p:nvPr/>
        </p:nvSpPr>
        <p:spPr>
          <a:xfrm>
            <a:off x="9753356" y="6309360"/>
            <a:ext cx="609585" cy="548640"/>
          </a:xfrm>
          <a:prstGeom prst="rect">
            <a:avLst/>
          </a:prstGeom>
          <a:solidFill>
            <a:schemeClr val="accent1"/>
          </a:solidFill>
          <a:ln/>
        </p:spPr>
      </p:sp>
      <p:sp>
        <p:nvSpPr>
          <p:cNvPr id="43" name="Shape 39"/>
          <p:cNvSpPr/>
          <p:nvPr/>
        </p:nvSpPr>
        <p:spPr>
          <a:xfrm>
            <a:off x="10362941" y="6309360"/>
            <a:ext cx="609585" cy="548640"/>
          </a:xfrm>
          <a:prstGeom prst="rect">
            <a:avLst/>
          </a:prstGeom>
          <a:solidFill>
            <a:schemeClr val="bg2"/>
          </a:solidFill>
          <a:ln/>
        </p:spPr>
      </p:sp>
      <p:sp>
        <p:nvSpPr>
          <p:cNvPr id="44" name="Shape 40"/>
          <p:cNvSpPr/>
          <p:nvPr/>
        </p:nvSpPr>
        <p:spPr>
          <a:xfrm>
            <a:off x="10972526" y="6309360"/>
            <a:ext cx="609585" cy="548640"/>
          </a:xfrm>
          <a:prstGeom prst="rect">
            <a:avLst/>
          </a:prstGeom>
          <a:solidFill>
            <a:schemeClr val="accent1"/>
          </a:solidFill>
          <a:ln/>
        </p:spPr>
      </p:sp>
      <p:sp>
        <p:nvSpPr>
          <p:cNvPr id="45" name="Shape 41"/>
          <p:cNvSpPr/>
          <p:nvPr/>
        </p:nvSpPr>
        <p:spPr>
          <a:xfrm>
            <a:off x="11582110" y="6309360"/>
            <a:ext cx="609585" cy="548640"/>
          </a:xfrm>
          <a:prstGeom prst="rect">
            <a:avLst/>
          </a:prstGeom>
          <a:solidFill>
            <a:schemeClr val="bg2"/>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1"/>
          <p:cNvSpPr/>
          <p:nvPr>
            <p:ph idx="121" type="title" hasCustomPrompt="1"/>
          </p:nvPr>
        </p:nvSpPr>
        <p:spPr>
          <a:xfrm>
            <a:off x="731520" y="2103120"/>
            <a:ext cx="10698480" cy="1280160"/>
          </a:xfrm>
          <a:prstGeom prst="rect">
            <a:avLst/>
          </a:prstGeom>
          <a:noFill/>
          <a:ln/>
        </p:spPr>
        <p:txBody>
          <a:bodyPr wrap="square" lIns="0" tIns="0" rIns="0" bIns="0" rtlCol="0" anchor="ctr"/>
          <a:lstStyle/>
          <a:p>
            <a:pPr algn="ctr" indent="0" marL="0">
              <a:buNone/>
            </a:pPr>
            <a:r>
              <a:rPr lang="en-US" sz="5400" b="1" dirty="0">
                <a:solidFill>
                  <a:schemeClr val="accent2"/>
                </a:solidFill>
              </a:rPr>
              <a:t>The Code Carnival</a:t>
            </a:r>
            <a:endParaRPr lang="en-US" sz="5400" dirty="0"/>
          </a:p>
        </p:txBody>
      </p:sp>
      <p:sp>
        <p:nvSpPr>
          <p:cNvPr id="3" name="Text 21"/>
          <p:cNvSpPr/>
          <p:nvPr>
            <p:ph idx="122" type="body" hasCustomPrompt="1"/>
          </p:nvPr>
        </p:nvSpPr>
        <p:spPr>
          <a:xfrm>
            <a:off x="1371600" y="3474720"/>
            <a:ext cx="9418320" cy="1097280"/>
          </a:xfrm>
          <a:prstGeom prst="rect">
            <a:avLst/>
          </a:prstGeom>
          <a:noFill/>
          <a:ln/>
        </p:spPr>
        <p:txBody>
          <a:bodyPr wrap="square" lIns="0" tIns="0" rIns="0" bIns="0" rtlCol="0" anchor="t"/>
          <a:lstStyle/>
          <a:p>
            <a:pPr algn="ctr" indent="0" marL="0">
              <a:buNone/>
            </a:pPr>
            <a:r>
              <a:rPr lang="en-US" sz="2200" dirty="0">
                <a:solidFill>
                  <a:schemeClr val="bg2"/>
                </a:solidFill>
              </a:rPr>
              <a:t>Three.js  |  CSS Frameworks  |  Web Security</a:t>
            </a:r>
            <a:endParaRPr lang="en-US" sz="2200" dirty="0"/>
          </a:p>
          <a:p>
            <a:pPr algn="ctr" indent="0" marL="0">
              <a:buNone/>
            </a:pPr>
            <a:r>
              <a:rPr lang="en-US" sz="2200" dirty="0">
                <a:solidFill>
                  <a:schemeClr val="bg2"/>
                </a:solidFill>
              </a:rPr>
              <a:t>No experience needed. Everything you finish today pays out in tickets.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Tonight's Program</a:t>
            </a:r>
            <a:endParaRPr lang="en-US" sz="3400" dirty="0"/>
          </a:p>
        </p:txBody>
      </p:sp>
      <p:sp>
        <p:nvSpPr>
          <p:cNvPr id="3" name="midway path"/>
          <p:cNvSpPr/>
          <p:nvPr/>
        </p:nvSpPr>
        <p:spPr>
          <a:xfrm>
            <a:off x="1554480" y="2194560"/>
            <a:ext cx="9052560" cy="0"/>
          </a:xfrm>
          <a:prstGeom prst="line">
            <a:avLst/>
          </a:prstGeom>
          <a:noFill/>
          <a:ln w="38100">
            <a:solidFill>
              <a:schemeClr val="accent2"/>
            </a:solidFill>
            <a:prstDash val="dash"/>
          </a:ln>
        </p:spPr>
      </p:sp>
      <p:sp>
        <p:nvSpPr>
          <p:cNvPr id="4" name="stop 0"/>
          <p:cNvSpPr/>
          <p:nvPr/>
        </p:nvSpPr>
        <p:spPr>
          <a:xfrm>
            <a:off x="1115568" y="1737360"/>
            <a:ext cx="914400" cy="914400"/>
          </a:xfrm>
          <a:prstGeom prst="ellipse">
            <a:avLst/>
          </a:prstGeom>
          <a:solidFill>
            <a:schemeClr val="accent1"/>
          </a:solidFill>
          <a:ln w="25400">
            <a:solidFill>
              <a:schemeClr val="tx2"/>
            </a:solidFill>
            <a:prstDash val="solid"/>
          </a:ln>
        </p:spPr>
      </p:sp>
      <p:sp>
        <p:nvSpPr>
          <p:cNvPr id="5" name="Text 3"/>
          <p:cNvSpPr txBox="1"/>
          <p:nvPr/>
        </p:nvSpPr>
        <p:spPr>
          <a:xfrm>
            <a:off x="1115568" y="173736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0:00</a:t>
            </a:r>
            <a:endParaRPr lang="en-US" sz="1600" dirty="0"/>
          </a:p>
        </p:txBody>
      </p:sp>
      <p:sp>
        <p:nvSpPr>
          <p:cNvPr id="6" name="Text 4"/>
          <p:cNvSpPr txBox="1"/>
          <p:nvPr/>
        </p:nvSpPr>
        <p:spPr>
          <a:xfrm>
            <a:off x="548640" y="2834640"/>
            <a:ext cx="2057400" cy="548640"/>
          </a:xfrm>
          <a:prstGeom prst="rect">
            <a:avLst/>
          </a:prstGeom>
          <a:noFill/>
          <a:ln/>
        </p:spPr>
        <p:txBody>
          <a:bodyPr wrap="square" lIns="0" tIns="0" rIns="0" bIns="0" rtlCol="0" anchor="ctr"/>
          <a:lstStyle/>
          <a:p>
            <a:pPr algn="ctr" indent="0" marL="0">
              <a:buNone/>
            </a:pPr>
            <a:r>
              <a:rPr lang="en-US" sz="1900" b="1" dirty="0">
                <a:solidFill>
                  <a:schemeClr val="tx2"/>
                </a:solidFill>
              </a:rPr>
              <a:t>Barker's Guesses</a:t>
            </a:r>
            <a:endParaRPr lang="en-US" sz="1900" dirty="0"/>
          </a:p>
        </p:txBody>
      </p:sp>
      <p:sp>
        <p:nvSpPr>
          <p:cNvPr id="7" name="Text 5"/>
          <p:cNvSpPr txBox="1"/>
          <p:nvPr/>
        </p:nvSpPr>
        <p:spPr>
          <a:xfrm>
            <a:off x="548640" y="3383280"/>
            <a:ext cx="2057400" cy="822960"/>
          </a:xfrm>
          <a:prstGeom prst="rect">
            <a:avLst/>
          </a:prstGeom>
          <a:noFill/>
          <a:ln/>
        </p:spPr>
        <p:txBody>
          <a:bodyPr wrap="square" lIns="0" tIns="0" rIns="0" bIns="0" rtlCol="0" anchor="t"/>
          <a:lstStyle/>
          <a:p>
            <a:pPr algn="ctr" indent="0" marL="0">
              <a:buNone/>
            </a:pPr>
            <a:r>
              <a:rPr lang="en-US" sz="1500" dirty="0">
                <a:solidFill>
                  <a:schemeClr val="tx1"/>
                </a:solidFill>
              </a:rPr>
              <a:t>No experience needed, just guess</a:t>
            </a:r>
            <a:endParaRPr lang="en-US" sz="1500" dirty="0"/>
          </a:p>
        </p:txBody>
      </p:sp>
      <p:sp>
        <p:nvSpPr>
          <p:cNvPr id="8" name="stop 1"/>
          <p:cNvSpPr/>
          <p:nvPr/>
        </p:nvSpPr>
        <p:spPr>
          <a:xfrm>
            <a:off x="3374136" y="1737360"/>
            <a:ext cx="914400" cy="914400"/>
          </a:xfrm>
          <a:prstGeom prst="ellipse">
            <a:avLst/>
          </a:prstGeom>
          <a:solidFill>
            <a:schemeClr val="accent3"/>
          </a:solidFill>
          <a:ln w="25400">
            <a:solidFill>
              <a:schemeClr val="tx2"/>
            </a:solidFill>
            <a:prstDash val="solid"/>
          </a:ln>
        </p:spPr>
      </p:sp>
      <p:sp>
        <p:nvSpPr>
          <p:cNvPr id="9" name="Text 7"/>
          <p:cNvSpPr txBox="1"/>
          <p:nvPr/>
        </p:nvSpPr>
        <p:spPr>
          <a:xfrm>
            <a:off x="3374136" y="173736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0:15</a:t>
            </a:r>
            <a:endParaRPr lang="en-US" sz="1600" dirty="0"/>
          </a:p>
        </p:txBody>
      </p:sp>
      <p:sp>
        <p:nvSpPr>
          <p:cNvPr id="10" name="Text 8"/>
          <p:cNvSpPr txBox="1"/>
          <p:nvPr/>
        </p:nvSpPr>
        <p:spPr>
          <a:xfrm>
            <a:off x="2807208" y="2834640"/>
            <a:ext cx="2057400" cy="548640"/>
          </a:xfrm>
          <a:prstGeom prst="rect">
            <a:avLst/>
          </a:prstGeom>
          <a:noFill/>
          <a:ln/>
        </p:spPr>
        <p:txBody>
          <a:bodyPr wrap="square" lIns="0" tIns="0" rIns="0" bIns="0" rtlCol="0" anchor="ctr"/>
          <a:lstStyle/>
          <a:p>
            <a:pPr algn="ctr" indent="0" marL="0">
              <a:buNone/>
            </a:pPr>
            <a:r>
              <a:rPr lang="en-US" sz="1900" b="1" dirty="0">
                <a:solidFill>
                  <a:schemeClr val="tx2"/>
                </a:solidFill>
              </a:rPr>
              <a:t>The Big Top</a:t>
            </a:r>
            <a:endParaRPr lang="en-US" sz="1900" dirty="0"/>
          </a:p>
        </p:txBody>
      </p:sp>
      <p:sp>
        <p:nvSpPr>
          <p:cNvPr id="11" name="Text 9"/>
          <p:cNvSpPr txBox="1"/>
          <p:nvPr/>
        </p:nvSpPr>
        <p:spPr>
          <a:xfrm>
            <a:off x="2807208" y="3383280"/>
            <a:ext cx="2057400" cy="822960"/>
          </a:xfrm>
          <a:prstGeom prst="rect">
            <a:avLst/>
          </a:prstGeom>
          <a:noFill/>
          <a:ln/>
        </p:spPr>
        <p:txBody>
          <a:bodyPr wrap="square" lIns="0" tIns="0" rIns="0" bIns="0" rtlCol="0" anchor="t"/>
          <a:lstStyle/>
          <a:p>
            <a:pPr algn="ctr" indent="0" marL="0">
              <a:buNone/>
            </a:pPr>
            <a:r>
              <a:rPr lang="en-US" sz="1500" dirty="0">
                <a:solidFill>
                  <a:schemeClr val="tx1"/>
                </a:solidFill>
              </a:rPr>
              <a:t>Three acts: 3D, CSS frameworks, Safety</a:t>
            </a:r>
            <a:endParaRPr lang="en-US" sz="1500" dirty="0"/>
          </a:p>
        </p:txBody>
      </p:sp>
      <p:sp>
        <p:nvSpPr>
          <p:cNvPr id="12" name="stop 2"/>
          <p:cNvSpPr/>
          <p:nvPr/>
        </p:nvSpPr>
        <p:spPr>
          <a:xfrm>
            <a:off x="5632704" y="1737360"/>
            <a:ext cx="914400" cy="914400"/>
          </a:xfrm>
          <a:prstGeom prst="ellipse">
            <a:avLst/>
          </a:prstGeom>
          <a:solidFill>
            <a:schemeClr val="accent2"/>
          </a:solidFill>
          <a:ln w="25400">
            <a:solidFill>
              <a:schemeClr val="tx2"/>
            </a:solidFill>
            <a:prstDash val="solid"/>
          </a:ln>
        </p:spPr>
      </p:sp>
      <p:sp>
        <p:nvSpPr>
          <p:cNvPr id="13" name="Text 11"/>
          <p:cNvSpPr txBox="1"/>
          <p:nvPr/>
        </p:nvSpPr>
        <p:spPr>
          <a:xfrm>
            <a:off x="5632704" y="1737360"/>
            <a:ext cx="914400" cy="914400"/>
          </a:xfrm>
          <a:prstGeom prst="rect">
            <a:avLst/>
          </a:prstGeom>
          <a:noFill/>
          <a:ln/>
        </p:spPr>
        <p:txBody>
          <a:bodyPr wrap="square" lIns="0" tIns="0" rIns="0" bIns="0" rtlCol="0" anchor="ctr"/>
          <a:lstStyle/>
          <a:p>
            <a:pPr algn="ctr" indent="0" marL="0">
              <a:buNone/>
            </a:pPr>
            <a:r>
              <a:rPr lang="en-US" sz="1600" b="1" dirty="0">
                <a:solidFill>
                  <a:schemeClr val="tx1"/>
                </a:solidFill>
              </a:rPr>
              <a:t>0:40</a:t>
            </a:r>
            <a:endParaRPr lang="en-US" sz="1600" dirty="0"/>
          </a:p>
        </p:txBody>
      </p:sp>
      <p:sp>
        <p:nvSpPr>
          <p:cNvPr id="14" name="Text 12"/>
          <p:cNvSpPr txBox="1"/>
          <p:nvPr/>
        </p:nvSpPr>
        <p:spPr>
          <a:xfrm>
            <a:off x="5065776" y="2834640"/>
            <a:ext cx="2057400" cy="548640"/>
          </a:xfrm>
          <a:prstGeom prst="rect">
            <a:avLst/>
          </a:prstGeom>
          <a:noFill/>
          <a:ln/>
        </p:spPr>
        <p:txBody>
          <a:bodyPr wrap="square" lIns="0" tIns="0" rIns="0" bIns="0" rtlCol="0" anchor="ctr"/>
          <a:lstStyle/>
          <a:p>
            <a:pPr algn="ctr" indent="0" marL="0">
              <a:buNone/>
            </a:pPr>
            <a:r>
              <a:rPr lang="en-US" sz="1900" b="1" dirty="0">
                <a:solidFill>
                  <a:schemeClr val="tx2"/>
                </a:solidFill>
              </a:rPr>
              <a:t>The Midway</a:t>
            </a:r>
            <a:endParaRPr lang="en-US" sz="1900" dirty="0"/>
          </a:p>
        </p:txBody>
      </p:sp>
      <p:sp>
        <p:nvSpPr>
          <p:cNvPr id="15" name="Text 13"/>
          <p:cNvSpPr txBox="1"/>
          <p:nvPr/>
        </p:nvSpPr>
        <p:spPr>
          <a:xfrm>
            <a:off x="5065776" y="3383280"/>
            <a:ext cx="2057400" cy="822960"/>
          </a:xfrm>
          <a:prstGeom prst="rect">
            <a:avLst/>
          </a:prstGeom>
          <a:noFill/>
          <a:ln/>
        </p:spPr>
        <p:txBody>
          <a:bodyPr wrap="square" lIns="0" tIns="0" rIns="0" bIns="0" rtlCol="0" anchor="t"/>
          <a:lstStyle/>
          <a:p>
            <a:pPr algn="ctr" indent="0" marL="0">
              <a:buNone/>
            </a:pPr>
            <a:r>
              <a:rPr lang="en-US" sz="1500" dirty="0">
                <a:solidFill>
                  <a:schemeClr val="tx1"/>
                </a:solidFill>
              </a:rPr>
              <a:t>Three booths, three rotations</a:t>
            </a:r>
            <a:endParaRPr lang="en-US" sz="1500" dirty="0"/>
          </a:p>
        </p:txBody>
      </p:sp>
      <p:sp>
        <p:nvSpPr>
          <p:cNvPr id="16" name="stop 3"/>
          <p:cNvSpPr/>
          <p:nvPr/>
        </p:nvSpPr>
        <p:spPr>
          <a:xfrm>
            <a:off x="7891272" y="1737360"/>
            <a:ext cx="914400" cy="914400"/>
          </a:xfrm>
          <a:prstGeom prst="ellipse">
            <a:avLst/>
          </a:prstGeom>
          <a:solidFill>
            <a:schemeClr val="tx2"/>
          </a:solidFill>
          <a:ln w="25400">
            <a:solidFill>
              <a:schemeClr val="tx2"/>
            </a:solidFill>
            <a:prstDash val="solid"/>
          </a:ln>
        </p:spPr>
      </p:sp>
      <p:sp>
        <p:nvSpPr>
          <p:cNvPr id="17" name="Text 15"/>
          <p:cNvSpPr txBox="1"/>
          <p:nvPr/>
        </p:nvSpPr>
        <p:spPr>
          <a:xfrm>
            <a:off x="7891272" y="173736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1:20</a:t>
            </a:r>
            <a:endParaRPr lang="en-US" sz="1600" dirty="0"/>
          </a:p>
        </p:txBody>
      </p:sp>
      <p:sp>
        <p:nvSpPr>
          <p:cNvPr id="18" name="Text 16"/>
          <p:cNvSpPr txBox="1"/>
          <p:nvPr/>
        </p:nvSpPr>
        <p:spPr>
          <a:xfrm>
            <a:off x="7324344" y="2834640"/>
            <a:ext cx="2057400" cy="548640"/>
          </a:xfrm>
          <a:prstGeom prst="rect">
            <a:avLst/>
          </a:prstGeom>
          <a:noFill/>
          <a:ln/>
        </p:spPr>
        <p:txBody>
          <a:bodyPr wrap="square" lIns="0" tIns="0" rIns="0" bIns="0" rtlCol="0" anchor="ctr"/>
          <a:lstStyle/>
          <a:p>
            <a:pPr algn="ctr" indent="0" marL="0">
              <a:buNone/>
            </a:pPr>
            <a:r>
              <a:rPr lang="en-US" sz="1900" b="1" dirty="0">
                <a:solidFill>
                  <a:schemeClr val="tx2"/>
                </a:solidFill>
              </a:rPr>
              <a:t>Grand Finale</a:t>
            </a:r>
            <a:endParaRPr lang="en-US" sz="1900" dirty="0"/>
          </a:p>
        </p:txBody>
      </p:sp>
      <p:sp>
        <p:nvSpPr>
          <p:cNvPr id="19" name="Text 17"/>
          <p:cNvSpPr txBox="1"/>
          <p:nvPr/>
        </p:nvSpPr>
        <p:spPr>
          <a:xfrm>
            <a:off x="7324344" y="3383280"/>
            <a:ext cx="2057400" cy="822960"/>
          </a:xfrm>
          <a:prstGeom prst="rect">
            <a:avLst/>
          </a:prstGeom>
          <a:noFill/>
          <a:ln/>
        </p:spPr>
        <p:txBody>
          <a:bodyPr wrap="square" lIns="0" tIns="0" rIns="0" bIns="0" rtlCol="0" anchor="t"/>
          <a:lstStyle/>
          <a:p>
            <a:pPr algn="ctr" indent="0" marL="0">
              <a:buNone/>
            </a:pPr>
            <a:r>
              <a:rPr lang="en-US" sz="1500" dirty="0">
                <a:solidFill>
                  <a:schemeClr val="tx1"/>
                </a:solidFill>
              </a:rPr>
              <a:t>Build your own booth</a:t>
            </a:r>
            <a:endParaRPr lang="en-US" sz="1500" dirty="0"/>
          </a:p>
        </p:txBody>
      </p:sp>
      <p:sp>
        <p:nvSpPr>
          <p:cNvPr id="20" name="stop 4"/>
          <p:cNvSpPr/>
          <p:nvPr/>
        </p:nvSpPr>
        <p:spPr>
          <a:xfrm>
            <a:off x="10149840" y="1737360"/>
            <a:ext cx="914400" cy="914400"/>
          </a:xfrm>
          <a:prstGeom prst="ellipse">
            <a:avLst/>
          </a:prstGeom>
          <a:solidFill>
            <a:schemeClr val="accent1"/>
          </a:solidFill>
          <a:ln w="25400">
            <a:solidFill>
              <a:schemeClr val="tx2"/>
            </a:solidFill>
            <a:prstDash val="solid"/>
          </a:ln>
        </p:spPr>
      </p:sp>
      <p:sp>
        <p:nvSpPr>
          <p:cNvPr id="21" name="Text 19"/>
          <p:cNvSpPr txBox="1"/>
          <p:nvPr/>
        </p:nvSpPr>
        <p:spPr>
          <a:xfrm>
            <a:off x="10149840" y="173736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1:45</a:t>
            </a:r>
            <a:endParaRPr lang="en-US" sz="1600" dirty="0"/>
          </a:p>
        </p:txBody>
      </p:sp>
      <p:sp>
        <p:nvSpPr>
          <p:cNvPr id="22" name="Text 20"/>
          <p:cNvSpPr txBox="1"/>
          <p:nvPr/>
        </p:nvSpPr>
        <p:spPr>
          <a:xfrm>
            <a:off x="9582912" y="2834640"/>
            <a:ext cx="2057400" cy="548640"/>
          </a:xfrm>
          <a:prstGeom prst="rect">
            <a:avLst/>
          </a:prstGeom>
          <a:noFill/>
          <a:ln/>
        </p:spPr>
        <p:txBody>
          <a:bodyPr wrap="square" lIns="0" tIns="0" rIns="0" bIns="0" rtlCol="0" anchor="ctr"/>
          <a:lstStyle/>
          <a:p>
            <a:pPr algn="ctr" indent="0" marL="0">
              <a:buNone/>
            </a:pPr>
            <a:r>
              <a:rPr lang="en-US" sz="1900" b="1" dirty="0">
                <a:solidFill>
                  <a:schemeClr val="tx2"/>
                </a:solidFill>
              </a:rPr>
              <a:t>Prize Counter</a:t>
            </a:r>
            <a:endParaRPr lang="en-US" sz="1900" dirty="0"/>
          </a:p>
        </p:txBody>
      </p:sp>
      <p:sp>
        <p:nvSpPr>
          <p:cNvPr id="23" name="Text 21"/>
          <p:cNvSpPr txBox="1"/>
          <p:nvPr/>
        </p:nvSpPr>
        <p:spPr>
          <a:xfrm>
            <a:off x="9582912" y="3383280"/>
            <a:ext cx="2057400" cy="822960"/>
          </a:xfrm>
          <a:prstGeom prst="rect">
            <a:avLst/>
          </a:prstGeom>
          <a:noFill/>
          <a:ln/>
        </p:spPr>
        <p:txBody>
          <a:bodyPr wrap="square" lIns="0" tIns="0" rIns="0" bIns="0" rtlCol="0" anchor="t"/>
          <a:lstStyle/>
          <a:p>
            <a:pPr algn="ctr" indent="0" marL="0">
              <a:buNone/>
            </a:pPr>
            <a:r>
              <a:rPr lang="en-US" sz="1500" dirty="0">
                <a:solidFill>
                  <a:schemeClr val="tx1"/>
                </a:solidFill>
              </a:rPr>
              <a:t>Midway walk, votes, prizes</a:t>
            </a:r>
            <a:endParaRPr lang="en-US" sz="1500" dirty="0"/>
          </a:p>
        </p:txBody>
      </p:sp>
      <p:sp>
        <p:nvSpPr>
          <p:cNvPr id="24" name="Text 22"/>
          <p:cNvSpPr txBox="1"/>
          <p:nvPr/>
        </p:nvSpPr>
        <p:spPr>
          <a:xfrm>
            <a:off x="548640" y="5120640"/>
            <a:ext cx="11064240" cy="548640"/>
          </a:xfrm>
          <a:prstGeom prst="rect">
            <a:avLst/>
          </a:prstGeom>
          <a:noFill/>
          <a:ln/>
        </p:spPr>
        <p:txBody>
          <a:bodyPr wrap="square" lIns="0" tIns="0" rIns="0" bIns="0" rtlCol="0" anchor="ctr"/>
          <a:lstStyle/>
          <a:p>
            <a:pPr algn="ctr" indent="0" marL="0">
              <a:buNone/>
            </a:pPr>
            <a:r>
              <a:rPr lang="en-US" sz="2000" i="1" dirty="0">
                <a:solidFill>
                  <a:schemeClr val="accent3"/>
                </a:solidFill>
              </a:rPr>
              <a:t>No project grade today. Just tickets, prizes, and bragging rights.</a:t>
            </a:r>
            <a:endParaRPr lang="en-US" sz="20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The Ticket Economy</a:t>
            </a:r>
            <a:endParaRPr lang="en-US" sz="3400" dirty="0"/>
          </a:p>
        </p:txBody>
      </p:sp>
      <p:sp>
        <p:nvSpPr>
          <p:cNvPr id="3" name="Bronze big ticket"/>
          <p:cNvSpPr/>
          <p:nvPr/>
        </p:nvSpPr>
        <p:spPr>
          <a:xfrm>
            <a:off x="731520" y="1737360"/>
            <a:ext cx="2377440" cy="2011680"/>
          </a:xfrm>
          <a:prstGeom prst="rect">
            <a:avLst/>
          </a:prstGeom>
          <a:solidFill>
            <a:schemeClr val="accent1"/>
          </a:solidFill>
          <a:ln w="38100">
            <a:solidFill>
              <a:schemeClr val="tx2"/>
            </a:solidFill>
            <a:prstDash val="dash"/>
          </a:ln>
        </p:spPr>
      </p:sp>
      <p:sp>
        <p:nvSpPr>
          <p:cNvPr id="4" name="Text 2"/>
          <p:cNvSpPr txBox="1"/>
          <p:nvPr/>
        </p:nvSpPr>
        <p:spPr>
          <a:xfrm>
            <a:off x="731520" y="1920240"/>
            <a:ext cx="237744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Georgia" pitchFamily="34" charset="0"/>
                <a:ea typeface="Georgia" pitchFamily="34" charset="-122"/>
                <a:cs typeface="Georgia" pitchFamily="34" charset="-120"/>
              </a:rPr>
              <a:t>BRONZE</a:t>
            </a:r>
            <a:endParaRPr lang="en-US" sz="2800" dirty="0"/>
          </a:p>
        </p:txBody>
      </p:sp>
      <p:sp>
        <p:nvSpPr>
          <p:cNvPr id="5" name="Text 3"/>
          <p:cNvSpPr txBox="1"/>
          <p:nvPr/>
        </p:nvSpPr>
        <p:spPr>
          <a:xfrm>
            <a:off x="731520" y="2743200"/>
            <a:ext cx="2377440" cy="640080"/>
          </a:xfrm>
          <a:prstGeom prst="rect">
            <a:avLst/>
          </a:prstGeom>
          <a:noFill/>
          <a:ln/>
        </p:spPr>
        <p:txBody>
          <a:bodyPr wrap="square" lIns="0" tIns="0" rIns="0" bIns="0" rtlCol="0" anchor="ctr"/>
          <a:lstStyle/>
          <a:p>
            <a:pPr algn="ctr" indent="0" marL="0">
              <a:buNone/>
            </a:pPr>
            <a:r>
              <a:rPr lang="en-US" sz="1800" dirty="0">
                <a:solidFill>
                  <a:schemeClr val="bg1"/>
                </a:solidFill>
              </a:rPr>
              <a:t>1 per student</a:t>
            </a:r>
            <a:endParaRPr lang="en-US" sz="1800" dirty="0"/>
          </a:p>
        </p:txBody>
      </p:sp>
      <p:sp>
        <p:nvSpPr>
          <p:cNvPr id="6" name="Silver big ticket"/>
          <p:cNvSpPr/>
          <p:nvPr/>
        </p:nvSpPr>
        <p:spPr>
          <a:xfrm>
            <a:off x="3474720" y="1737360"/>
            <a:ext cx="2377440" cy="2011680"/>
          </a:xfrm>
          <a:prstGeom prst="rect">
            <a:avLst/>
          </a:prstGeom>
          <a:solidFill>
            <a:schemeClr val="accent3"/>
          </a:solidFill>
          <a:ln w="38100">
            <a:solidFill>
              <a:schemeClr val="tx2"/>
            </a:solidFill>
            <a:prstDash val="dash"/>
          </a:ln>
        </p:spPr>
      </p:sp>
      <p:sp>
        <p:nvSpPr>
          <p:cNvPr id="7" name="Text 5"/>
          <p:cNvSpPr txBox="1"/>
          <p:nvPr/>
        </p:nvSpPr>
        <p:spPr>
          <a:xfrm>
            <a:off x="3474720" y="1920240"/>
            <a:ext cx="237744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Georgia" pitchFamily="34" charset="0"/>
                <a:ea typeface="Georgia" pitchFamily="34" charset="-122"/>
                <a:cs typeface="Georgia" pitchFamily="34" charset="-120"/>
              </a:rPr>
              <a:t>SILVER</a:t>
            </a:r>
            <a:endParaRPr lang="en-US" sz="2800" dirty="0"/>
          </a:p>
        </p:txBody>
      </p:sp>
      <p:sp>
        <p:nvSpPr>
          <p:cNvPr id="8" name="Text 6"/>
          <p:cNvSpPr txBox="1"/>
          <p:nvPr/>
        </p:nvSpPr>
        <p:spPr>
          <a:xfrm>
            <a:off x="3474720" y="2743200"/>
            <a:ext cx="2377440" cy="640080"/>
          </a:xfrm>
          <a:prstGeom prst="rect">
            <a:avLst/>
          </a:prstGeom>
          <a:noFill/>
          <a:ln/>
        </p:spPr>
        <p:txBody>
          <a:bodyPr wrap="square" lIns="0" tIns="0" rIns="0" bIns="0" rtlCol="0" anchor="ctr"/>
          <a:lstStyle/>
          <a:p>
            <a:pPr algn="ctr" indent="0" marL="0">
              <a:buNone/>
            </a:pPr>
            <a:r>
              <a:rPr lang="en-US" sz="1800" dirty="0">
                <a:solidFill>
                  <a:schemeClr val="bg1"/>
                </a:solidFill>
              </a:rPr>
              <a:t>2 per student</a:t>
            </a:r>
            <a:endParaRPr lang="en-US" sz="1800" dirty="0"/>
          </a:p>
        </p:txBody>
      </p:sp>
      <p:sp>
        <p:nvSpPr>
          <p:cNvPr id="9" name="Gold big ticket"/>
          <p:cNvSpPr/>
          <p:nvPr/>
        </p:nvSpPr>
        <p:spPr>
          <a:xfrm>
            <a:off x="6217920" y="1737360"/>
            <a:ext cx="2377440" cy="2011680"/>
          </a:xfrm>
          <a:prstGeom prst="rect">
            <a:avLst/>
          </a:prstGeom>
          <a:solidFill>
            <a:schemeClr val="accent2"/>
          </a:solidFill>
          <a:ln w="38100">
            <a:solidFill>
              <a:schemeClr val="tx2"/>
            </a:solidFill>
            <a:prstDash val="dash"/>
          </a:ln>
        </p:spPr>
      </p:sp>
      <p:sp>
        <p:nvSpPr>
          <p:cNvPr id="10" name="Text 8"/>
          <p:cNvSpPr txBox="1"/>
          <p:nvPr/>
        </p:nvSpPr>
        <p:spPr>
          <a:xfrm>
            <a:off x="6217920" y="1920240"/>
            <a:ext cx="2377440" cy="731520"/>
          </a:xfrm>
          <a:prstGeom prst="rect">
            <a:avLst/>
          </a:prstGeom>
          <a:noFill/>
          <a:ln/>
        </p:spPr>
        <p:txBody>
          <a:bodyPr wrap="square" lIns="0" tIns="0" rIns="0" bIns="0" rtlCol="0" anchor="ctr"/>
          <a:lstStyle/>
          <a:p>
            <a:pPr algn="ctr" indent="0" marL="0">
              <a:buNone/>
            </a:pPr>
            <a:r>
              <a:rPr lang="en-US" sz="2800" b="1" dirty="0">
                <a:solidFill>
                  <a:schemeClr val="tx1"/>
                </a:solidFill>
                <a:latin typeface="Georgia" pitchFamily="34" charset="0"/>
                <a:ea typeface="Georgia" pitchFamily="34" charset="-122"/>
                <a:cs typeface="Georgia" pitchFamily="34" charset="-120"/>
              </a:rPr>
              <a:t>GOLD</a:t>
            </a:r>
            <a:endParaRPr lang="en-US" sz="2800" dirty="0"/>
          </a:p>
        </p:txBody>
      </p:sp>
      <p:sp>
        <p:nvSpPr>
          <p:cNvPr id="11" name="Text 9"/>
          <p:cNvSpPr txBox="1"/>
          <p:nvPr/>
        </p:nvSpPr>
        <p:spPr>
          <a:xfrm>
            <a:off x="6217920" y="2743200"/>
            <a:ext cx="2377440" cy="640080"/>
          </a:xfrm>
          <a:prstGeom prst="rect">
            <a:avLst/>
          </a:prstGeom>
          <a:noFill/>
          <a:ln/>
        </p:spPr>
        <p:txBody>
          <a:bodyPr wrap="square" lIns="0" tIns="0" rIns="0" bIns="0" rtlCol="0" anchor="ctr"/>
          <a:lstStyle/>
          <a:p>
            <a:pPr algn="ctr" indent="0" marL="0">
              <a:buNone/>
            </a:pPr>
            <a:r>
              <a:rPr lang="en-US" sz="1800" dirty="0">
                <a:solidFill>
                  <a:schemeClr val="tx1"/>
                </a:solidFill>
              </a:rPr>
              <a:t>3 per student</a:t>
            </a:r>
            <a:endParaRPr lang="en-US" sz="1800" dirty="0"/>
          </a:p>
        </p:txBody>
      </p:sp>
      <p:sp>
        <p:nvSpPr>
          <p:cNvPr id="12" name="Bonus big ticket"/>
          <p:cNvSpPr/>
          <p:nvPr/>
        </p:nvSpPr>
        <p:spPr>
          <a:xfrm>
            <a:off x="8961120" y="1737360"/>
            <a:ext cx="2377440" cy="2011680"/>
          </a:xfrm>
          <a:prstGeom prst="rect">
            <a:avLst/>
          </a:prstGeom>
          <a:solidFill>
            <a:schemeClr val="tx2"/>
          </a:solidFill>
          <a:ln w="38100">
            <a:solidFill>
              <a:schemeClr val="tx2"/>
            </a:solidFill>
            <a:prstDash val="dash"/>
          </a:ln>
        </p:spPr>
      </p:sp>
      <p:sp>
        <p:nvSpPr>
          <p:cNvPr id="13" name="Text 11"/>
          <p:cNvSpPr txBox="1"/>
          <p:nvPr/>
        </p:nvSpPr>
        <p:spPr>
          <a:xfrm>
            <a:off x="8961120" y="1920240"/>
            <a:ext cx="237744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Georgia" pitchFamily="34" charset="0"/>
                <a:ea typeface="Georgia" pitchFamily="34" charset="-122"/>
                <a:cs typeface="Georgia" pitchFamily="34" charset="-120"/>
              </a:rPr>
              <a:t>BONUS</a:t>
            </a:r>
            <a:endParaRPr lang="en-US" sz="2800" dirty="0"/>
          </a:p>
        </p:txBody>
      </p:sp>
      <p:sp>
        <p:nvSpPr>
          <p:cNvPr id="14" name="Text 12"/>
          <p:cNvSpPr txBox="1"/>
          <p:nvPr/>
        </p:nvSpPr>
        <p:spPr>
          <a:xfrm>
            <a:off x="8961120" y="2743200"/>
            <a:ext cx="2377440" cy="640080"/>
          </a:xfrm>
          <a:prstGeom prst="rect">
            <a:avLst/>
          </a:prstGeom>
          <a:noFill/>
          <a:ln/>
        </p:spPr>
        <p:txBody>
          <a:bodyPr wrap="square" lIns="0" tIns="0" rIns="0" bIns="0" rtlCol="0" anchor="ctr"/>
          <a:lstStyle/>
          <a:p>
            <a:pPr algn="ctr" indent="0" marL="0">
              <a:buNone/>
            </a:pPr>
            <a:r>
              <a:rPr lang="en-US" sz="1800" dirty="0">
                <a:solidFill>
                  <a:schemeClr val="bg1"/>
                </a:solidFill>
              </a:rPr>
              <a:t>5 per team</a:t>
            </a:r>
            <a:endParaRPr lang="en-US" sz="1800" dirty="0"/>
          </a:p>
        </p:txBody>
      </p:sp>
      <p:sp>
        <p:nvSpPr>
          <p:cNvPr id="15" name="Text 13"/>
          <p:cNvSpPr txBox="1"/>
          <p:nvPr/>
        </p:nvSpPr>
        <p:spPr>
          <a:xfrm>
            <a:off x="731520" y="4206240"/>
            <a:ext cx="10698480" cy="640080"/>
          </a:xfrm>
          <a:prstGeom prst="rect">
            <a:avLst/>
          </a:prstGeom>
          <a:noFill/>
          <a:ln/>
        </p:spPr>
        <p:txBody>
          <a:bodyPr wrap="square" lIns="0" tIns="0" rIns="0" bIns="0" rtlCol="0" anchor="ctr"/>
          <a:lstStyle/>
          <a:p>
            <a:pPr indent="0" marL="0">
              <a:buNone/>
            </a:pPr>
            <a:r>
              <a:rPr lang="en-US" sz="1900" b="1" dirty="0">
                <a:solidFill>
                  <a:schemeClr val="accent1"/>
                </a:solidFill>
              </a:rPr>
              <a:t>Also pays: </a:t>
            </a:r>
            <a:pPr indent="0" marL="0">
              <a:buNone/>
            </a:pPr>
            <a:r>
              <a:rPr lang="en-US" sz="1900" dirty="0">
                <a:solidFill>
                  <a:schemeClr val="tx1"/>
                </a:solidFill>
              </a:rPr>
              <a:t>correct Barker's Guess (2 each), and every vote your booth gets in the Midway Walk (1 each).</a:t>
            </a:r>
            <a:endParaRPr lang="en-US" sz="1900" dirty="0"/>
          </a:p>
        </p:txBody>
      </p:sp>
      <p:sp>
        <p:nvSpPr>
          <p:cNvPr id="16" name="Text 14"/>
          <p:cNvSpPr txBox="1"/>
          <p:nvPr/>
        </p:nvSpPr>
        <p:spPr>
          <a:xfrm>
            <a:off x="731520" y="4937760"/>
            <a:ext cx="10698480" cy="548640"/>
          </a:xfrm>
          <a:prstGeom prst="rect">
            <a:avLst/>
          </a:prstGeom>
          <a:noFill/>
          <a:ln/>
        </p:spPr>
        <p:txBody>
          <a:bodyPr wrap="square" lIns="0" tIns="0" rIns="0" bIns="0" rtlCol="0" anchor="ctr"/>
          <a:lstStyle/>
          <a:p>
            <a:pPr indent="0" marL="0">
              <a:buNone/>
            </a:pPr>
            <a:r>
              <a:rPr lang="en-US" sz="1900" b="1" dirty="0">
                <a:solidFill>
                  <a:schemeClr val="tx2"/>
                </a:solidFill>
              </a:rPr>
              <a:t>Teams pool tickets. Most tickets shops first at the Prize Counter.</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1"/>
          <p:cNvSpPr/>
          <p:nvPr>
            <p:ph idx="121" type="title" hasCustomPrompt="1"/>
          </p:nvPr>
        </p:nvSpPr>
        <p:spPr>
          <a:xfrm>
            <a:off x="731520" y="2103120"/>
            <a:ext cx="10698480" cy="1280160"/>
          </a:xfrm>
          <a:prstGeom prst="rect">
            <a:avLst/>
          </a:prstGeom>
          <a:noFill/>
          <a:ln/>
        </p:spPr>
        <p:txBody>
          <a:bodyPr wrap="square" lIns="0" tIns="0" rIns="0" bIns="0" rtlCol="0" anchor="ctr"/>
          <a:lstStyle/>
          <a:p>
            <a:pPr algn="ctr" indent="0" marL="0">
              <a:buNone/>
            </a:pPr>
            <a:r>
              <a:rPr lang="en-US" sz="5400" b="1" dirty="0">
                <a:solidFill>
                  <a:schemeClr val="accent2"/>
                </a:solidFill>
              </a:rPr>
              <a:t>Barker's Guesses</a:t>
            </a:r>
            <a:endParaRPr lang="en-US" sz="5400" dirty="0"/>
          </a:p>
        </p:txBody>
      </p:sp>
      <p:sp>
        <p:nvSpPr>
          <p:cNvPr id="3" name="Text 21"/>
          <p:cNvSpPr/>
          <p:nvPr>
            <p:ph idx="122" type="body" hasCustomPrompt="1"/>
          </p:nvPr>
        </p:nvSpPr>
        <p:spPr>
          <a:xfrm>
            <a:off x="1371600" y="3474720"/>
            <a:ext cx="9418320" cy="1097280"/>
          </a:xfrm>
          <a:prstGeom prst="rect">
            <a:avLst/>
          </a:prstGeom>
          <a:noFill/>
          <a:ln/>
        </p:spPr>
        <p:txBody>
          <a:bodyPr wrap="square" lIns="0" tIns="0" rIns="0" bIns="0" rtlCol="0" anchor="t"/>
          <a:lstStyle/>
          <a:p>
            <a:pPr algn="ctr" indent="0" marL="0">
              <a:buNone/>
            </a:pPr>
            <a:r>
              <a:rPr lang="en-US" sz="2200" dirty="0">
                <a:solidFill>
                  <a:schemeClr val="bg2"/>
                </a:solidFill>
              </a:rPr>
              <a:t>No experience needed. These are all guessable.</a:t>
            </a:r>
            <a:endParaRPr lang="en-US" sz="2200" dirty="0"/>
          </a:p>
          <a:p>
            <a:pPr algn="ctr" indent="0" marL="0">
              <a:buNone/>
            </a:pPr>
            <a:r>
              <a:rPr lang="en-US" sz="2200" dirty="0">
                <a:solidFill>
                  <a:schemeClr val="bg2"/>
                </a:solidFill>
              </a:rPr>
              <a:t>Teams hold up A, B, C, or D. Closest guess wins tickets.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Guess 1 of 6</a:t>
            </a:r>
            <a:endParaRPr lang="en-US" sz="3400" dirty="0"/>
          </a:p>
        </p:txBody>
      </p:sp>
      <p:sp>
        <p:nvSpPr>
          <p:cNvPr id="3" name="question"/>
          <p:cNvSpPr/>
          <p:nvPr/>
        </p:nvSpPr>
        <p:spPr>
          <a:xfrm>
            <a:off x="731520" y="1554480"/>
            <a:ext cx="10698480" cy="1371600"/>
          </a:xfrm>
          <a:prstGeom prst="roundRect">
            <a:avLst>
              <a:gd name="adj" fmla="val 10000"/>
            </a:avLst>
          </a:prstGeom>
          <a:solidFill>
            <a:schemeClr val="tx2"/>
          </a:solidFill>
          <a:ln w="38100">
            <a:solidFill>
              <a:schemeClr val="accent2"/>
            </a:solidFill>
            <a:prstDash val="solid"/>
          </a:ln>
        </p:spPr>
      </p:sp>
      <p:sp>
        <p:nvSpPr>
          <p:cNvPr id="4" name="Text 2"/>
          <p:cNvSpPr txBox="1"/>
          <p:nvPr/>
        </p:nvSpPr>
        <p:spPr>
          <a:xfrm>
            <a:off x="1005840" y="1554480"/>
            <a:ext cx="10149840" cy="1371600"/>
          </a:xfrm>
          <a:prstGeom prst="rect">
            <a:avLst/>
          </a:prstGeom>
          <a:noFill/>
          <a:ln/>
        </p:spPr>
        <p:txBody>
          <a:bodyPr wrap="square" lIns="0" tIns="0" rIns="0" bIns="0" rtlCol="0" anchor="ctr"/>
          <a:lstStyle/>
          <a:p>
            <a:pPr indent="0" marL="0">
              <a:buNone/>
            </a:pPr>
            <a:r>
              <a:rPr lang="en-US" sz="2400" b="1" dirty="0">
                <a:solidFill>
                  <a:schemeClr val="bg2"/>
                </a:solidFill>
                <a:latin typeface="Georgia" pitchFamily="34" charset="0"/>
                <a:ea typeface="Georgia" pitchFamily="34" charset="-122"/>
                <a:cs typeface="Georgia" pitchFamily="34" charset="-120"/>
              </a:rPr>
              <a:t>Some websites let you drive a little 3D car around the page. What does a visitor need to install first?</a:t>
            </a:r>
            <a:endParaRPr lang="en-US" sz="2400" dirty="0"/>
          </a:p>
        </p:txBody>
      </p:sp>
      <p:sp>
        <p:nvSpPr>
          <p:cNvPr id="5" name="option 0"/>
          <p:cNvSpPr/>
          <p:nvPr/>
        </p:nvSpPr>
        <p:spPr>
          <a:xfrm>
            <a:off x="731520" y="3200400"/>
            <a:ext cx="5257800" cy="1051560"/>
          </a:xfrm>
          <a:prstGeom prst="roundRect">
            <a:avLst>
              <a:gd name="adj" fmla="val 10435"/>
            </a:avLst>
          </a:prstGeom>
          <a:solidFill>
            <a:schemeClr val="bg1"/>
          </a:solidFill>
          <a:ln w="38100">
            <a:solidFill>
              <a:schemeClr val="accent1"/>
            </a:solidFill>
            <a:prstDash val="solid"/>
          </a:ln>
        </p:spPr>
      </p:sp>
      <p:sp>
        <p:nvSpPr>
          <p:cNvPr id="6" name="letter 0"/>
          <p:cNvSpPr/>
          <p:nvPr/>
        </p:nvSpPr>
        <p:spPr>
          <a:xfrm>
            <a:off x="914400" y="3383280"/>
            <a:ext cx="685800" cy="685800"/>
          </a:xfrm>
          <a:prstGeom prst="ellipse">
            <a:avLst/>
          </a:prstGeom>
          <a:solidFill>
            <a:schemeClr val="accent1"/>
          </a:solidFill>
          <a:ln w="12700">
            <a:solidFill>
              <a:schemeClr val="accent1"/>
            </a:solidFill>
            <a:prstDash val="solid"/>
          </a:ln>
        </p:spPr>
      </p:sp>
      <p:sp>
        <p:nvSpPr>
          <p:cNvPr id="7" name="Text 5"/>
          <p:cNvSpPr txBox="1"/>
          <p:nvPr/>
        </p:nvSpPr>
        <p:spPr>
          <a:xfrm>
            <a:off x="91440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8" name="Text 6"/>
          <p:cNvSpPr txBox="1"/>
          <p:nvPr/>
        </p:nvSpPr>
        <p:spPr>
          <a:xfrm>
            <a:off x="178308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game engine</a:t>
            </a:r>
            <a:endParaRPr lang="en-US" sz="1900" dirty="0"/>
          </a:p>
        </p:txBody>
      </p:sp>
      <p:sp>
        <p:nvSpPr>
          <p:cNvPr id="9" name="option 1"/>
          <p:cNvSpPr/>
          <p:nvPr/>
        </p:nvSpPr>
        <p:spPr>
          <a:xfrm>
            <a:off x="6172200" y="3200400"/>
            <a:ext cx="5257800" cy="1051560"/>
          </a:xfrm>
          <a:prstGeom prst="roundRect">
            <a:avLst>
              <a:gd name="adj" fmla="val 10435"/>
            </a:avLst>
          </a:prstGeom>
          <a:solidFill>
            <a:schemeClr val="bg1"/>
          </a:solidFill>
          <a:ln w="38100">
            <a:solidFill>
              <a:schemeClr val="accent3"/>
            </a:solidFill>
            <a:prstDash val="solid"/>
          </a:ln>
        </p:spPr>
      </p:sp>
      <p:sp>
        <p:nvSpPr>
          <p:cNvPr id="10" name="letter 1"/>
          <p:cNvSpPr/>
          <p:nvPr/>
        </p:nvSpPr>
        <p:spPr>
          <a:xfrm>
            <a:off x="6355080" y="3383280"/>
            <a:ext cx="685800" cy="685800"/>
          </a:xfrm>
          <a:prstGeom prst="ellipse">
            <a:avLst/>
          </a:prstGeom>
          <a:solidFill>
            <a:schemeClr val="accent3"/>
          </a:solidFill>
          <a:ln w="12700">
            <a:solidFill>
              <a:schemeClr val="accent3"/>
            </a:solidFill>
            <a:prstDash val="solid"/>
          </a:ln>
        </p:spPr>
      </p:sp>
      <p:sp>
        <p:nvSpPr>
          <p:cNvPr id="11" name="Text 9"/>
          <p:cNvSpPr txBox="1"/>
          <p:nvPr/>
        </p:nvSpPr>
        <p:spPr>
          <a:xfrm>
            <a:off x="635508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2" name="Text 10"/>
          <p:cNvSpPr txBox="1"/>
          <p:nvPr/>
        </p:nvSpPr>
        <p:spPr>
          <a:xfrm>
            <a:off x="722376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special browser plugin</a:t>
            </a:r>
            <a:endParaRPr lang="en-US" sz="1900" dirty="0"/>
          </a:p>
        </p:txBody>
      </p:sp>
      <p:sp>
        <p:nvSpPr>
          <p:cNvPr id="13" name="option 2"/>
          <p:cNvSpPr/>
          <p:nvPr/>
        </p:nvSpPr>
        <p:spPr>
          <a:xfrm>
            <a:off x="731520" y="4434840"/>
            <a:ext cx="5257800" cy="1051560"/>
          </a:xfrm>
          <a:prstGeom prst="roundRect">
            <a:avLst>
              <a:gd name="adj" fmla="val 10435"/>
            </a:avLst>
          </a:prstGeom>
          <a:solidFill>
            <a:schemeClr val="bg1"/>
          </a:solidFill>
          <a:ln w="38100">
            <a:solidFill>
              <a:schemeClr val="accent2"/>
            </a:solidFill>
            <a:prstDash val="solid"/>
          </a:ln>
        </p:spPr>
      </p:sp>
      <p:sp>
        <p:nvSpPr>
          <p:cNvPr id="14" name="letter 2"/>
          <p:cNvSpPr/>
          <p:nvPr/>
        </p:nvSpPr>
        <p:spPr>
          <a:xfrm>
            <a:off x="914400" y="4617720"/>
            <a:ext cx="685800" cy="685800"/>
          </a:xfrm>
          <a:prstGeom prst="ellipse">
            <a:avLst/>
          </a:prstGeom>
          <a:solidFill>
            <a:schemeClr val="accent2"/>
          </a:solidFill>
          <a:ln w="12700">
            <a:solidFill>
              <a:schemeClr val="accent2"/>
            </a:solidFill>
            <a:prstDash val="solid"/>
          </a:ln>
        </p:spPr>
      </p:sp>
      <p:sp>
        <p:nvSpPr>
          <p:cNvPr id="15" name="Text 13"/>
          <p:cNvSpPr txBox="1"/>
          <p:nvPr/>
        </p:nvSpPr>
        <p:spPr>
          <a:xfrm>
            <a:off x="914400" y="46177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C</a:t>
            </a:r>
            <a:endParaRPr lang="en-US" sz="2200" dirty="0"/>
          </a:p>
        </p:txBody>
      </p:sp>
      <p:sp>
        <p:nvSpPr>
          <p:cNvPr id="16" name="Text 14"/>
          <p:cNvSpPr txBox="1"/>
          <p:nvPr/>
        </p:nvSpPr>
        <p:spPr>
          <a:xfrm>
            <a:off x="178308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Nothing at all</a:t>
            </a:r>
            <a:endParaRPr lang="en-US" sz="1900" dirty="0"/>
          </a:p>
        </p:txBody>
      </p:sp>
      <p:sp>
        <p:nvSpPr>
          <p:cNvPr id="17" name="option 3"/>
          <p:cNvSpPr/>
          <p:nvPr/>
        </p:nvSpPr>
        <p:spPr>
          <a:xfrm>
            <a:off x="6172200" y="4434840"/>
            <a:ext cx="5257800" cy="1051560"/>
          </a:xfrm>
          <a:prstGeom prst="roundRect">
            <a:avLst>
              <a:gd name="adj" fmla="val 10435"/>
            </a:avLst>
          </a:prstGeom>
          <a:solidFill>
            <a:schemeClr val="bg1"/>
          </a:solidFill>
          <a:ln w="38100">
            <a:solidFill>
              <a:schemeClr val="accent5"/>
            </a:solidFill>
            <a:prstDash val="solid"/>
          </a:ln>
        </p:spPr>
      </p:sp>
      <p:sp>
        <p:nvSpPr>
          <p:cNvPr id="18" name="letter 3"/>
          <p:cNvSpPr/>
          <p:nvPr/>
        </p:nvSpPr>
        <p:spPr>
          <a:xfrm>
            <a:off x="6355080" y="4617720"/>
            <a:ext cx="685800" cy="685800"/>
          </a:xfrm>
          <a:prstGeom prst="ellipse">
            <a:avLst/>
          </a:prstGeom>
          <a:solidFill>
            <a:schemeClr val="accent5"/>
          </a:solidFill>
          <a:ln w="12700">
            <a:solidFill>
              <a:schemeClr val="accent5"/>
            </a:solidFill>
            <a:prstDash val="solid"/>
          </a:ln>
        </p:spPr>
      </p:sp>
      <p:sp>
        <p:nvSpPr>
          <p:cNvPr id="19" name="Text 17"/>
          <p:cNvSpPr txBox="1"/>
          <p:nvPr/>
        </p:nvSpPr>
        <p:spPr>
          <a:xfrm>
            <a:off x="6355080" y="46177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20" name="Text 18"/>
          <p:cNvSpPr txBox="1"/>
          <p:nvPr/>
        </p:nvSpPr>
        <p:spPr>
          <a:xfrm>
            <a:off x="722376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VR headset</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Guess 2 of 6</a:t>
            </a:r>
            <a:endParaRPr lang="en-US" sz="3400" dirty="0"/>
          </a:p>
        </p:txBody>
      </p:sp>
      <p:sp>
        <p:nvSpPr>
          <p:cNvPr id="3" name="question"/>
          <p:cNvSpPr/>
          <p:nvPr/>
        </p:nvSpPr>
        <p:spPr>
          <a:xfrm>
            <a:off x="731520" y="1554480"/>
            <a:ext cx="10698480" cy="1371600"/>
          </a:xfrm>
          <a:prstGeom prst="roundRect">
            <a:avLst>
              <a:gd name="adj" fmla="val 10000"/>
            </a:avLst>
          </a:prstGeom>
          <a:solidFill>
            <a:schemeClr val="tx2"/>
          </a:solidFill>
          <a:ln w="38100">
            <a:solidFill>
              <a:schemeClr val="accent2"/>
            </a:solidFill>
            <a:prstDash val="solid"/>
          </a:ln>
        </p:spPr>
      </p:sp>
      <p:sp>
        <p:nvSpPr>
          <p:cNvPr id="4" name="Text 2"/>
          <p:cNvSpPr txBox="1"/>
          <p:nvPr/>
        </p:nvSpPr>
        <p:spPr>
          <a:xfrm>
            <a:off x="1005840" y="1554480"/>
            <a:ext cx="10149840" cy="1371600"/>
          </a:xfrm>
          <a:prstGeom prst="rect">
            <a:avLst/>
          </a:prstGeom>
          <a:noFill/>
          <a:ln/>
        </p:spPr>
        <p:txBody>
          <a:bodyPr wrap="square" lIns="0" tIns="0" rIns="0" bIns="0" rtlCol="0" anchor="ctr"/>
          <a:lstStyle/>
          <a:p>
            <a:pPr indent="0" marL="0">
              <a:buNone/>
            </a:pPr>
            <a:r>
              <a:rPr lang="en-US" sz="2400" b="1" dirty="0">
                <a:solidFill>
                  <a:schemeClr val="bg2"/>
                </a:solidFill>
                <a:latin typeface="Georgia" pitchFamily="34" charset="0"/>
                <a:ea typeface="Georgia" pitchFamily="34" charset="-122"/>
                <a:cs typeface="Georgia" pitchFamily="34" charset="-120"/>
              </a:rPr>
              <a:t>To film a movie you need a set, actors, a camera, and lights. To make a 3D scene in a web page, which one do you NOT need?</a:t>
            </a:r>
            <a:endParaRPr lang="en-US" sz="2400" dirty="0"/>
          </a:p>
        </p:txBody>
      </p:sp>
      <p:sp>
        <p:nvSpPr>
          <p:cNvPr id="5" name="option 0"/>
          <p:cNvSpPr/>
          <p:nvPr/>
        </p:nvSpPr>
        <p:spPr>
          <a:xfrm>
            <a:off x="731520" y="3200400"/>
            <a:ext cx="5257800" cy="1051560"/>
          </a:xfrm>
          <a:prstGeom prst="roundRect">
            <a:avLst>
              <a:gd name="adj" fmla="val 10435"/>
            </a:avLst>
          </a:prstGeom>
          <a:solidFill>
            <a:schemeClr val="bg1"/>
          </a:solidFill>
          <a:ln w="38100">
            <a:solidFill>
              <a:schemeClr val="accent1"/>
            </a:solidFill>
            <a:prstDash val="solid"/>
          </a:ln>
        </p:spPr>
      </p:sp>
      <p:sp>
        <p:nvSpPr>
          <p:cNvPr id="6" name="letter 0"/>
          <p:cNvSpPr/>
          <p:nvPr/>
        </p:nvSpPr>
        <p:spPr>
          <a:xfrm>
            <a:off x="914400" y="3383280"/>
            <a:ext cx="685800" cy="685800"/>
          </a:xfrm>
          <a:prstGeom prst="ellipse">
            <a:avLst/>
          </a:prstGeom>
          <a:solidFill>
            <a:schemeClr val="accent1"/>
          </a:solidFill>
          <a:ln w="12700">
            <a:solidFill>
              <a:schemeClr val="accent1"/>
            </a:solidFill>
            <a:prstDash val="solid"/>
          </a:ln>
        </p:spPr>
      </p:sp>
      <p:sp>
        <p:nvSpPr>
          <p:cNvPr id="7" name="Text 5"/>
          <p:cNvSpPr txBox="1"/>
          <p:nvPr/>
        </p:nvSpPr>
        <p:spPr>
          <a:xfrm>
            <a:off x="91440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8" name="Text 6"/>
          <p:cNvSpPr txBox="1"/>
          <p:nvPr/>
        </p:nvSpPr>
        <p:spPr>
          <a:xfrm>
            <a:off x="178308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set to put things on</a:t>
            </a:r>
            <a:endParaRPr lang="en-US" sz="1900" dirty="0"/>
          </a:p>
        </p:txBody>
      </p:sp>
      <p:sp>
        <p:nvSpPr>
          <p:cNvPr id="9" name="option 1"/>
          <p:cNvSpPr/>
          <p:nvPr/>
        </p:nvSpPr>
        <p:spPr>
          <a:xfrm>
            <a:off x="6172200" y="3200400"/>
            <a:ext cx="5257800" cy="1051560"/>
          </a:xfrm>
          <a:prstGeom prst="roundRect">
            <a:avLst>
              <a:gd name="adj" fmla="val 10435"/>
            </a:avLst>
          </a:prstGeom>
          <a:solidFill>
            <a:schemeClr val="bg1"/>
          </a:solidFill>
          <a:ln w="38100">
            <a:solidFill>
              <a:schemeClr val="accent3"/>
            </a:solidFill>
            <a:prstDash val="solid"/>
          </a:ln>
        </p:spPr>
      </p:sp>
      <p:sp>
        <p:nvSpPr>
          <p:cNvPr id="10" name="letter 1"/>
          <p:cNvSpPr/>
          <p:nvPr/>
        </p:nvSpPr>
        <p:spPr>
          <a:xfrm>
            <a:off x="6355080" y="3383280"/>
            <a:ext cx="685800" cy="685800"/>
          </a:xfrm>
          <a:prstGeom prst="ellipse">
            <a:avLst/>
          </a:prstGeom>
          <a:solidFill>
            <a:schemeClr val="accent3"/>
          </a:solidFill>
          <a:ln w="12700">
            <a:solidFill>
              <a:schemeClr val="accent3"/>
            </a:solidFill>
            <a:prstDash val="solid"/>
          </a:ln>
        </p:spPr>
      </p:sp>
      <p:sp>
        <p:nvSpPr>
          <p:cNvPr id="11" name="Text 9"/>
          <p:cNvSpPr txBox="1"/>
          <p:nvPr/>
        </p:nvSpPr>
        <p:spPr>
          <a:xfrm>
            <a:off x="635508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2" name="Text 10"/>
          <p:cNvSpPr txBox="1"/>
          <p:nvPr/>
        </p:nvSpPr>
        <p:spPr>
          <a:xfrm>
            <a:off x="722376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Objects to look at</a:t>
            </a:r>
            <a:endParaRPr lang="en-US" sz="1900" dirty="0"/>
          </a:p>
        </p:txBody>
      </p:sp>
      <p:sp>
        <p:nvSpPr>
          <p:cNvPr id="13" name="option 2"/>
          <p:cNvSpPr/>
          <p:nvPr/>
        </p:nvSpPr>
        <p:spPr>
          <a:xfrm>
            <a:off x="731520" y="4434840"/>
            <a:ext cx="5257800" cy="1051560"/>
          </a:xfrm>
          <a:prstGeom prst="roundRect">
            <a:avLst>
              <a:gd name="adj" fmla="val 10435"/>
            </a:avLst>
          </a:prstGeom>
          <a:solidFill>
            <a:schemeClr val="bg1"/>
          </a:solidFill>
          <a:ln w="38100">
            <a:solidFill>
              <a:schemeClr val="accent2"/>
            </a:solidFill>
            <a:prstDash val="solid"/>
          </a:ln>
        </p:spPr>
      </p:sp>
      <p:sp>
        <p:nvSpPr>
          <p:cNvPr id="14" name="letter 2"/>
          <p:cNvSpPr/>
          <p:nvPr/>
        </p:nvSpPr>
        <p:spPr>
          <a:xfrm>
            <a:off x="914400" y="4617720"/>
            <a:ext cx="685800" cy="685800"/>
          </a:xfrm>
          <a:prstGeom prst="ellipse">
            <a:avLst/>
          </a:prstGeom>
          <a:solidFill>
            <a:schemeClr val="accent2"/>
          </a:solidFill>
          <a:ln w="12700">
            <a:solidFill>
              <a:schemeClr val="accent2"/>
            </a:solidFill>
            <a:prstDash val="solid"/>
          </a:ln>
        </p:spPr>
      </p:sp>
      <p:sp>
        <p:nvSpPr>
          <p:cNvPr id="15" name="Text 13"/>
          <p:cNvSpPr txBox="1"/>
          <p:nvPr/>
        </p:nvSpPr>
        <p:spPr>
          <a:xfrm>
            <a:off x="914400" y="46177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C</a:t>
            </a:r>
            <a:endParaRPr lang="en-US" sz="2200" dirty="0"/>
          </a:p>
        </p:txBody>
      </p:sp>
      <p:sp>
        <p:nvSpPr>
          <p:cNvPr id="16" name="Text 14"/>
          <p:cNvSpPr txBox="1"/>
          <p:nvPr/>
        </p:nvSpPr>
        <p:spPr>
          <a:xfrm>
            <a:off x="178308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camera</a:t>
            </a:r>
            <a:endParaRPr lang="en-US" sz="1900" dirty="0"/>
          </a:p>
        </p:txBody>
      </p:sp>
      <p:sp>
        <p:nvSpPr>
          <p:cNvPr id="17" name="option 3"/>
          <p:cNvSpPr/>
          <p:nvPr/>
        </p:nvSpPr>
        <p:spPr>
          <a:xfrm>
            <a:off x="6172200" y="4434840"/>
            <a:ext cx="5257800" cy="1051560"/>
          </a:xfrm>
          <a:prstGeom prst="roundRect">
            <a:avLst>
              <a:gd name="adj" fmla="val 10435"/>
            </a:avLst>
          </a:prstGeom>
          <a:solidFill>
            <a:schemeClr val="bg1"/>
          </a:solidFill>
          <a:ln w="38100">
            <a:solidFill>
              <a:schemeClr val="accent5"/>
            </a:solidFill>
            <a:prstDash val="solid"/>
          </a:ln>
        </p:spPr>
      </p:sp>
      <p:sp>
        <p:nvSpPr>
          <p:cNvPr id="18" name="letter 3"/>
          <p:cNvSpPr/>
          <p:nvPr/>
        </p:nvSpPr>
        <p:spPr>
          <a:xfrm>
            <a:off x="6355080" y="4617720"/>
            <a:ext cx="685800" cy="685800"/>
          </a:xfrm>
          <a:prstGeom prst="ellipse">
            <a:avLst/>
          </a:prstGeom>
          <a:solidFill>
            <a:schemeClr val="accent5"/>
          </a:solidFill>
          <a:ln w="12700">
            <a:solidFill>
              <a:schemeClr val="accent5"/>
            </a:solidFill>
            <a:prstDash val="solid"/>
          </a:ln>
        </p:spPr>
      </p:sp>
      <p:sp>
        <p:nvSpPr>
          <p:cNvPr id="19" name="Text 17"/>
          <p:cNvSpPr txBox="1"/>
          <p:nvPr/>
        </p:nvSpPr>
        <p:spPr>
          <a:xfrm>
            <a:off x="6355080" y="46177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20" name="Text 18"/>
          <p:cNvSpPr txBox="1"/>
          <p:nvPr/>
        </p:nvSpPr>
        <p:spPr>
          <a:xfrm>
            <a:off x="722376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microphone</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Guess 3 of 6</a:t>
            </a:r>
            <a:endParaRPr lang="en-US" sz="3400" dirty="0"/>
          </a:p>
        </p:txBody>
      </p:sp>
      <p:sp>
        <p:nvSpPr>
          <p:cNvPr id="3" name="question"/>
          <p:cNvSpPr/>
          <p:nvPr/>
        </p:nvSpPr>
        <p:spPr>
          <a:xfrm>
            <a:off x="731520" y="1554480"/>
            <a:ext cx="10698480" cy="1371600"/>
          </a:xfrm>
          <a:prstGeom prst="roundRect">
            <a:avLst>
              <a:gd name="adj" fmla="val 10000"/>
            </a:avLst>
          </a:prstGeom>
          <a:solidFill>
            <a:schemeClr val="tx2"/>
          </a:solidFill>
          <a:ln w="38100">
            <a:solidFill>
              <a:schemeClr val="accent2"/>
            </a:solidFill>
            <a:prstDash val="solid"/>
          </a:ln>
        </p:spPr>
      </p:sp>
      <p:sp>
        <p:nvSpPr>
          <p:cNvPr id="4" name="Text 2"/>
          <p:cNvSpPr txBox="1"/>
          <p:nvPr/>
        </p:nvSpPr>
        <p:spPr>
          <a:xfrm>
            <a:off x="1005840" y="1554480"/>
            <a:ext cx="10149840" cy="1371600"/>
          </a:xfrm>
          <a:prstGeom prst="rect">
            <a:avLst/>
          </a:prstGeom>
          <a:noFill/>
          <a:ln/>
        </p:spPr>
        <p:txBody>
          <a:bodyPr wrap="square" lIns="0" tIns="0" rIns="0" bIns="0" rtlCol="0" anchor="ctr"/>
          <a:lstStyle/>
          <a:p>
            <a:pPr indent="0" marL="0">
              <a:buNone/>
            </a:pPr>
            <a:r>
              <a:rPr lang="en-US" sz="2400" b="1" dirty="0">
                <a:solidFill>
                  <a:schemeClr val="bg2"/>
                </a:solidFill>
                <a:latin typeface="Georgia" pitchFamily="34" charset="0"/>
                <a:ea typeface="Georgia" pitchFamily="34" charset="-122"/>
                <a:cs typeface="Georgia" pitchFamily="34" charset="-120"/>
              </a:rPr>
              <a:t>Draw it! A button is labeled with these words. Sketch what you think it looks like.</a:t>
            </a:r>
            <a:endParaRPr lang="en-US" sz="2400" dirty="0"/>
          </a:p>
        </p:txBody>
      </p:sp>
      <p:sp>
        <p:nvSpPr>
          <p:cNvPr id="6" name="code frame"/>
          <p:cNvSpPr/>
          <p:nvPr/>
        </p:nvSpPr>
        <p:spPr>
          <a:xfrm>
            <a:off x="2011680" y="3291840"/>
            <a:ext cx="8138160" cy="1463040"/>
          </a:xfrm>
          <a:prstGeom prst="roundRect">
            <a:avLst>
              <a:gd name="adj" fmla="val 5000"/>
            </a:avLst>
          </a:prstGeom>
          <a:solidFill>
            <a:schemeClr val="tx2"/>
          </a:solidFill>
          <a:ln w="25400">
            <a:solidFill>
              <a:schemeClr val="accent2"/>
            </a:solidFill>
            <a:prstDash val="solid"/>
          </a:ln>
        </p:spPr>
      </p:sp>
      <p:sp>
        <p:nvSpPr>
          <p:cNvPr id="7" name="code"/>
          <p:cNvSpPr txBox="1"/>
          <p:nvPr/>
        </p:nvSpPr>
        <p:spPr>
          <a:xfrm>
            <a:off x="2286000" y="3474720"/>
            <a:ext cx="7589520" cy="1097280"/>
          </a:xfrm>
          <a:prstGeom prst="rect">
            <a:avLst/>
          </a:prstGeom>
          <a:noFill/>
          <a:ln/>
        </p:spPr>
        <p:txBody>
          <a:bodyPr wrap="square" lIns="0" tIns="0" rIns="0" bIns="0" rtlCol="0" anchor="t"/>
          <a:lstStyle/>
          <a:p>
            <a:pPr indent="0" marL="0">
              <a:buNone/>
            </a:pPr>
            <a:r>
              <a:rPr lang="en-US" sz="2400" dirty="0">
                <a:solidFill>
                  <a:schemeClr val="bg2"/>
                </a:solidFill>
                <a:latin typeface="Consolas" pitchFamily="34" charset="0"/>
                <a:ea typeface="Consolas" pitchFamily="34" charset="-122"/>
                <a:cs typeface="Consolas" pitchFamily="34" charset="-120"/>
              </a:rPr>
              <a:t>bg-red-500   text-white   rounded-full</a:t>
            </a:r>
            <a:endParaRPr lang="en-US" sz="2400" dirty="0"/>
          </a:p>
          <a:p>
            <a:pPr indent="0" marL="0">
              <a:buNone/>
            </a:pPr>
            <a:r>
              <a:rPr lang="en-US" sz="2400" dirty="0">
                <a:solidFill>
                  <a:schemeClr val="bg2"/>
                </a:solidFill>
                <a:latin typeface="Consolas" pitchFamily="34" charset="0"/>
                <a:ea typeface="Consolas" pitchFamily="34" charset="-122"/>
                <a:cs typeface="Consolas" pitchFamily="34" charset="-120"/>
              </a:rPr>
              <a:t>px-6   py-2   shadow-lg</a:t>
            </a:r>
            <a:endParaRPr lang="en-US" sz="2400" dirty="0"/>
          </a:p>
        </p:txBody>
      </p:sp>
      <p:sp>
        <p:nvSpPr>
          <p:cNvPr id="8" name="Text 5"/>
          <p:cNvSpPr txBox="1"/>
          <p:nvPr/>
        </p:nvSpPr>
        <p:spPr>
          <a:xfrm>
            <a:off x="731520" y="5120640"/>
            <a:ext cx="10698480" cy="457200"/>
          </a:xfrm>
          <a:prstGeom prst="rect">
            <a:avLst/>
          </a:prstGeom>
          <a:noFill/>
          <a:ln/>
        </p:spPr>
        <p:txBody>
          <a:bodyPr wrap="square" lIns="0" tIns="0" rIns="0" bIns="0" rtlCol="0" anchor="ctr"/>
          <a:lstStyle/>
          <a:p>
            <a:pPr algn="ctr" indent="0" marL="0">
              <a:buNone/>
            </a:pPr>
            <a:r>
              <a:rPr lang="en-US" sz="1800" i="1" dirty="0">
                <a:solidFill>
                  <a:schemeClr val="accent3"/>
                </a:solidFill>
              </a:rPr>
              <a:t>Teams: draw on your board. Best 3 drawings win tickets.</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Guess 4 of 6</a:t>
            </a:r>
            <a:endParaRPr lang="en-US" sz="3400" dirty="0"/>
          </a:p>
        </p:txBody>
      </p:sp>
      <p:sp>
        <p:nvSpPr>
          <p:cNvPr id="3" name="question"/>
          <p:cNvSpPr/>
          <p:nvPr/>
        </p:nvSpPr>
        <p:spPr>
          <a:xfrm>
            <a:off x="731520" y="1554480"/>
            <a:ext cx="10698480" cy="1371600"/>
          </a:xfrm>
          <a:prstGeom prst="roundRect">
            <a:avLst>
              <a:gd name="adj" fmla="val 10000"/>
            </a:avLst>
          </a:prstGeom>
          <a:solidFill>
            <a:schemeClr val="tx2"/>
          </a:solidFill>
          <a:ln w="38100">
            <a:solidFill>
              <a:schemeClr val="accent2"/>
            </a:solidFill>
            <a:prstDash val="solid"/>
          </a:ln>
        </p:spPr>
      </p:sp>
      <p:sp>
        <p:nvSpPr>
          <p:cNvPr id="4" name="Text 2"/>
          <p:cNvSpPr txBox="1"/>
          <p:nvPr/>
        </p:nvSpPr>
        <p:spPr>
          <a:xfrm>
            <a:off x="1005840" y="1554480"/>
            <a:ext cx="10149840" cy="1371600"/>
          </a:xfrm>
          <a:prstGeom prst="rect">
            <a:avLst/>
          </a:prstGeom>
          <a:noFill/>
          <a:ln/>
        </p:spPr>
        <p:txBody>
          <a:bodyPr wrap="square" lIns="0" tIns="0" rIns="0" bIns="0" rtlCol="0" anchor="ctr"/>
          <a:lstStyle/>
          <a:p>
            <a:pPr indent="0" marL="0">
              <a:buNone/>
            </a:pPr>
            <a:r>
              <a:rPr lang="en-US" sz="2400" b="1" dirty="0">
                <a:solidFill>
                  <a:schemeClr val="bg2"/>
                </a:solidFill>
                <a:latin typeface="Georgia" pitchFamily="34" charset="0"/>
                <a:ea typeface="Georgia" pitchFamily="34" charset="-122"/>
                <a:cs typeface="Georgia" pitchFamily="34" charset="-120"/>
              </a:rPr>
              <a:t>In web design, a CSS "framework" is most like which of these?</a:t>
            </a:r>
            <a:endParaRPr lang="en-US" sz="2400" dirty="0"/>
          </a:p>
        </p:txBody>
      </p:sp>
      <p:sp>
        <p:nvSpPr>
          <p:cNvPr id="5" name="option 0"/>
          <p:cNvSpPr/>
          <p:nvPr/>
        </p:nvSpPr>
        <p:spPr>
          <a:xfrm>
            <a:off x="731520" y="3200400"/>
            <a:ext cx="5257800" cy="1051560"/>
          </a:xfrm>
          <a:prstGeom prst="roundRect">
            <a:avLst>
              <a:gd name="adj" fmla="val 10435"/>
            </a:avLst>
          </a:prstGeom>
          <a:solidFill>
            <a:schemeClr val="bg1"/>
          </a:solidFill>
          <a:ln w="38100">
            <a:solidFill>
              <a:schemeClr val="accent1"/>
            </a:solidFill>
            <a:prstDash val="solid"/>
          </a:ln>
        </p:spPr>
      </p:sp>
      <p:sp>
        <p:nvSpPr>
          <p:cNvPr id="6" name="letter 0"/>
          <p:cNvSpPr/>
          <p:nvPr/>
        </p:nvSpPr>
        <p:spPr>
          <a:xfrm>
            <a:off x="914400" y="3383280"/>
            <a:ext cx="685800" cy="685800"/>
          </a:xfrm>
          <a:prstGeom prst="ellipse">
            <a:avLst/>
          </a:prstGeom>
          <a:solidFill>
            <a:schemeClr val="accent1"/>
          </a:solidFill>
          <a:ln w="12700">
            <a:solidFill>
              <a:schemeClr val="accent1"/>
            </a:solidFill>
            <a:prstDash val="solid"/>
          </a:ln>
        </p:spPr>
      </p:sp>
      <p:sp>
        <p:nvSpPr>
          <p:cNvPr id="7" name="Text 5"/>
          <p:cNvSpPr txBox="1"/>
          <p:nvPr/>
        </p:nvSpPr>
        <p:spPr>
          <a:xfrm>
            <a:off x="91440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8" name="Text 6"/>
          <p:cNvSpPr txBox="1"/>
          <p:nvPr/>
        </p:nvSpPr>
        <p:spPr>
          <a:xfrm>
            <a:off x="178308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recipe you must write from scratch</a:t>
            </a:r>
            <a:endParaRPr lang="en-US" sz="1900" dirty="0"/>
          </a:p>
        </p:txBody>
      </p:sp>
      <p:sp>
        <p:nvSpPr>
          <p:cNvPr id="9" name="option 1"/>
          <p:cNvSpPr/>
          <p:nvPr/>
        </p:nvSpPr>
        <p:spPr>
          <a:xfrm>
            <a:off x="6172200" y="3200400"/>
            <a:ext cx="5257800" cy="1051560"/>
          </a:xfrm>
          <a:prstGeom prst="roundRect">
            <a:avLst>
              <a:gd name="adj" fmla="val 10435"/>
            </a:avLst>
          </a:prstGeom>
          <a:solidFill>
            <a:schemeClr val="bg1"/>
          </a:solidFill>
          <a:ln w="38100">
            <a:solidFill>
              <a:schemeClr val="accent3"/>
            </a:solidFill>
            <a:prstDash val="solid"/>
          </a:ln>
        </p:spPr>
      </p:sp>
      <p:sp>
        <p:nvSpPr>
          <p:cNvPr id="10" name="letter 1"/>
          <p:cNvSpPr/>
          <p:nvPr/>
        </p:nvSpPr>
        <p:spPr>
          <a:xfrm>
            <a:off x="6355080" y="3383280"/>
            <a:ext cx="685800" cy="685800"/>
          </a:xfrm>
          <a:prstGeom prst="ellipse">
            <a:avLst/>
          </a:prstGeom>
          <a:solidFill>
            <a:schemeClr val="accent3"/>
          </a:solidFill>
          <a:ln w="12700">
            <a:solidFill>
              <a:schemeClr val="accent3"/>
            </a:solidFill>
            <a:prstDash val="solid"/>
          </a:ln>
        </p:spPr>
      </p:sp>
      <p:sp>
        <p:nvSpPr>
          <p:cNvPr id="11" name="Text 9"/>
          <p:cNvSpPr txBox="1"/>
          <p:nvPr/>
        </p:nvSpPr>
        <p:spPr>
          <a:xfrm>
            <a:off x="635508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2" name="Text 10"/>
          <p:cNvSpPr txBox="1"/>
          <p:nvPr/>
        </p:nvSpPr>
        <p:spPr>
          <a:xfrm>
            <a:off x="722376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big box of pre-made LEGO pieces</a:t>
            </a:r>
            <a:endParaRPr lang="en-US" sz="1900" dirty="0"/>
          </a:p>
        </p:txBody>
      </p:sp>
      <p:sp>
        <p:nvSpPr>
          <p:cNvPr id="13" name="option 2"/>
          <p:cNvSpPr/>
          <p:nvPr/>
        </p:nvSpPr>
        <p:spPr>
          <a:xfrm>
            <a:off x="731520" y="4434840"/>
            <a:ext cx="5257800" cy="1051560"/>
          </a:xfrm>
          <a:prstGeom prst="roundRect">
            <a:avLst>
              <a:gd name="adj" fmla="val 10435"/>
            </a:avLst>
          </a:prstGeom>
          <a:solidFill>
            <a:schemeClr val="bg1"/>
          </a:solidFill>
          <a:ln w="38100">
            <a:solidFill>
              <a:schemeClr val="accent2"/>
            </a:solidFill>
            <a:prstDash val="solid"/>
          </a:ln>
        </p:spPr>
      </p:sp>
      <p:sp>
        <p:nvSpPr>
          <p:cNvPr id="14" name="letter 2"/>
          <p:cNvSpPr/>
          <p:nvPr/>
        </p:nvSpPr>
        <p:spPr>
          <a:xfrm>
            <a:off x="914400" y="4617720"/>
            <a:ext cx="685800" cy="685800"/>
          </a:xfrm>
          <a:prstGeom prst="ellipse">
            <a:avLst/>
          </a:prstGeom>
          <a:solidFill>
            <a:schemeClr val="accent2"/>
          </a:solidFill>
          <a:ln w="12700">
            <a:solidFill>
              <a:schemeClr val="accent2"/>
            </a:solidFill>
            <a:prstDash val="solid"/>
          </a:ln>
        </p:spPr>
      </p:sp>
      <p:sp>
        <p:nvSpPr>
          <p:cNvPr id="15" name="Text 13"/>
          <p:cNvSpPr txBox="1"/>
          <p:nvPr/>
        </p:nvSpPr>
        <p:spPr>
          <a:xfrm>
            <a:off x="914400" y="46177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C</a:t>
            </a:r>
            <a:endParaRPr lang="en-US" sz="2200" dirty="0"/>
          </a:p>
        </p:txBody>
      </p:sp>
      <p:sp>
        <p:nvSpPr>
          <p:cNvPr id="16" name="Text 14"/>
          <p:cNvSpPr txBox="1"/>
          <p:nvPr/>
        </p:nvSpPr>
        <p:spPr>
          <a:xfrm>
            <a:off x="178308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brand new programming language</a:t>
            </a:r>
            <a:endParaRPr lang="en-US" sz="1900" dirty="0"/>
          </a:p>
        </p:txBody>
      </p:sp>
      <p:sp>
        <p:nvSpPr>
          <p:cNvPr id="17" name="option 3"/>
          <p:cNvSpPr/>
          <p:nvPr/>
        </p:nvSpPr>
        <p:spPr>
          <a:xfrm>
            <a:off x="6172200" y="4434840"/>
            <a:ext cx="5257800" cy="1051560"/>
          </a:xfrm>
          <a:prstGeom prst="roundRect">
            <a:avLst>
              <a:gd name="adj" fmla="val 10435"/>
            </a:avLst>
          </a:prstGeom>
          <a:solidFill>
            <a:schemeClr val="bg1"/>
          </a:solidFill>
          <a:ln w="38100">
            <a:solidFill>
              <a:schemeClr val="accent5"/>
            </a:solidFill>
            <a:prstDash val="solid"/>
          </a:ln>
        </p:spPr>
      </p:sp>
      <p:sp>
        <p:nvSpPr>
          <p:cNvPr id="18" name="letter 3"/>
          <p:cNvSpPr/>
          <p:nvPr/>
        </p:nvSpPr>
        <p:spPr>
          <a:xfrm>
            <a:off x="6355080" y="4617720"/>
            <a:ext cx="685800" cy="685800"/>
          </a:xfrm>
          <a:prstGeom prst="ellipse">
            <a:avLst/>
          </a:prstGeom>
          <a:solidFill>
            <a:schemeClr val="accent5"/>
          </a:solidFill>
          <a:ln w="12700">
            <a:solidFill>
              <a:schemeClr val="accent5"/>
            </a:solidFill>
            <a:prstDash val="solid"/>
          </a:ln>
        </p:spPr>
      </p:sp>
      <p:sp>
        <p:nvSpPr>
          <p:cNvPr id="19" name="Text 17"/>
          <p:cNvSpPr txBox="1"/>
          <p:nvPr/>
        </p:nvSpPr>
        <p:spPr>
          <a:xfrm>
            <a:off x="6355080" y="46177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20" name="Text 18"/>
          <p:cNvSpPr txBox="1"/>
          <p:nvPr/>
        </p:nvSpPr>
        <p:spPr>
          <a:xfrm>
            <a:off x="722376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 different web browser</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Guess 5 of 6</a:t>
            </a:r>
            <a:endParaRPr lang="en-US" sz="3400" dirty="0"/>
          </a:p>
        </p:txBody>
      </p:sp>
      <p:sp>
        <p:nvSpPr>
          <p:cNvPr id="3" name="question"/>
          <p:cNvSpPr/>
          <p:nvPr/>
        </p:nvSpPr>
        <p:spPr>
          <a:xfrm>
            <a:off x="731520" y="1554480"/>
            <a:ext cx="10698480" cy="1371600"/>
          </a:xfrm>
          <a:prstGeom prst="roundRect">
            <a:avLst>
              <a:gd name="adj" fmla="val 10000"/>
            </a:avLst>
          </a:prstGeom>
          <a:solidFill>
            <a:schemeClr val="tx2"/>
          </a:solidFill>
          <a:ln w="38100">
            <a:solidFill>
              <a:schemeClr val="accent2"/>
            </a:solidFill>
            <a:prstDash val="solid"/>
          </a:ln>
        </p:spPr>
      </p:sp>
      <p:sp>
        <p:nvSpPr>
          <p:cNvPr id="4" name="Text 2"/>
          <p:cNvSpPr txBox="1"/>
          <p:nvPr/>
        </p:nvSpPr>
        <p:spPr>
          <a:xfrm>
            <a:off x="1005840" y="1554480"/>
            <a:ext cx="10149840" cy="1371600"/>
          </a:xfrm>
          <a:prstGeom prst="rect">
            <a:avLst/>
          </a:prstGeom>
          <a:noFill/>
          <a:ln/>
        </p:spPr>
        <p:txBody>
          <a:bodyPr wrap="square" lIns="0" tIns="0" rIns="0" bIns="0" rtlCol="0" anchor="ctr"/>
          <a:lstStyle/>
          <a:p>
            <a:pPr indent="0" marL="0">
              <a:buNone/>
            </a:pPr>
            <a:r>
              <a:rPr lang="en-US" sz="2400" b="1" dirty="0">
                <a:solidFill>
                  <a:schemeClr val="bg2"/>
                </a:solidFill>
                <a:latin typeface="Georgia" pitchFamily="34" charset="0"/>
                <a:ea typeface="Georgia" pitchFamily="34" charset="-122"/>
                <a:cs typeface="Georgia" pitchFamily="34" charset="-120"/>
              </a:rPr>
              <a:t>A comment box shows whatever people type to every visitor. Someone types something sneaky that looks like code instead of a comment. What could go wrong?</a:t>
            </a:r>
            <a:endParaRPr lang="en-US" sz="2400" dirty="0"/>
          </a:p>
        </p:txBody>
      </p:sp>
      <p:sp>
        <p:nvSpPr>
          <p:cNvPr id="6" name="Text 3"/>
          <p:cNvSpPr txBox="1"/>
          <p:nvPr/>
        </p:nvSpPr>
        <p:spPr>
          <a:xfrm>
            <a:off x="731520" y="3657600"/>
            <a:ext cx="10698480" cy="731520"/>
          </a:xfrm>
          <a:prstGeom prst="rect">
            <a:avLst/>
          </a:prstGeom>
          <a:noFill/>
          <a:ln/>
        </p:spPr>
        <p:txBody>
          <a:bodyPr wrap="square" lIns="0" tIns="0" rIns="0" bIns="0" rtlCol="0" anchor="ctr"/>
          <a:lstStyle/>
          <a:p>
            <a:pPr algn="ctr" indent="0" marL="0">
              <a:buNone/>
            </a:pPr>
            <a:r>
              <a:rPr lang="en-US" sz="2200" dirty="0">
                <a:solidFill>
                  <a:schemeClr val="tx1"/>
                </a:solidFill>
              </a:rPr>
              <a:t>Talk with your team for 45 seconds. Most creative reasonable answer wins.</a:t>
            </a:r>
            <a:endParaRPr lang="en-US" sz="22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Guess 6 of 6</a:t>
            </a:r>
            <a:endParaRPr lang="en-US" sz="3400" dirty="0"/>
          </a:p>
        </p:txBody>
      </p:sp>
      <p:sp>
        <p:nvSpPr>
          <p:cNvPr id="3" name="question"/>
          <p:cNvSpPr/>
          <p:nvPr/>
        </p:nvSpPr>
        <p:spPr>
          <a:xfrm>
            <a:off x="731520" y="1554480"/>
            <a:ext cx="10698480" cy="1371600"/>
          </a:xfrm>
          <a:prstGeom prst="roundRect">
            <a:avLst>
              <a:gd name="adj" fmla="val 10000"/>
            </a:avLst>
          </a:prstGeom>
          <a:solidFill>
            <a:schemeClr val="tx2"/>
          </a:solidFill>
          <a:ln w="38100">
            <a:solidFill>
              <a:schemeClr val="accent2"/>
            </a:solidFill>
            <a:prstDash val="solid"/>
          </a:ln>
        </p:spPr>
      </p:sp>
      <p:sp>
        <p:nvSpPr>
          <p:cNvPr id="4" name="Text 2"/>
          <p:cNvSpPr txBox="1"/>
          <p:nvPr/>
        </p:nvSpPr>
        <p:spPr>
          <a:xfrm>
            <a:off x="1005840" y="1554480"/>
            <a:ext cx="10149840" cy="1371600"/>
          </a:xfrm>
          <a:prstGeom prst="rect">
            <a:avLst/>
          </a:prstGeom>
          <a:noFill/>
          <a:ln/>
        </p:spPr>
        <p:txBody>
          <a:bodyPr wrap="square" lIns="0" tIns="0" rIns="0" bIns="0" rtlCol="0" anchor="ctr"/>
          <a:lstStyle/>
          <a:p>
            <a:pPr indent="0" marL="0">
              <a:buNone/>
            </a:pPr>
            <a:r>
              <a:rPr lang="en-US" sz="2400" b="1" dirty="0">
                <a:solidFill>
                  <a:schemeClr val="bg2"/>
                </a:solidFill>
                <a:latin typeface="Georgia" pitchFamily="34" charset="0"/>
                <a:ea typeface="Georgia" pitchFamily="34" charset="-122"/>
                <a:cs typeface="Georgia" pitchFamily="34" charset="-120"/>
              </a:rPr>
              <a:t>A developer accidentally uploads a file full of passwords to a public GitHub page. How soon could automated bots find it?</a:t>
            </a:r>
            <a:endParaRPr lang="en-US" sz="2400" dirty="0"/>
          </a:p>
        </p:txBody>
      </p:sp>
      <p:sp>
        <p:nvSpPr>
          <p:cNvPr id="5" name="option 0"/>
          <p:cNvSpPr/>
          <p:nvPr/>
        </p:nvSpPr>
        <p:spPr>
          <a:xfrm>
            <a:off x="731520" y="3200400"/>
            <a:ext cx="5257800" cy="1051560"/>
          </a:xfrm>
          <a:prstGeom prst="roundRect">
            <a:avLst>
              <a:gd name="adj" fmla="val 10435"/>
            </a:avLst>
          </a:prstGeom>
          <a:solidFill>
            <a:schemeClr val="bg1"/>
          </a:solidFill>
          <a:ln w="38100">
            <a:solidFill>
              <a:schemeClr val="accent1"/>
            </a:solidFill>
            <a:prstDash val="solid"/>
          </a:ln>
        </p:spPr>
      </p:sp>
      <p:sp>
        <p:nvSpPr>
          <p:cNvPr id="6" name="letter 0"/>
          <p:cNvSpPr/>
          <p:nvPr/>
        </p:nvSpPr>
        <p:spPr>
          <a:xfrm>
            <a:off x="914400" y="3383280"/>
            <a:ext cx="685800" cy="685800"/>
          </a:xfrm>
          <a:prstGeom prst="ellipse">
            <a:avLst/>
          </a:prstGeom>
          <a:solidFill>
            <a:schemeClr val="accent1"/>
          </a:solidFill>
          <a:ln w="12700">
            <a:solidFill>
              <a:schemeClr val="accent1"/>
            </a:solidFill>
            <a:prstDash val="solid"/>
          </a:ln>
        </p:spPr>
      </p:sp>
      <p:sp>
        <p:nvSpPr>
          <p:cNvPr id="7" name="Text 5"/>
          <p:cNvSpPr txBox="1"/>
          <p:nvPr/>
        </p:nvSpPr>
        <p:spPr>
          <a:xfrm>
            <a:off x="91440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A</a:t>
            </a:r>
            <a:endParaRPr lang="en-US" sz="2200" dirty="0"/>
          </a:p>
        </p:txBody>
      </p:sp>
      <p:sp>
        <p:nvSpPr>
          <p:cNvPr id="8" name="Text 6"/>
          <p:cNvSpPr txBox="1"/>
          <p:nvPr/>
        </p:nvSpPr>
        <p:spPr>
          <a:xfrm>
            <a:off x="178308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About a year</a:t>
            </a:r>
            <a:endParaRPr lang="en-US" sz="1900" dirty="0"/>
          </a:p>
        </p:txBody>
      </p:sp>
      <p:sp>
        <p:nvSpPr>
          <p:cNvPr id="9" name="option 1"/>
          <p:cNvSpPr/>
          <p:nvPr/>
        </p:nvSpPr>
        <p:spPr>
          <a:xfrm>
            <a:off x="6172200" y="3200400"/>
            <a:ext cx="5257800" cy="1051560"/>
          </a:xfrm>
          <a:prstGeom prst="roundRect">
            <a:avLst>
              <a:gd name="adj" fmla="val 10435"/>
            </a:avLst>
          </a:prstGeom>
          <a:solidFill>
            <a:schemeClr val="bg1"/>
          </a:solidFill>
          <a:ln w="38100">
            <a:solidFill>
              <a:schemeClr val="accent3"/>
            </a:solidFill>
            <a:prstDash val="solid"/>
          </a:ln>
        </p:spPr>
      </p:sp>
      <p:sp>
        <p:nvSpPr>
          <p:cNvPr id="10" name="letter 1"/>
          <p:cNvSpPr/>
          <p:nvPr/>
        </p:nvSpPr>
        <p:spPr>
          <a:xfrm>
            <a:off x="6355080" y="3383280"/>
            <a:ext cx="685800" cy="685800"/>
          </a:xfrm>
          <a:prstGeom prst="ellipse">
            <a:avLst/>
          </a:prstGeom>
          <a:solidFill>
            <a:schemeClr val="accent3"/>
          </a:solidFill>
          <a:ln w="12700">
            <a:solidFill>
              <a:schemeClr val="accent3"/>
            </a:solidFill>
            <a:prstDash val="solid"/>
          </a:ln>
        </p:spPr>
      </p:sp>
      <p:sp>
        <p:nvSpPr>
          <p:cNvPr id="11" name="Text 9"/>
          <p:cNvSpPr txBox="1"/>
          <p:nvPr/>
        </p:nvSpPr>
        <p:spPr>
          <a:xfrm>
            <a:off x="6355080" y="338328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12" name="Text 10"/>
          <p:cNvSpPr txBox="1"/>
          <p:nvPr/>
        </p:nvSpPr>
        <p:spPr>
          <a:xfrm>
            <a:off x="7223760" y="320040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About a month</a:t>
            </a:r>
            <a:endParaRPr lang="en-US" sz="1900" dirty="0"/>
          </a:p>
        </p:txBody>
      </p:sp>
      <p:sp>
        <p:nvSpPr>
          <p:cNvPr id="13" name="option 2"/>
          <p:cNvSpPr/>
          <p:nvPr/>
        </p:nvSpPr>
        <p:spPr>
          <a:xfrm>
            <a:off x="731520" y="4434840"/>
            <a:ext cx="5257800" cy="1051560"/>
          </a:xfrm>
          <a:prstGeom prst="roundRect">
            <a:avLst>
              <a:gd name="adj" fmla="val 10435"/>
            </a:avLst>
          </a:prstGeom>
          <a:solidFill>
            <a:schemeClr val="bg1"/>
          </a:solidFill>
          <a:ln w="38100">
            <a:solidFill>
              <a:schemeClr val="accent2"/>
            </a:solidFill>
            <a:prstDash val="solid"/>
          </a:ln>
        </p:spPr>
      </p:sp>
      <p:sp>
        <p:nvSpPr>
          <p:cNvPr id="14" name="letter 2"/>
          <p:cNvSpPr/>
          <p:nvPr/>
        </p:nvSpPr>
        <p:spPr>
          <a:xfrm>
            <a:off x="914400" y="4617720"/>
            <a:ext cx="685800" cy="685800"/>
          </a:xfrm>
          <a:prstGeom prst="ellipse">
            <a:avLst/>
          </a:prstGeom>
          <a:solidFill>
            <a:schemeClr val="accent2"/>
          </a:solidFill>
          <a:ln w="12700">
            <a:solidFill>
              <a:schemeClr val="accent2"/>
            </a:solidFill>
            <a:prstDash val="solid"/>
          </a:ln>
        </p:spPr>
      </p:sp>
      <p:sp>
        <p:nvSpPr>
          <p:cNvPr id="15" name="Text 13"/>
          <p:cNvSpPr txBox="1"/>
          <p:nvPr/>
        </p:nvSpPr>
        <p:spPr>
          <a:xfrm>
            <a:off x="914400" y="4617720"/>
            <a:ext cx="685800" cy="685800"/>
          </a:xfrm>
          <a:prstGeom prst="rect">
            <a:avLst/>
          </a:prstGeom>
          <a:noFill/>
          <a:ln/>
        </p:spPr>
        <p:txBody>
          <a:bodyPr wrap="square" lIns="0" tIns="0" rIns="0" bIns="0" rtlCol="0" anchor="ctr"/>
          <a:lstStyle/>
          <a:p>
            <a:pPr algn="ctr" indent="0" marL="0">
              <a:buNone/>
            </a:pPr>
            <a:r>
              <a:rPr lang="en-US" sz="2200" b="1" dirty="0">
                <a:solidFill>
                  <a:schemeClr val="tx1"/>
                </a:solidFill>
              </a:rPr>
              <a:t>C</a:t>
            </a:r>
            <a:endParaRPr lang="en-US" sz="2200" dirty="0"/>
          </a:p>
        </p:txBody>
      </p:sp>
      <p:sp>
        <p:nvSpPr>
          <p:cNvPr id="16" name="Text 14"/>
          <p:cNvSpPr txBox="1"/>
          <p:nvPr/>
        </p:nvSpPr>
        <p:spPr>
          <a:xfrm>
            <a:off x="178308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About a day</a:t>
            </a:r>
            <a:endParaRPr lang="en-US" sz="1900" dirty="0"/>
          </a:p>
        </p:txBody>
      </p:sp>
      <p:sp>
        <p:nvSpPr>
          <p:cNvPr id="17" name="option 3"/>
          <p:cNvSpPr/>
          <p:nvPr/>
        </p:nvSpPr>
        <p:spPr>
          <a:xfrm>
            <a:off x="6172200" y="4434840"/>
            <a:ext cx="5257800" cy="1051560"/>
          </a:xfrm>
          <a:prstGeom prst="roundRect">
            <a:avLst>
              <a:gd name="adj" fmla="val 10435"/>
            </a:avLst>
          </a:prstGeom>
          <a:solidFill>
            <a:schemeClr val="bg1"/>
          </a:solidFill>
          <a:ln w="38100">
            <a:solidFill>
              <a:schemeClr val="accent5"/>
            </a:solidFill>
            <a:prstDash val="solid"/>
          </a:ln>
        </p:spPr>
      </p:sp>
      <p:sp>
        <p:nvSpPr>
          <p:cNvPr id="18" name="letter 3"/>
          <p:cNvSpPr/>
          <p:nvPr/>
        </p:nvSpPr>
        <p:spPr>
          <a:xfrm>
            <a:off x="6355080" y="4617720"/>
            <a:ext cx="685800" cy="685800"/>
          </a:xfrm>
          <a:prstGeom prst="ellipse">
            <a:avLst/>
          </a:prstGeom>
          <a:solidFill>
            <a:schemeClr val="accent5"/>
          </a:solidFill>
          <a:ln w="12700">
            <a:solidFill>
              <a:schemeClr val="accent5"/>
            </a:solidFill>
            <a:prstDash val="solid"/>
          </a:ln>
        </p:spPr>
      </p:sp>
      <p:sp>
        <p:nvSpPr>
          <p:cNvPr id="19" name="Text 17"/>
          <p:cNvSpPr txBox="1"/>
          <p:nvPr/>
        </p:nvSpPr>
        <p:spPr>
          <a:xfrm>
            <a:off x="6355080" y="461772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20" name="Text 18"/>
          <p:cNvSpPr txBox="1"/>
          <p:nvPr/>
        </p:nvSpPr>
        <p:spPr>
          <a:xfrm>
            <a:off x="7223760" y="4434840"/>
            <a:ext cx="4023360" cy="1051560"/>
          </a:xfrm>
          <a:prstGeom prst="rect">
            <a:avLst/>
          </a:prstGeom>
          <a:noFill/>
          <a:ln/>
        </p:spPr>
        <p:txBody>
          <a:bodyPr wrap="square" lIns="0" tIns="0" rIns="0" bIns="0" rtlCol="0" anchor="ctr"/>
          <a:lstStyle/>
          <a:p>
            <a:pPr indent="0" marL="0">
              <a:buNone/>
            </a:pPr>
            <a:r>
              <a:rPr lang="en-US" sz="1900" dirty="0">
                <a:solidFill>
                  <a:schemeClr val="tx1"/>
                </a:solidFill>
              </a:rPr>
              <a:t>Possibly within minutes</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1"/>
          <p:cNvSpPr/>
          <p:nvPr>
            <p:ph idx="121" type="title" hasCustomPrompt="1"/>
          </p:nvPr>
        </p:nvSpPr>
        <p:spPr>
          <a:xfrm>
            <a:off x="731520" y="2103120"/>
            <a:ext cx="10698480" cy="1280160"/>
          </a:xfrm>
          <a:prstGeom prst="rect">
            <a:avLst/>
          </a:prstGeom>
          <a:noFill/>
          <a:ln/>
        </p:spPr>
        <p:txBody>
          <a:bodyPr wrap="square" lIns="0" tIns="0" rIns="0" bIns="0" rtlCol="0" anchor="ctr"/>
          <a:lstStyle/>
          <a:p>
            <a:pPr algn="ctr" indent="0" marL="0">
              <a:buNone/>
            </a:pPr>
            <a:r>
              <a:rPr lang="en-US" sz="5400" b="1" dirty="0">
                <a:solidFill>
                  <a:schemeClr val="accent2"/>
                </a:solidFill>
              </a:rPr>
              <a:t>The Big Top</a:t>
            </a:r>
            <a:endParaRPr lang="en-US" sz="5400" dirty="0"/>
          </a:p>
        </p:txBody>
      </p:sp>
      <p:sp>
        <p:nvSpPr>
          <p:cNvPr id="3" name="Text 21"/>
          <p:cNvSpPr/>
          <p:nvPr>
            <p:ph idx="122" type="body" hasCustomPrompt="1"/>
          </p:nvPr>
        </p:nvSpPr>
        <p:spPr>
          <a:xfrm>
            <a:off x="1371600" y="3474720"/>
            <a:ext cx="9418320" cy="1097280"/>
          </a:xfrm>
          <a:prstGeom prst="rect">
            <a:avLst/>
          </a:prstGeom>
          <a:noFill/>
          <a:ln/>
        </p:spPr>
        <p:txBody>
          <a:bodyPr wrap="square" lIns="0" tIns="0" rIns="0" bIns="0" rtlCol="0" anchor="t"/>
          <a:lstStyle/>
          <a:p>
            <a:pPr algn="ctr" indent="0" marL="0">
              <a:buNone/>
            </a:pPr>
            <a:r>
              <a:rPr lang="en-US" sz="2200" dirty="0">
                <a:solidFill>
                  <a:schemeClr val="bg2"/>
                </a:solidFill>
              </a:rPr>
              <a:t>The Ringmaster's Tour in three acts</a:t>
            </a:r>
            <a:endParaRPr lang="en-US" sz="2200" dirty="0"/>
          </a:p>
          <a:p>
            <a:pPr algn="ctr" indent="0" marL="0">
              <a:buNone/>
            </a:pPr>
            <a:r>
              <a:rPr lang="en-US" sz="2200" dirty="0">
                <a:solidFill>
                  <a:schemeClr val="bg2"/>
                </a:solidFill>
              </a:rPr>
              <a:t>No experience needed. Every new word gets explained first.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1: The Ring of Fire (Three.js)</a:t>
            </a:r>
            <a:endParaRPr lang="en-US" sz="3400" dirty="0"/>
          </a:p>
        </p:txBody>
      </p:sp>
      <p:sp>
        <p:nvSpPr>
          <p:cNvPr id="3" name="what card"/>
          <p:cNvSpPr/>
          <p:nvPr/>
        </p:nvSpPr>
        <p:spPr>
          <a:xfrm>
            <a:off x="731520" y="1645920"/>
            <a:ext cx="5212080" cy="3017520"/>
          </a:xfrm>
          <a:prstGeom prst="roundRect">
            <a:avLst>
              <a:gd name="adj" fmla="val 3636"/>
            </a:avLst>
          </a:prstGeom>
          <a:solidFill>
            <a:schemeClr val="bg1"/>
          </a:solidFill>
          <a:ln w="38100">
            <a:solidFill>
              <a:schemeClr val="accent1"/>
            </a:solidFill>
            <a:prstDash val="solid"/>
          </a:ln>
        </p:spPr>
      </p:sp>
      <p:sp>
        <p:nvSpPr>
          <p:cNvPr id="4" name="what band"/>
          <p:cNvSpPr/>
          <p:nvPr/>
        </p:nvSpPr>
        <p:spPr>
          <a:xfrm>
            <a:off x="749808" y="1664208"/>
            <a:ext cx="5175504" cy="548640"/>
          </a:xfrm>
          <a:prstGeom prst="rect">
            <a:avLst/>
          </a:prstGeom>
          <a:solidFill>
            <a:schemeClr val="accent1"/>
          </a:solidFill>
          <a:ln w="12700">
            <a:solidFill>
              <a:schemeClr val="accent1"/>
            </a:solidFill>
            <a:prstDash val="solid"/>
          </a:ln>
        </p:spPr>
      </p:sp>
      <p:sp>
        <p:nvSpPr>
          <p:cNvPr id="5" name="what head"/>
          <p:cNvSpPr txBox="1"/>
          <p:nvPr/>
        </p:nvSpPr>
        <p:spPr>
          <a:xfrm>
            <a:off x="9144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What is it?</a:t>
            </a:r>
            <a:endParaRPr lang="en-US" sz="1800" dirty="0"/>
          </a:p>
        </p:txBody>
      </p:sp>
      <p:sp>
        <p:nvSpPr>
          <p:cNvPr id="6" name="what body"/>
          <p:cNvSpPr txBox="1"/>
          <p:nvPr/>
        </p:nvSpPr>
        <p:spPr>
          <a:xfrm>
            <a:off x="914400" y="2331720"/>
            <a:ext cx="4846320" cy="219456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Three.js is a free JavaScript library for drawing 3D graphics inside a normal web page.</a:t>
            </a:r>
            <a:endParaRPr lang="en-US" sz="1800" dirty="0"/>
          </a:p>
          <a:p>
            <a:pPr indent="0" marL="0">
              <a:spcAft>
                <a:spcPts val="600"/>
              </a:spcAft>
              <a:buNone/>
            </a:pPr>
            <a:endParaRPr lang="en-US" sz="1800" dirty="0"/>
          </a:p>
          <a:p>
            <a:pPr indent="0" marL="0">
              <a:spcAft>
                <a:spcPts val="600"/>
              </a:spcAft>
              <a:buNone/>
            </a:pPr>
            <a:r>
              <a:rPr lang="en-US" sz="1800" dirty="0">
                <a:solidFill>
                  <a:schemeClr val="tx1"/>
                </a:solidFill>
              </a:rPr>
              <a:t>No plugins. No game engine. Just a browser.</a:t>
            </a:r>
            <a:endParaRPr lang="en-US" sz="1800" dirty="0"/>
          </a:p>
        </p:txBody>
      </p:sp>
      <p:sp>
        <p:nvSpPr>
          <p:cNvPr id="7" name="where card"/>
          <p:cNvSpPr/>
          <p:nvPr/>
        </p:nvSpPr>
        <p:spPr>
          <a:xfrm>
            <a:off x="6217920" y="1645920"/>
            <a:ext cx="5212080" cy="3017520"/>
          </a:xfrm>
          <a:prstGeom prst="roundRect">
            <a:avLst>
              <a:gd name="adj" fmla="val 3636"/>
            </a:avLst>
          </a:prstGeom>
          <a:solidFill>
            <a:schemeClr val="bg1"/>
          </a:solidFill>
          <a:ln w="38100">
            <a:solidFill>
              <a:schemeClr val="accent3"/>
            </a:solidFill>
            <a:prstDash val="solid"/>
          </a:ln>
        </p:spPr>
      </p:sp>
      <p:sp>
        <p:nvSpPr>
          <p:cNvPr id="8" name="where band"/>
          <p:cNvSpPr/>
          <p:nvPr/>
        </p:nvSpPr>
        <p:spPr>
          <a:xfrm>
            <a:off x="6236208" y="1664208"/>
            <a:ext cx="5175504" cy="548640"/>
          </a:xfrm>
          <a:prstGeom prst="rect">
            <a:avLst/>
          </a:prstGeom>
          <a:solidFill>
            <a:schemeClr val="accent3"/>
          </a:solidFill>
          <a:ln w="12700">
            <a:solidFill>
              <a:schemeClr val="accent3"/>
            </a:solidFill>
            <a:prstDash val="solid"/>
          </a:ln>
        </p:spPr>
      </p:sp>
      <p:sp>
        <p:nvSpPr>
          <p:cNvPr id="9" name="where head"/>
          <p:cNvSpPr txBox="1"/>
          <p:nvPr/>
        </p:nvSpPr>
        <p:spPr>
          <a:xfrm>
            <a:off x="64008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Where you have seen it</a:t>
            </a:r>
            <a:endParaRPr lang="en-US" sz="1800" dirty="0"/>
          </a:p>
        </p:txBody>
      </p:sp>
      <p:sp>
        <p:nvSpPr>
          <p:cNvPr id="10" name="where body"/>
          <p:cNvSpPr txBox="1"/>
          <p:nvPr/>
        </p:nvSpPr>
        <p:spPr>
          <a:xfrm>
            <a:off x="6400800" y="2331720"/>
            <a:ext cx="4846320" cy="219456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Shopping sites where you spin a sneaker around</a:t>
            </a:r>
            <a:endParaRPr lang="en-US" sz="1800" dirty="0"/>
          </a:p>
          <a:p>
            <a:pPr indent="0" marL="0">
              <a:spcAft>
                <a:spcPts val="600"/>
              </a:spcAft>
              <a:buNone/>
            </a:pPr>
            <a:r>
              <a:rPr lang="en-US" sz="1800" dirty="0">
                <a:solidFill>
                  <a:schemeClr val="tx1"/>
                </a:solidFill>
              </a:rPr>
              <a:t>3D portfolio websites</a:t>
            </a:r>
            <a:endParaRPr lang="en-US" sz="1800" dirty="0"/>
          </a:p>
          <a:p>
            <a:pPr indent="0" marL="0">
              <a:spcAft>
                <a:spcPts val="600"/>
              </a:spcAft>
              <a:buNone/>
            </a:pPr>
            <a:r>
              <a:rPr lang="en-US" sz="1800" dirty="0">
                <a:solidFill>
                  <a:schemeClr val="tx1"/>
                </a:solidFill>
              </a:rPr>
              <a:t>Games that run in a browser tab</a:t>
            </a:r>
            <a:endParaRPr lang="en-US" sz="1800" dirty="0"/>
          </a:p>
          <a:p>
            <a:pPr indent="0" marL="0">
              <a:spcAft>
                <a:spcPts val="600"/>
              </a:spcAft>
              <a:buNone/>
            </a:pPr>
            <a:r>
              <a:rPr lang="en-US" sz="1800" dirty="0">
                <a:solidFill>
                  <a:schemeClr val="tx1"/>
                </a:solidFill>
              </a:rPr>
              <a:t>Spinning globes and data maps</a:t>
            </a:r>
            <a:endParaRPr lang="en-US" sz="1800" dirty="0"/>
          </a:p>
        </p:txBody>
      </p:sp>
      <p:sp>
        <p:nvSpPr>
          <p:cNvPr id="11" name="Text 9"/>
          <p:cNvSpPr txBox="1"/>
          <p:nvPr/>
        </p:nvSpPr>
        <p:spPr>
          <a:xfrm>
            <a:off x="731520" y="5029200"/>
            <a:ext cx="10698480" cy="640080"/>
          </a:xfrm>
          <a:prstGeom prst="rect">
            <a:avLst/>
          </a:prstGeom>
          <a:noFill/>
          <a:ln/>
        </p:spPr>
        <p:txBody>
          <a:bodyPr wrap="square" lIns="0" tIns="0" rIns="0" bIns="0" rtlCol="0" anchor="ctr"/>
          <a:lstStyle/>
          <a:p>
            <a:pPr algn="ctr" indent="0" marL="0">
              <a:buNone/>
            </a:pPr>
            <a:r>
              <a:rPr lang="en-US" sz="1900" i="1" dirty="0">
                <a:solidFill>
                  <a:schemeClr val="tx2"/>
                </a:solidFill>
              </a:rPr>
              <a:t>A library is code someone else wrote that you can borrow. You call it, it does the hard math.</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1 Words: Think Like a Film Crew</a:t>
            </a:r>
            <a:endParaRPr lang="en-US" sz="3400" dirty="0"/>
          </a:p>
        </p:txBody>
      </p:sp>
      <p:sp>
        <p:nvSpPr>
          <p:cNvPr id="3" name="Scene card"/>
          <p:cNvSpPr/>
          <p:nvPr/>
        </p:nvSpPr>
        <p:spPr>
          <a:xfrm>
            <a:off x="731520" y="1554480"/>
            <a:ext cx="3383280" cy="2194560"/>
          </a:xfrm>
          <a:prstGeom prst="roundRect">
            <a:avLst>
              <a:gd name="adj" fmla="val 5000"/>
            </a:avLst>
          </a:prstGeom>
          <a:solidFill>
            <a:schemeClr val="bg1"/>
          </a:solidFill>
          <a:ln w="38100">
            <a:solidFill>
              <a:schemeClr val="accent1"/>
            </a:solidFill>
            <a:prstDash val="solid"/>
          </a:ln>
        </p:spPr>
      </p:sp>
      <p:sp>
        <p:nvSpPr>
          <p:cNvPr id="4" name="Scene band"/>
          <p:cNvSpPr/>
          <p:nvPr/>
        </p:nvSpPr>
        <p:spPr>
          <a:xfrm>
            <a:off x="749808" y="1572768"/>
            <a:ext cx="3346704" cy="548640"/>
          </a:xfrm>
          <a:prstGeom prst="rect">
            <a:avLst/>
          </a:prstGeom>
          <a:solidFill>
            <a:schemeClr val="accent1"/>
          </a:solidFill>
          <a:ln w="12700">
            <a:solidFill>
              <a:schemeClr val="accent1"/>
            </a:solidFill>
            <a:prstDash val="solid"/>
          </a:ln>
        </p:spPr>
      </p:sp>
      <p:sp>
        <p:nvSpPr>
          <p:cNvPr id="5" name="Scene head"/>
          <p:cNvSpPr txBox="1"/>
          <p:nvPr/>
        </p:nvSpPr>
        <p:spPr>
          <a:xfrm>
            <a:off x="9144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Scene</a:t>
            </a:r>
            <a:endParaRPr lang="en-US" sz="1800" dirty="0"/>
          </a:p>
        </p:txBody>
      </p:sp>
      <p:sp>
        <p:nvSpPr>
          <p:cNvPr id="6" name="Scene body"/>
          <p:cNvSpPr txBox="1"/>
          <p:nvPr/>
        </p:nvSpPr>
        <p:spPr>
          <a:xfrm>
            <a:off x="9144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movie set. Everything in your 3D world lives here.</a:t>
            </a:r>
            <a:endParaRPr lang="en-US" sz="1800" dirty="0"/>
          </a:p>
        </p:txBody>
      </p:sp>
      <p:sp>
        <p:nvSpPr>
          <p:cNvPr id="7" name="Camera card"/>
          <p:cNvSpPr/>
          <p:nvPr/>
        </p:nvSpPr>
        <p:spPr>
          <a:xfrm>
            <a:off x="4389120" y="1554480"/>
            <a:ext cx="3383280" cy="2194560"/>
          </a:xfrm>
          <a:prstGeom prst="roundRect">
            <a:avLst>
              <a:gd name="adj" fmla="val 5000"/>
            </a:avLst>
          </a:prstGeom>
          <a:solidFill>
            <a:schemeClr val="bg1"/>
          </a:solidFill>
          <a:ln w="38100">
            <a:solidFill>
              <a:schemeClr val="accent3"/>
            </a:solidFill>
            <a:prstDash val="solid"/>
          </a:ln>
        </p:spPr>
      </p:sp>
      <p:sp>
        <p:nvSpPr>
          <p:cNvPr id="8" name="Camera band"/>
          <p:cNvSpPr/>
          <p:nvPr/>
        </p:nvSpPr>
        <p:spPr>
          <a:xfrm>
            <a:off x="4407408" y="1572768"/>
            <a:ext cx="3346704" cy="548640"/>
          </a:xfrm>
          <a:prstGeom prst="rect">
            <a:avLst/>
          </a:prstGeom>
          <a:solidFill>
            <a:schemeClr val="accent3"/>
          </a:solidFill>
          <a:ln w="12700">
            <a:solidFill>
              <a:schemeClr val="accent3"/>
            </a:solidFill>
            <a:prstDash val="solid"/>
          </a:ln>
        </p:spPr>
      </p:sp>
      <p:sp>
        <p:nvSpPr>
          <p:cNvPr id="9" name="Camera head"/>
          <p:cNvSpPr txBox="1"/>
          <p:nvPr/>
        </p:nvSpPr>
        <p:spPr>
          <a:xfrm>
            <a:off x="45720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Camera</a:t>
            </a:r>
            <a:endParaRPr lang="en-US" sz="1800" dirty="0"/>
          </a:p>
        </p:txBody>
      </p:sp>
      <p:sp>
        <p:nvSpPr>
          <p:cNvPr id="10" name="Camera body"/>
          <p:cNvSpPr txBox="1"/>
          <p:nvPr/>
        </p:nvSpPr>
        <p:spPr>
          <a:xfrm>
            <a:off x="45720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What the audience sees. Where it sits decides the view.</a:t>
            </a:r>
            <a:endParaRPr lang="en-US" sz="1800" dirty="0"/>
          </a:p>
        </p:txBody>
      </p:sp>
      <p:sp>
        <p:nvSpPr>
          <p:cNvPr id="11" name="Renderer card"/>
          <p:cNvSpPr/>
          <p:nvPr/>
        </p:nvSpPr>
        <p:spPr>
          <a:xfrm>
            <a:off x="8046720" y="1554480"/>
            <a:ext cx="3383280" cy="2194560"/>
          </a:xfrm>
          <a:prstGeom prst="roundRect">
            <a:avLst>
              <a:gd name="adj" fmla="val 5000"/>
            </a:avLst>
          </a:prstGeom>
          <a:solidFill>
            <a:schemeClr val="bg1"/>
          </a:solidFill>
          <a:ln w="38100">
            <a:solidFill>
              <a:schemeClr val="tx2"/>
            </a:solidFill>
            <a:prstDash val="solid"/>
          </a:ln>
        </p:spPr>
      </p:sp>
      <p:sp>
        <p:nvSpPr>
          <p:cNvPr id="12" name="Renderer band"/>
          <p:cNvSpPr/>
          <p:nvPr/>
        </p:nvSpPr>
        <p:spPr>
          <a:xfrm>
            <a:off x="8065008" y="1572768"/>
            <a:ext cx="3346704" cy="548640"/>
          </a:xfrm>
          <a:prstGeom prst="rect">
            <a:avLst/>
          </a:prstGeom>
          <a:solidFill>
            <a:schemeClr val="tx2"/>
          </a:solidFill>
          <a:ln w="12700">
            <a:solidFill>
              <a:schemeClr val="tx2"/>
            </a:solidFill>
            <a:prstDash val="solid"/>
          </a:ln>
        </p:spPr>
      </p:sp>
      <p:sp>
        <p:nvSpPr>
          <p:cNvPr id="13" name="Renderer head"/>
          <p:cNvSpPr txBox="1"/>
          <p:nvPr/>
        </p:nvSpPr>
        <p:spPr>
          <a:xfrm>
            <a:off x="82296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Renderer</a:t>
            </a:r>
            <a:endParaRPr lang="en-US" sz="1800" dirty="0"/>
          </a:p>
        </p:txBody>
      </p:sp>
      <p:sp>
        <p:nvSpPr>
          <p:cNvPr id="14" name="Renderer body"/>
          <p:cNvSpPr txBox="1"/>
          <p:nvPr/>
        </p:nvSpPr>
        <p:spPr>
          <a:xfrm>
            <a:off x="82296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projector. Turns what the camera sees into pixels on the page.</a:t>
            </a:r>
            <a:endParaRPr lang="en-US" sz="1800" dirty="0"/>
          </a:p>
        </p:txBody>
      </p:sp>
      <p:sp>
        <p:nvSpPr>
          <p:cNvPr id="15" name="Mesh card"/>
          <p:cNvSpPr/>
          <p:nvPr/>
        </p:nvSpPr>
        <p:spPr>
          <a:xfrm>
            <a:off x="731520" y="3977640"/>
            <a:ext cx="3383280" cy="2194560"/>
          </a:xfrm>
          <a:prstGeom prst="roundRect">
            <a:avLst>
              <a:gd name="adj" fmla="val 5000"/>
            </a:avLst>
          </a:prstGeom>
          <a:solidFill>
            <a:schemeClr val="bg1"/>
          </a:solidFill>
          <a:ln w="38100">
            <a:solidFill>
              <a:schemeClr val="accent2"/>
            </a:solidFill>
            <a:prstDash val="solid"/>
          </a:ln>
        </p:spPr>
      </p:sp>
      <p:sp>
        <p:nvSpPr>
          <p:cNvPr id="16" name="Mesh band"/>
          <p:cNvSpPr/>
          <p:nvPr/>
        </p:nvSpPr>
        <p:spPr>
          <a:xfrm>
            <a:off x="749808" y="3995928"/>
            <a:ext cx="3346704" cy="548640"/>
          </a:xfrm>
          <a:prstGeom prst="rect">
            <a:avLst/>
          </a:prstGeom>
          <a:solidFill>
            <a:schemeClr val="accent2"/>
          </a:solidFill>
          <a:ln w="12700">
            <a:solidFill>
              <a:schemeClr val="accent2"/>
            </a:solidFill>
            <a:prstDash val="solid"/>
          </a:ln>
        </p:spPr>
      </p:sp>
      <p:sp>
        <p:nvSpPr>
          <p:cNvPr id="17" name="Mesh head"/>
          <p:cNvSpPr txBox="1"/>
          <p:nvPr/>
        </p:nvSpPr>
        <p:spPr>
          <a:xfrm>
            <a:off x="9144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Mesh</a:t>
            </a:r>
            <a:endParaRPr lang="en-US" sz="1800" dirty="0"/>
          </a:p>
        </p:txBody>
      </p:sp>
      <p:sp>
        <p:nvSpPr>
          <p:cNvPr id="18" name="Mesh body"/>
          <p:cNvSpPr txBox="1"/>
          <p:nvPr/>
        </p:nvSpPr>
        <p:spPr>
          <a:xfrm>
            <a:off x="9144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An actor. Made of a Geometry (body shape) and a Material (costume).</a:t>
            </a:r>
            <a:endParaRPr lang="en-US" sz="1800" dirty="0"/>
          </a:p>
        </p:txBody>
      </p:sp>
      <p:sp>
        <p:nvSpPr>
          <p:cNvPr id="19" name="Light card"/>
          <p:cNvSpPr/>
          <p:nvPr/>
        </p:nvSpPr>
        <p:spPr>
          <a:xfrm>
            <a:off x="4389120" y="3977640"/>
            <a:ext cx="3383280" cy="2194560"/>
          </a:xfrm>
          <a:prstGeom prst="roundRect">
            <a:avLst>
              <a:gd name="adj" fmla="val 5000"/>
            </a:avLst>
          </a:prstGeom>
          <a:solidFill>
            <a:schemeClr val="bg1"/>
          </a:solidFill>
          <a:ln w="38100">
            <a:solidFill>
              <a:schemeClr val="accent5"/>
            </a:solidFill>
            <a:prstDash val="solid"/>
          </a:ln>
        </p:spPr>
      </p:sp>
      <p:sp>
        <p:nvSpPr>
          <p:cNvPr id="20" name="Light band"/>
          <p:cNvSpPr/>
          <p:nvPr/>
        </p:nvSpPr>
        <p:spPr>
          <a:xfrm>
            <a:off x="4407408" y="3995928"/>
            <a:ext cx="3346704" cy="548640"/>
          </a:xfrm>
          <a:prstGeom prst="rect">
            <a:avLst/>
          </a:prstGeom>
          <a:solidFill>
            <a:schemeClr val="accent5"/>
          </a:solidFill>
          <a:ln w="12700">
            <a:solidFill>
              <a:schemeClr val="accent5"/>
            </a:solidFill>
            <a:prstDash val="solid"/>
          </a:ln>
        </p:spPr>
      </p:sp>
      <p:sp>
        <p:nvSpPr>
          <p:cNvPr id="21" name="Light head"/>
          <p:cNvSpPr txBox="1"/>
          <p:nvPr/>
        </p:nvSpPr>
        <p:spPr>
          <a:xfrm>
            <a:off x="45720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Light</a:t>
            </a:r>
            <a:endParaRPr lang="en-US" sz="1800" dirty="0"/>
          </a:p>
        </p:txBody>
      </p:sp>
      <p:sp>
        <p:nvSpPr>
          <p:cNvPr id="22" name="Light body"/>
          <p:cNvSpPr txBox="1"/>
          <p:nvPr/>
        </p:nvSpPr>
        <p:spPr>
          <a:xfrm>
            <a:off x="45720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Studio lights. No lights and most objects look pitch black.</a:t>
            </a:r>
            <a:endParaRPr lang="en-US" sz="1800" dirty="0"/>
          </a:p>
        </p:txBody>
      </p:sp>
      <p:sp>
        <p:nvSpPr>
          <p:cNvPr id="23" name="Animation loop card"/>
          <p:cNvSpPr/>
          <p:nvPr/>
        </p:nvSpPr>
        <p:spPr>
          <a:xfrm>
            <a:off x="8046720" y="3977640"/>
            <a:ext cx="3383280" cy="2194560"/>
          </a:xfrm>
          <a:prstGeom prst="roundRect">
            <a:avLst>
              <a:gd name="adj" fmla="val 5000"/>
            </a:avLst>
          </a:prstGeom>
          <a:solidFill>
            <a:schemeClr val="bg1"/>
          </a:solidFill>
          <a:ln w="38100">
            <a:solidFill>
              <a:schemeClr val="accent1"/>
            </a:solidFill>
            <a:prstDash val="solid"/>
          </a:ln>
        </p:spPr>
      </p:sp>
      <p:sp>
        <p:nvSpPr>
          <p:cNvPr id="24" name="Animation loop band"/>
          <p:cNvSpPr/>
          <p:nvPr/>
        </p:nvSpPr>
        <p:spPr>
          <a:xfrm>
            <a:off x="8065008" y="3995928"/>
            <a:ext cx="3346704" cy="548640"/>
          </a:xfrm>
          <a:prstGeom prst="rect">
            <a:avLst/>
          </a:prstGeom>
          <a:solidFill>
            <a:schemeClr val="accent1"/>
          </a:solidFill>
          <a:ln w="12700">
            <a:solidFill>
              <a:schemeClr val="accent1"/>
            </a:solidFill>
            <a:prstDash val="solid"/>
          </a:ln>
        </p:spPr>
      </p:sp>
      <p:sp>
        <p:nvSpPr>
          <p:cNvPr id="25" name="Animation loop head"/>
          <p:cNvSpPr txBox="1"/>
          <p:nvPr/>
        </p:nvSpPr>
        <p:spPr>
          <a:xfrm>
            <a:off x="82296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Animation loop</a:t>
            </a:r>
            <a:endParaRPr lang="en-US" sz="1800" dirty="0"/>
          </a:p>
        </p:txBody>
      </p:sp>
      <p:sp>
        <p:nvSpPr>
          <p:cNvPr id="26" name="Animation loop body"/>
          <p:cNvSpPr txBox="1"/>
          <p:nvPr/>
        </p:nvSpPr>
        <p:spPr>
          <a:xfrm>
            <a:off x="82296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Redraw the scene about 60 times a second. Tiny changes each time look like motion.</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1 Live-Code: A Spinning Cube</a:t>
            </a:r>
            <a:endParaRPr lang="en-US" sz="3400" dirty="0"/>
          </a:p>
        </p:txBody>
      </p:sp>
      <p:sp>
        <p:nvSpPr>
          <p:cNvPr id="3" name="code frame"/>
          <p:cNvSpPr/>
          <p:nvPr/>
        </p:nvSpPr>
        <p:spPr>
          <a:xfrm>
            <a:off x="731520" y="1463040"/>
            <a:ext cx="10789920" cy="4892040"/>
          </a:xfrm>
          <a:prstGeom prst="roundRect">
            <a:avLst>
              <a:gd name="adj" fmla="val 1495"/>
            </a:avLst>
          </a:prstGeom>
          <a:solidFill>
            <a:schemeClr val="tx2"/>
          </a:solidFill>
          <a:ln w="25400">
            <a:solidFill>
              <a:schemeClr val="accent2"/>
            </a:solidFill>
            <a:prstDash val="solid"/>
          </a:ln>
        </p:spPr>
      </p:sp>
      <p:sp>
        <p:nvSpPr>
          <p:cNvPr id="4" name="code"/>
          <p:cNvSpPr txBox="1"/>
          <p:nvPr/>
        </p:nvSpPr>
        <p:spPr>
          <a:xfrm>
            <a:off x="1005840" y="1645920"/>
            <a:ext cx="10241280" cy="4526280"/>
          </a:xfrm>
          <a:prstGeom prst="rect">
            <a:avLst/>
          </a:prstGeom>
          <a:noFill/>
          <a:ln/>
        </p:spPr>
        <p:txBody>
          <a:bodyPr wrap="square" lIns="0" tIns="0" rIns="0" bIns="0" rtlCol="0" anchor="t"/>
          <a:lstStyle/>
          <a:p>
            <a:pPr indent="0" marL="0">
              <a:buNone/>
            </a:pPr>
            <a:r>
              <a:rPr lang="en-US" sz="1300" dirty="0">
                <a:solidFill>
                  <a:schemeClr val="bg2"/>
                </a:solidFill>
                <a:latin typeface="Consolas" pitchFamily="34" charset="0"/>
                <a:ea typeface="Consolas" pitchFamily="34" charset="-122"/>
                <a:cs typeface="Consolas" pitchFamily="34" charset="-120"/>
              </a:rPr>
              <a:t>import * as THREE from 'three';              // borrow the library</a:t>
            </a:r>
            <a:endParaRPr lang="en-US" sz="1300" dirty="0"/>
          </a:p>
          <a:p>
            <a:pPr indent="0" marL="0">
              <a:buNone/>
            </a:pP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const scene = new THREE.Scene();               // the set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const camera = new THREE.PerspectiveCamera(60, innerWidth / innerHeight, 0.1, 100);</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camera.position.z = 5;                         // step back 5 units</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const renderer = new THREE.WebGLRenderer();    // the projector</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renderer.setSize(innerWidth, innerHeight);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document.body.appendChild(renderer.domElement); // put the screen on the page</a:t>
            </a:r>
            <a:endParaRPr lang="en-US" sz="1300" dirty="0"/>
          </a:p>
          <a:p>
            <a:pPr indent="0" marL="0">
              <a:buNone/>
            </a:pP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const shape = new THREE.BoxGeometry(1, 1, 1);  // body: a 1x1x1 box</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const look  = new THREE.MeshStandardMaterial({ color: 0xd62839 }); // costume: red</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const cube  = new THREE.Mesh(shape, look);     // the actor</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scene.add(cube);                               // actor walks on set</a:t>
            </a:r>
            <a:endParaRPr lang="en-US" sz="1300" dirty="0"/>
          </a:p>
          <a:p>
            <a:pPr indent="0" marL="0">
              <a:buNone/>
            </a:pP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function animate() {                           // runs ~60 times a second</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cube.rotation.y += 0.01;                     // turn a tiny bit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renderer.render(scene, camera);              // film one frame</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  requestAnimationFrame(animate);              // do it again</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a:t>
            </a:r>
            <a:endParaRPr lang="en-US" sz="1300" dirty="0"/>
          </a:p>
          <a:p>
            <a:pPr indent="0" marL="0">
              <a:buNone/>
            </a:pPr>
            <a:r>
              <a:rPr lang="en-US" sz="1300" dirty="0">
                <a:solidFill>
                  <a:schemeClr val="bg2"/>
                </a:solidFill>
                <a:latin typeface="Consolas" pitchFamily="34" charset="0"/>
                <a:ea typeface="Consolas" pitchFamily="34" charset="-122"/>
                <a:cs typeface="Consolas" pitchFamily="34" charset="-120"/>
              </a:rPr>
              <a:t>animate();</a:t>
            </a:r>
            <a:endParaRPr lang="en-US" sz="13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2: The Fun House (CSS Frameworks)</a:t>
            </a:r>
            <a:endParaRPr lang="en-US" sz="3400" dirty="0"/>
          </a:p>
        </p:txBody>
      </p:sp>
      <p:sp>
        <p:nvSpPr>
          <p:cNvPr id="3" name="plain card"/>
          <p:cNvSpPr/>
          <p:nvPr/>
        </p:nvSpPr>
        <p:spPr>
          <a:xfrm>
            <a:off x="731520" y="1645920"/>
            <a:ext cx="5212080" cy="3017520"/>
          </a:xfrm>
          <a:prstGeom prst="roundRect">
            <a:avLst>
              <a:gd name="adj" fmla="val 3636"/>
            </a:avLst>
          </a:prstGeom>
          <a:solidFill>
            <a:schemeClr val="bg1"/>
          </a:solidFill>
          <a:ln w="38100">
            <a:solidFill>
              <a:schemeClr val="accent1"/>
            </a:solidFill>
            <a:prstDash val="solid"/>
          </a:ln>
        </p:spPr>
      </p:sp>
      <p:sp>
        <p:nvSpPr>
          <p:cNvPr id="4" name="plain band"/>
          <p:cNvSpPr/>
          <p:nvPr/>
        </p:nvSpPr>
        <p:spPr>
          <a:xfrm>
            <a:off x="749808" y="1664208"/>
            <a:ext cx="5175504" cy="548640"/>
          </a:xfrm>
          <a:prstGeom prst="rect">
            <a:avLst/>
          </a:prstGeom>
          <a:solidFill>
            <a:schemeClr val="accent1"/>
          </a:solidFill>
          <a:ln w="12700">
            <a:solidFill>
              <a:schemeClr val="accent1"/>
            </a:solidFill>
            <a:prstDash val="solid"/>
          </a:ln>
        </p:spPr>
      </p:sp>
      <p:sp>
        <p:nvSpPr>
          <p:cNvPr id="5" name="plain head"/>
          <p:cNvSpPr txBox="1"/>
          <p:nvPr/>
        </p:nvSpPr>
        <p:spPr>
          <a:xfrm>
            <a:off x="9144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Plain CSS</a:t>
            </a:r>
            <a:endParaRPr lang="en-US" sz="1800" dirty="0"/>
          </a:p>
        </p:txBody>
      </p:sp>
      <p:sp>
        <p:nvSpPr>
          <p:cNvPr id="6" name="plain body"/>
          <p:cNvSpPr txBox="1"/>
          <p:nvPr/>
        </p:nvSpPr>
        <p:spPr>
          <a:xfrm>
            <a:off x="914400" y="2331720"/>
            <a:ext cx="4846320" cy="219456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Sewing every costume yourself.</a:t>
            </a:r>
            <a:endParaRPr lang="en-US" sz="1800" dirty="0"/>
          </a:p>
          <a:p>
            <a:pPr indent="0" marL="0">
              <a:spcAft>
                <a:spcPts val="600"/>
              </a:spcAft>
              <a:buNone/>
            </a:pPr>
            <a:endParaRPr lang="en-US" sz="1800" dirty="0"/>
          </a:p>
          <a:p>
            <a:pPr indent="0" marL="0">
              <a:spcAft>
                <a:spcPts val="600"/>
              </a:spcAft>
              <a:buNone/>
            </a:pPr>
            <a:r>
              <a:rPr lang="en-US" sz="1800" dirty="0">
                <a:solidFill>
                  <a:schemeClr val="tx1"/>
                </a:solidFill>
              </a:rPr>
              <a:t>You control every stitch, but a single button can take 20 lines and it is easy to be inconsistent.</a:t>
            </a:r>
            <a:endParaRPr lang="en-US" sz="1800" dirty="0"/>
          </a:p>
        </p:txBody>
      </p:sp>
      <p:sp>
        <p:nvSpPr>
          <p:cNvPr id="7" name="framework card"/>
          <p:cNvSpPr/>
          <p:nvPr/>
        </p:nvSpPr>
        <p:spPr>
          <a:xfrm>
            <a:off x="6217920" y="1645920"/>
            <a:ext cx="5212080" cy="3017520"/>
          </a:xfrm>
          <a:prstGeom prst="roundRect">
            <a:avLst>
              <a:gd name="adj" fmla="val 3636"/>
            </a:avLst>
          </a:prstGeom>
          <a:solidFill>
            <a:schemeClr val="bg1"/>
          </a:solidFill>
          <a:ln w="38100">
            <a:solidFill>
              <a:schemeClr val="accent3"/>
            </a:solidFill>
            <a:prstDash val="solid"/>
          </a:ln>
        </p:spPr>
      </p:sp>
      <p:sp>
        <p:nvSpPr>
          <p:cNvPr id="8" name="framework band"/>
          <p:cNvSpPr/>
          <p:nvPr/>
        </p:nvSpPr>
        <p:spPr>
          <a:xfrm>
            <a:off x="6236208" y="1664208"/>
            <a:ext cx="5175504" cy="548640"/>
          </a:xfrm>
          <a:prstGeom prst="rect">
            <a:avLst/>
          </a:prstGeom>
          <a:solidFill>
            <a:schemeClr val="accent3"/>
          </a:solidFill>
          <a:ln w="12700">
            <a:solidFill>
              <a:schemeClr val="accent3"/>
            </a:solidFill>
            <a:prstDash val="solid"/>
          </a:ln>
        </p:spPr>
      </p:sp>
      <p:sp>
        <p:nvSpPr>
          <p:cNvPr id="9" name="framework head"/>
          <p:cNvSpPr txBox="1"/>
          <p:nvPr/>
        </p:nvSpPr>
        <p:spPr>
          <a:xfrm>
            <a:off x="64008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A CSS framework</a:t>
            </a:r>
            <a:endParaRPr lang="en-US" sz="1800" dirty="0"/>
          </a:p>
        </p:txBody>
      </p:sp>
      <p:sp>
        <p:nvSpPr>
          <p:cNvPr id="10" name="framework body"/>
          <p:cNvSpPr txBox="1"/>
          <p:nvPr/>
        </p:nvSpPr>
        <p:spPr>
          <a:xfrm>
            <a:off x="6400800" y="2331720"/>
            <a:ext cx="4846320" cy="219456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Walking into a costume shop.</a:t>
            </a:r>
            <a:endParaRPr lang="en-US" sz="1800" dirty="0"/>
          </a:p>
          <a:p>
            <a:pPr indent="0" marL="0">
              <a:spcAft>
                <a:spcPts val="600"/>
              </a:spcAft>
              <a:buNone/>
            </a:pPr>
            <a:endParaRPr lang="en-US" sz="1800" dirty="0"/>
          </a:p>
          <a:p>
            <a:pPr indent="0" marL="0">
              <a:spcAft>
                <a:spcPts val="600"/>
              </a:spcAft>
              <a:buNone/>
            </a:pPr>
            <a:r>
              <a:rPr lang="en-US" sz="1800" dirty="0">
                <a:solidFill>
                  <a:schemeClr val="tx1"/>
                </a:solidFill>
              </a:rPr>
              <a:t>Someone already made, tested, and organized the pieces. You pick what you need and adjust it.</a:t>
            </a:r>
            <a:endParaRPr lang="en-US" sz="1800" dirty="0"/>
          </a:p>
        </p:txBody>
      </p:sp>
      <p:sp>
        <p:nvSpPr>
          <p:cNvPr id="11" name="Text 9"/>
          <p:cNvSpPr txBox="1"/>
          <p:nvPr/>
        </p:nvSpPr>
        <p:spPr>
          <a:xfrm>
            <a:off x="731520" y="5029200"/>
            <a:ext cx="10698480" cy="640080"/>
          </a:xfrm>
          <a:prstGeom prst="rect">
            <a:avLst/>
          </a:prstGeom>
          <a:noFill/>
          <a:ln/>
        </p:spPr>
        <p:txBody>
          <a:bodyPr wrap="square" lIns="0" tIns="0" rIns="0" bIns="0" rtlCol="0" anchor="ctr"/>
          <a:lstStyle/>
          <a:p>
            <a:pPr algn="ctr" indent="0" marL="0">
              <a:buNone/>
            </a:pPr>
            <a:r>
              <a:rPr lang="en-US" sz="1900" i="1" dirty="0">
                <a:solidFill>
                  <a:schemeClr val="tx2"/>
                </a:solidFill>
              </a:rPr>
              <a:t>Most real-world teams use a framework. Knowing a few makes you faster and more hireable.</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2 Words You Will Hear</a:t>
            </a:r>
            <a:endParaRPr lang="en-US" sz="3400" dirty="0"/>
          </a:p>
        </p:txBody>
      </p:sp>
      <p:sp>
        <p:nvSpPr>
          <p:cNvPr id="3" name="class card"/>
          <p:cNvSpPr/>
          <p:nvPr/>
        </p:nvSpPr>
        <p:spPr>
          <a:xfrm>
            <a:off x="731520" y="1554480"/>
            <a:ext cx="3383280" cy="2194560"/>
          </a:xfrm>
          <a:prstGeom prst="roundRect">
            <a:avLst>
              <a:gd name="adj" fmla="val 5000"/>
            </a:avLst>
          </a:prstGeom>
          <a:solidFill>
            <a:schemeClr val="bg1"/>
          </a:solidFill>
          <a:ln w="38100">
            <a:solidFill>
              <a:schemeClr val="accent1"/>
            </a:solidFill>
            <a:prstDash val="solid"/>
          </a:ln>
        </p:spPr>
      </p:sp>
      <p:sp>
        <p:nvSpPr>
          <p:cNvPr id="4" name="class band"/>
          <p:cNvSpPr/>
          <p:nvPr/>
        </p:nvSpPr>
        <p:spPr>
          <a:xfrm>
            <a:off x="749808" y="1572768"/>
            <a:ext cx="3346704" cy="548640"/>
          </a:xfrm>
          <a:prstGeom prst="rect">
            <a:avLst/>
          </a:prstGeom>
          <a:solidFill>
            <a:schemeClr val="accent1"/>
          </a:solidFill>
          <a:ln w="12700">
            <a:solidFill>
              <a:schemeClr val="accent1"/>
            </a:solidFill>
            <a:prstDash val="solid"/>
          </a:ln>
        </p:spPr>
      </p:sp>
      <p:sp>
        <p:nvSpPr>
          <p:cNvPr id="5" name="class head"/>
          <p:cNvSpPr txBox="1"/>
          <p:nvPr/>
        </p:nvSpPr>
        <p:spPr>
          <a:xfrm>
            <a:off x="9144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class</a:t>
            </a:r>
            <a:endParaRPr lang="en-US" sz="1800" dirty="0"/>
          </a:p>
        </p:txBody>
      </p:sp>
      <p:sp>
        <p:nvSpPr>
          <p:cNvPr id="6" name="class body"/>
          <p:cNvSpPr txBox="1"/>
          <p:nvPr/>
        </p:nvSpPr>
        <p:spPr>
          <a:xfrm>
            <a:off x="9144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label you put on an HTML tag. Frameworks attach styles to labels.</a:t>
            </a:r>
            <a:endParaRPr lang="en-US" sz="1800" dirty="0"/>
          </a:p>
        </p:txBody>
      </p:sp>
      <p:sp>
        <p:nvSpPr>
          <p:cNvPr id="7" name="Utility class card"/>
          <p:cNvSpPr/>
          <p:nvPr/>
        </p:nvSpPr>
        <p:spPr>
          <a:xfrm>
            <a:off x="4389120" y="1554480"/>
            <a:ext cx="3383280" cy="2194560"/>
          </a:xfrm>
          <a:prstGeom prst="roundRect">
            <a:avLst>
              <a:gd name="adj" fmla="val 5000"/>
            </a:avLst>
          </a:prstGeom>
          <a:solidFill>
            <a:schemeClr val="bg1"/>
          </a:solidFill>
          <a:ln w="38100">
            <a:solidFill>
              <a:schemeClr val="accent3"/>
            </a:solidFill>
            <a:prstDash val="solid"/>
          </a:ln>
        </p:spPr>
      </p:sp>
      <p:sp>
        <p:nvSpPr>
          <p:cNvPr id="8" name="Utility class band"/>
          <p:cNvSpPr/>
          <p:nvPr/>
        </p:nvSpPr>
        <p:spPr>
          <a:xfrm>
            <a:off x="4407408" y="1572768"/>
            <a:ext cx="3346704" cy="548640"/>
          </a:xfrm>
          <a:prstGeom prst="rect">
            <a:avLst/>
          </a:prstGeom>
          <a:solidFill>
            <a:schemeClr val="accent3"/>
          </a:solidFill>
          <a:ln w="12700">
            <a:solidFill>
              <a:schemeClr val="accent3"/>
            </a:solidFill>
            <a:prstDash val="solid"/>
          </a:ln>
        </p:spPr>
      </p:sp>
      <p:sp>
        <p:nvSpPr>
          <p:cNvPr id="9" name="Utility class head"/>
          <p:cNvSpPr txBox="1"/>
          <p:nvPr/>
        </p:nvSpPr>
        <p:spPr>
          <a:xfrm>
            <a:off x="45720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Utility class</a:t>
            </a:r>
            <a:endParaRPr lang="en-US" sz="1800" dirty="0"/>
          </a:p>
        </p:txBody>
      </p:sp>
      <p:sp>
        <p:nvSpPr>
          <p:cNvPr id="10" name="Utility class body"/>
          <p:cNvSpPr txBox="1"/>
          <p:nvPr/>
        </p:nvSpPr>
        <p:spPr>
          <a:xfrm>
            <a:off x="45720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tiny label that does one job. p-4 adds padding. text-white makes text white.</a:t>
            </a:r>
            <a:endParaRPr lang="en-US" sz="1800" dirty="0"/>
          </a:p>
        </p:txBody>
      </p:sp>
      <p:sp>
        <p:nvSpPr>
          <p:cNvPr id="11" name="Component card"/>
          <p:cNvSpPr/>
          <p:nvPr/>
        </p:nvSpPr>
        <p:spPr>
          <a:xfrm>
            <a:off x="8046720" y="1554480"/>
            <a:ext cx="3383280" cy="2194560"/>
          </a:xfrm>
          <a:prstGeom prst="roundRect">
            <a:avLst>
              <a:gd name="adj" fmla="val 5000"/>
            </a:avLst>
          </a:prstGeom>
          <a:solidFill>
            <a:schemeClr val="bg1"/>
          </a:solidFill>
          <a:ln w="38100">
            <a:solidFill>
              <a:schemeClr val="tx2"/>
            </a:solidFill>
            <a:prstDash val="solid"/>
          </a:ln>
        </p:spPr>
      </p:sp>
      <p:sp>
        <p:nvSpPr>
          <p:cNvPr id="12" name="Component band"/>
          <p:cNvSpPr/>
          <p:nvPr/>
        </p:nvSpPr>
        <p:spPr>
          <a:xfrm>
            <a:off x="8065008" y="1572768"/>
            <a:ext cx="3346704" cy="548640"/>
          </a:xfrm>
          <a:prstGeom prst="rect">
            <a:avLst/>
          </a:prstGeom>
          <a:solidFill>
            <a:schemeClr val="tx2"/>
          </a:solidFill>
          <a:ln w="12700">
            <a:solidFill>
              <a:schemeClr val="tx2"/>
            </a:solidFill>
            <a:prstDash val="solid"/>
          </a:ln>
        </p:spPr>
      </p:sp>
      <p:sp>
        <p:nvSpPr>
          <p:cNvPr id="13" name="Component head"/>
          <p:cNvSpPr txBox="1"/>
          <p:nvPr/>
        </p:nvSpPr>
        <p:spPr>
          <a:xfrm>
            <a:off x="82296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Component</a:t>
            </a:r>
            <a:endParaRPr lang="en-US" sz="1800" dirty="0"/>
          </a:p>
        </p:txBody>
      </p:sp>
      <p:sp>
        <p:nvSpPr>
          <p:cNvPr id="14" name="Component body"/>
          <p:cNvSpPr txBox="1"/>
          <p:nvPr/>
        </p:nvSpPr>
        <p:spPr>
          <a:xfrm>
            <a:off x="82296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ready-made piece of UI: a button, a card, a popup, a menu.</a:t>
            </a:r>
            <a:endParaRPr lang="en-US" sz="1800" dirty="0"/>
          </a:p>
        </p:txBody>
      </p:sp>
      <p:sp>
        <p:nvSpPr>
          <p:cNvPr id="15" name="Theme card"/>
          <p:cNvSpPr/>
          <p:nvPr/>
        </p:nvSpPr>
        <p:spPr>
          <a:xfrm>
            <a:off x="731520" y="3977640"/>
            <a:ext cx="3383280" cy="2194560"/>
          </a:xfrm>
          <a:prstGeom prst="roundRect">
            <a:avLst>
              <a:gd name="adj" fmla="val 5000"/>
            </a:avLst>
          </a:prstGeom>
          <a:solidFill>
            <a:schemeClr val="bg1"/>
          </a:solidFill>
          <a:ln w="38100">
            <a:solidFill>
              <a:schemeClr val="accent2"/>
            </a:solidFill>
            <a:prstDash val="solid"/>
          </a:ln>
        </p:spPr>
      </p:sp>
      <p:sp>
        <p:nvSpPr>
          <p:cNvPr id="16" name="Theme band"/>
          <p:cNvSpPr/>
          <p:nvPr/>
        </p:nvSpPr>
        <p:spPr>
          <a:xfrm>
            <a:off x="749808" y="3995928"/>
            <a:ext cx="3346704" cy="548640"/>
          </a:xfrm>
          <a:prstGeom prst="rect">
            <a:avLst/>
          </a:prstGeom>
          <a:solidFill>
            <a:schemeClr val="accent2"/>
          </a:solidFill>
          <a:ln w="12700">
            <a:solidFill>
              <a:schemeClr val="accent2"/>
            </a:solidFill>
            <a:prstDash val="solid"/>
          </a:ln>
        </p:spPr>
      </p:sp>
      <p:sp>
        <p:nvSpPr>
          <p:cNvPr id="17" name="Theme head"/>
          <p:cNvSpPr txBox="1"/>
          <p:nvPr/>
        </p:nvSpPr>
        <p:spPr>
          <a:xfrm>
            <a:off x="9144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Theme</a:t>
            </a:r>
            <a:endParaRPr lang="en-US" sz="1800" dirty="0"/>
          </a:p>
        </p:txBody>
      </p:sp>
      <p:sp>
        <p:nvSpPr>
          <p:cNvPr id="18" name="Theme body"/>
          <p:cNvSpPr txBox="1"/>
          <p:nvPr/>
        </p:nvSpPr>
        <p:spPr>
          <a:xfrm>
            <a:off x="9144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full color scheme you can swap in one move. Light, dark, retro, spooky.</a:t>
            </a:r>
            <a:endParaRPr lang="en-US" sz="1800" dirty="0"/>
          </a:p>
        </p:txBody>
      </p:sp>
      <p:sp>
        <p:nvSpPr>
          <p:cNvPr id="19" name="Animation library card"/>
          <p:cNvSpPr/>
          <p:nvPr/>
        </p:nvSpPr>
        <p:spPr>
          <a:xfrm>
            <a:off x="4389120" y="3977640"/>
            <a:ext cx="3383280" cy="2194560"/>
          </a:xfrm>
          <a:prstGeom prst="roundRect">
            <a:avLst>
              <a:gd name="adj" fmla="val 5000"/>
            </a:avLst>
          </a:prstGeom>
          <a:solidFill>
            <a:schemeClr val="bg1"/>
          </a:solidFill>
          <a:ln w="38100">
            <a:solidFill>
              <a:schemeClr val="accent5"/>
            </a:solidFill>
            <a:prstDash val="solid"/>
          </a:ln>
        </p:spPr>
      </p:sp>
      <p:sp>
        <p:nvSpPr>
          <p:cNvPr id="20" name="Animation library band"/>
          <p:cNvSpPr/>
          <p:nvPr/>
        </p:nvSpPr>
        <p:spPr>
          <a:xfrm>
            <a:off x="4407408" y="3995928"/>
            <a:ext cx="3346704" cy="548640"/>
          </a:xfrm>
          <a:prstGeom prst="rect">
            <a:avLst/>
          </a:prstGeom>
          <a:solidFill>
            <a:schemeClr val="accent5"/>
          </a:solidFill>
          <a:ln w="12700">
            <a:solidFill>
              <a:schemeClr val="accent5"/>
            </a:solidFill>
            <a:prstDash val="solid"/>
          </a:ln>
        </p:spPr>
      </p:sp>
      <p:sp>
        <p:nvSpPr>
          <p:cNvPr id="21" name="Animation library head"/>
          <p:cNvSpPr txBox="1"/>
          <p:nvPr/>
        </p:nvSpPr>
        <p:spPr>
          <a:xfrm>
            <a:off x="45720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Animation library</a:t>
            </a:r>
            <a:endParaRPr lang="en-US" sz="1800" dirty="0"/>
          </a:p>
        </p:txBody>
      </p:sp>
      <p:sp>
        <p:nvSpPr>
          <p:cNvPr id="22" name="Animation library body"/>
          <p:cNvSpPr txBox="1"/>
          <p:nvPr/>
        </p:nvSpPr>
        <p:spPr>
          <a:xfrm>
            <a:off x="45720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Pre-made motion you turn on by adding a class. Bounce, shake, tada.</a:t>
            </a:r>
            <a:endParaRPr lang="en-US" sz="1800" dirty="0"/>
          </a:p>
        </p:txBody>
      </p:sp>
      <p:sp>
        <p:nvSpPr>
          <p:cNvPr id="23" name="Docs card"/>
          <p:cNvSpPr/>
          <p:nvPr/>
        </p:nvSpPr>
        <p:spPr>
          <a:xfrm>
            <a:off x="8046720" y="3977640"/>
            <a:ext cx="3383280" cy="2194560"/>
          </a:xfrm>
          <a:prstGeom prst="roundRect">
            <a:avLst>
              <a:gd name="adj" fmla="val 5000"/>
            </a:avLst>
          </a:prstGeom>
          <a:solidFill>
            <a:schemeClr val="bg1"/>
          </a:solidFill>
          <a:ln w="38100">
            <a:solidFill>
              <a:schemeClr val="accent1"/>
            </a:solidFill>
            <a:prstDash val="solid"/>
          </a:ln>
        </p:spPr>
      </p:sp>
      <p:sp>
        <p:nvSpPr>
          <p:cNvPr id="24" name="Docs band"/>
          <p:cNvSpPr/>
          <p:nvPr/>
        </p:nvSpPr>
        <p:spPr>
          <a:xfrm>
            <a:off x="8065008" y="3995928"/>
            <a:ext cx="3346704" cy="548640"/>
          </a:xfrm>
          <a:prstGeom prst="rect">
            <a:avLst/>
          </a:prstGeom>
          <a:solidFill>
            <a:schemeClr val="accent1"/>
          </a:solidFill>
          <a:ln w="12700">
            <a:solidFill>
              <a:schemeClr val="accent1"/>
            </a:solidFill>
            <a:prstDash val="solid"/>
          </a:ln>
        </p:spPr>
      </p:sp>
      <p:sp>
        <p:nvSpPr>
          <p:cNvPr id="25" name="Docs head"/>
          <p:cNvSpPr txBox="1"/>
          <p:nvPr/>
        </p:nvSpPr>
        <p:spPr>
          <a:xfrm>
            <a:off x="82296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Docs</a:t>
            </a:r>
            <a:endParaRPr lang="en-US" sz="1800" dirty="0"/>
          </a:p>
        </p:txBody>
      </p:sp>
      <p:sp>
        <p:nvSpPr>
          <p:cNvPr id="26" name="Docs body"/>
          <p:cNvSpPr txBox="1"/>
          <p:nvPr/>
        </p:nvSpPr>
        <p:spPr>
          <a:xfrm>
            <a:off x="82296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framework's manual and website. Pros live in the docs. So will you today.</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The Framework Midway</a:t>
            </a:r>
            <a:endParaRPr lang="en-US" sz="3400" dirty="0"/>
          </a:p>
        </p:txBody>
      </p:sp>
      <p:sp>
        <p:nvSpPr>
          <p:cNvPr id="3" name="Tailwind CSS card"/>
          <p:cNvSpPr/>
          <p:nvPr/>
        </p:nvSpPr>
        <p:spPr>
          <a:xfrm>
            <a:off x="731520" y="1554480"/>
            <a:ext cx="3383280" cy="2194560"/>
          </a:xfrm>
          <a:prstGeom prst="roundRect">
            <a:avLst>
              <a:gd name="adj" fmla="val 5000"/>
            </a:avLst>
          </a:prstGeom>
          <a:solidFill>
            <a:schemeClr val="bg1"/>
          </a:solidFill>
          <a:ln w="38100">
            <a:solidFill>
              <a:schemeClr val="accent1"/>
            </a:solidFill>
            <a:prstDash val="solid"/>
          </a:ln>
        </p:spPr>
      </p:sp>
      <p:sp>
        <p:nvSpPr>
          <p:cNvPr id="4" name="Tailwind CSS band"/>
          <p:cNvSpPr/>
          <p:nvPr/>
        </p:nvSpPr>
        <p:spPr>
          <a:xfrm>
            <a:off x="749808" y="1572768"/>
            <a:ext cx="3346704" cy="548640"/>
          </a:xfrm>
          <a:prstGeom prst="rect">
            <a:avLst/>
          </a:prstGeom>
          <a:solidFill>
            <a:schemeClr val="accent1"/>
          </a:solidFill>
          <a:ln w="12700">
            <a:solidFill>
              <a:schemeClr val="accent1"/>
            </a:solidFill>
            <a:prstDash val="solid"/>
          </a:ln>
        </p:spPr>
      </p:sp>
      <p:sp>
        <p:nvSpPr>
          <p:cNvPr id="5" name="Tailwind CSS head"/>
          <p:cNvSpPr txBox="1"/>
          <p:nvPr/>
        </p:nvSpPr>
        <p:spPr>
          <a:xfrm>
            <a:off x="9144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Tailwind CSS</a:t>
            </a:r>
            <a:endParaRPr lang="en-US" sz="1800" dirty="0"/>
          </a:p>
        </p:txBody>
      </p:sp>
      <p:sp>
        <p:nvSpPr>
          <p:cNvPr id="6" name="Tailwind CSS body"/>
          <p:cNvSpPr txBox="1"/>
          <p:nvPr/>
        </p:nvSpPr>
        <p:spPr>
          <a:xfrm>
            <a:off x="9144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Utility classes you stack right in your HTML. Very popular right now.</a:t>
            </a:r>
            <a:endParaRPr lang="en-US" sz="1800" dirty="0"/>
          </a:p>
        </p:txBody>
      </p:sp>
      <p:sp>
        <p:nvSpPr>
          <p:cNvPr id="7" name="DaisyUI card"/>
          <p:cNvSpPr/>
          <p:nvPr/>
        </p:nvSpPr>
        <p:spPr>
          <a:xfrm>
            <a:off x="4389120" y="1554480"/>
            <a:ext cx="3383280" cy="2194560"/>
          </a:xfrm>
          <a:prstGeom prst="roundRect">
            <a:avLst>
              <a:gd name="adj" fmla="val 5000"/>
            </a:avLst>
          </a:prstGeom>
          <a:solidFill>
            <a:schemeClr val="bg1"/>
          </a:solidFill>
          <a:ln w="38100">
            <a:solidFill>
              <a:schemeClr val="accent3"/>
            </a:solidFill>
            <a:prstDash val="solid"/>
          </a:ln>
        </p:spPr>
      </p:sp>
      <p:sp>
        <p:nvSpPr>
          <p:cNvPr id="8" name="DaisyUI band"/>
          <p:cNvSpPr/>
          <p:nvPr/>
        </p:nvSpPr>
        <p:spPr>
          <a:xfrm>
            <a:off x="4407408" y="1572768"/>
            <a:ext cx="3346704" cy="548640"/>
          </a:xfrm>
          <a:prstGeom prst="rect">
            <a:avLst/>
          </a:prstGeom>
          <a:solidFill>
            <a:schemeClr val="accent3"/>
          </a:solidFill>
          <a:ln w="12700">
            <a:solidFill>
              <a:schemeClr val="accent3"/>
            </a:solidFill>
            <a:prstDash val="solid"/>
          </a:ln>
        </p:spPr>
      </p:sp>
      <p:sp>
        <p:nvSpPr>
          <p:cNvPr id="9" name="DaisyUI head"/>
          <p:cNvSpPr txBox="1"/>
          <p:nvPr/>
        </p:nvSpPr>
        <p:spPr>
          <a:xfrm>
            <a:off x="45720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DaisyUI</a:t>
            </a:r>
            <a:endParaRPr lang="en-US" sz="1800" dirty="0"/>
          </a:p>
        </p:txBody>
      </p:sp>
      <p:sp>
        <p:nvSpPr>
          <p:cNvPr id="10" name="DaisyUI body"/>
          <p:cNvSpPr txBox="1"/>
          <p:nvPr/>
        </p:nvSpPr>
        <p:spPr>
          <a:xfrm>
            <a:off x="45720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Adds components and 30+ themes on top of Tailwind. class="btn" is a full button.</a:t>
            </a:r>
            <a:endParaRPr lang="en-US" sz="1800" dirty="0"/>
          </a:p>
        </p:txBody>
      </p:sp>
      <p:sp>
        <p:nvSpPr>
          <p:cNvPr id="11" name="Animate.css card"/>
          <p:cNvSpPr/>
          <p:nvPr/>
        </p:nvSpPr>
        <p:spPr>
          <a:xfrm>
            <a:off x="8046720" y="1554480"/>
            <a:ext cx="3383280" cy="2194560"/>
          </a:xfrm>
          <a:prstGeom prst="roundRect">
            <a:avLst>
              <a:gd name="adj" fmla="val 5000"/>
            </a:avLst>
          </a:prstGeom>
          <a:solidFill>
            <a:schemeClr val="bg1"/>
          </a:solidFill>
          <a:ln w="38100">
            <a:solidFill>
              <a:schemeClr val="accent2"/>
            </a:solidFill>
            <a:prstDash val="solid"/>
          </a:ln>
        </p:spPr>
      </p:sp>
      <p:sp>
        <p:nvSpPr>
          <p:cNvPr id="12" name="Animate.css band"/>
          <p:cNvSpPr/>
          <p:nvPr/>
        </p:nvSpPr>
        <p:spPr>
          <a:xfrm>
            <a:off x="8065008" y="1572768"/>
            <a:ext cx="3346704" cy="548640"/>
          </a:xfrm>
          <a:prstGeom prst="rect">
            <a:avLst/>
          </a:prstGeom>
          <a:solidFill>
            <a:schemeClr val="accent2"/>
          </a:solidFill>
          <a:ln w="12700">
            <a:solidFill>
              <a:schemeClr val="accent2"/>
            </a:solidFill>
            <a:prstDash val="solid"/>
          </a:ln>
        </p:spPr>
      </p:sp>
      <p:sp>
        <p:nvSpPr>
          <p:cNvPr id="13" name="Animate.css head"/>
          <p:cNvSpPr txBox="1"/>
          <p:nvPr/>
        </p:nvSpPr>
        <p:spPr>
          <a:xfrm>
            <a:off x="82296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Animate.css</a:t>
            </a:r>
            <a:endParaRPr lang="en-US" sz="1800" dirty="0"/>
          </a:p>
        </p:txBody>
      </p:sp>
      <p:sp>
        <p:nvSpPr>
          <p:cNvPr id="14" name="Animate.css body"/>
          <p:cNvSpPr txBox="1"/>
          <p:nvPr/>
        </p:nvSpPr>
        <p:spPr>
          <a:xfrm>
            <a:off x="82296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library of drop-in animations. Add two classes and it moves.</a:t>
            </a:r>
            <a:endParaRPr lang="en-US" sz="1800" dirty="0"/>
          </a:p>
        </p:txBody>
      </p:sp>
      <p:sp>
        <p:nvSpPr>
          <p:cNvPr id="15" name="Bootstrap card"/>
          <p:cNvSpPr/>
          <p:nvPr/>
        </p:nvSpPr>
        <p:spPr>
          <a:xfrm>
            <a:off x="731520" y="3977640"/>
            <a:ext cx="3383280" cy="2194560"/>
          </a:xfrm>
          <a:prstGeom prst="roundRect">
            <a:avLst>
              <a:gd name="adj" fmla="val 5000"/>
            </a:avLst>
          </a:prstGeom>
          <a:solidFill>
            <a:schemeClr val="bg1"/>
          </a:solidFill>
          <a:ln w="38100">
            <a:solidFill>
              <a:schemeClr val="tx2"/>
            </a:solidFill>
            <a:prstDash val="solid"/>
          </a:ln>
        </p:spPr>
      </p:sp>
      <p:sp>
        <p:nvSpPr>
          <p:cNvPr id="16" name="Bootstrap band"/>
          <p:cNvSpPr/>
          <p:nvPr/>
        </p:nvSpPr>
        <p:spPr>
          <a:xfrm>
            <a:off x="749808" y="3995928"/>
            <a:ext cx="3346704" cy="548640"/>
          </a:xfrm>
          <a:prstGeom prst="rect">
            <a:avLst/>
          </a:prstGeom>
          <a:solidFill>
            <a:schemeClr val="tx2"/>
          </a:solidFill>
          <a:ln w="12700">
            <a:solidFill>
              <a:schemeClr val="tx2"/>
            </a:solidFill>
            <a:prstDash val="solid"/>
          </a:ln>
        </p:spPr>
      </p:sp>
      <p:sp>
        <p:nvSpPr>
          <p:cNvPr id="17" name="Bootstrap head"/>
          <p:cNvSpPr txBox="1"/>
          <p:nvPr/>
        </p:nvSpPr>
        <p:spPr>
          <a:xfrm>
            <a:off x="9144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Bootstrap</a:t>
            </a:r>
            <a:endParaRPr lang="en-US" sz="1800" dirty="0"/>
          </a:p>
        </p:txBody>
      </p:sp>
      <p:sp>
        <p:nvSpPr>
          <p:cNvPr id="18" name="Bootstrap body"/>
          <p:cNvSpPr txBox="1"/>
          <p:nvPr/>
        </p:nvSpPr>
        <p:spPr>
          <a:xfrm>
            <a:off x="9144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The classic. Components first, huge community, tons of tutorials.</a:t>
            </a:r>
            <a:endParaRPr lang="en-US" sz="1800" dirty="0"/>
          </a:p>
        </p:txBody>
      </p:sp>
      <p:sp>
        <p:nvSpPr>
          <p:cNvPr id="19" name="shadcn/ui card"/>
          <p:cNvSpPr/>
          <p:nvPr/>
        </p:nvSpPr>
        <p:spPr>
          <a:xfrm>
            <a:off x="4389120" y="3977640"/>
            <a:ext cx="3383280" cy="2194560"/>
          </a:xfrm>
          <a:prstGeom prst="roundRect">
            <a:avLst>
              <a:gd name="adj" fmla="val 5000"/>
            </a:avLst>
          </a:prstGeom>
          <a:solidFill>
            <a:schemeClr val="bg1"/>
          </a:solidFill>
          <a:ln w="38100">
            <a:solidFill>
              <a:schemeClr val="accent5"/>
            </a:solidFill>
            <a:prstDash val="solid"/>
          </a:ln>
        </p:spPr>
      </p:sp>
      <p:sp>
        <p:nvSpPr>
          <p:cNvPr id="20" name="shadcn/ui band"/>
          <p:cNvSpPr/>
          <p:nvPr/>
        </p:nvSpPr>
        <p:spPr>
          <a:xfrm>
            <a:off x="4407408" y="3995928"/>
            <a:ext cx="3346704" cy="548640"/>
          </a:xfrm>
          <a:prstGeom prst="rect">
            <a:avLst/>
          </a:prstGeom>
          <a:solidFill>
            <a:schemeClr val="accent5"/>
          </a:solidFill>
          <a:ln w="12700">
            <a:solidFill>
              <a:schemeClr val="accent5"/>
            </a:solidFill>
            <a:prstDash val="solid"/>
          </a:ln>
        </p:spPr>
      </p:sp>
      <p:sp>
        <p:nvSpPr>
          <p:cNvPr id="21" name="shadcn/ui head"/>
          <p:cNvSpPr txBox="1"/>
          <p:nvPr/>
        </p:nvSpPr>
        <p:spPr>
          <a:xfrm>
            <a:off x="45720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shadcn/ui</a:t>
            </a:r>
            <a:endParaRPr lang="en-US" sz="1800" dirty="0"/>
          </a:p>
        </p:txBody>
      </p:sp>
      <p:sp>
        <p:nvSpPr>
          <p:cNvPr id="22" name="shadcn/ui body"/>
          <p:cNvSpPr txBox="1"/>
          <p:nvPr/>
        </p:nvSpPr>
        <p:spPr>
          <a:xfrm>
            <a:off x="45720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Good-looking React components you copy into your own project.</a:t>
            </a:r>
            <a:endParaRPr lang="en-US" sz="1800" dirty="0"/>
          </a:p>
        </p:txBody>
      </p:sp>
      <p:sp>
        <p:nvSpPr>
          <p:cNvPr id="23" name="Pico.css card"/>
          <p:cNvSpPr/>
          <p:nvPr/>
        </p:nvSpPr>
        <p:spPr>
          <a:xfrm>
            <a:off x="8046720" y="3977640"/>
            <a:ext cx="3383280" cy="2194560"/>
          </a:xfrm>
          <a:prstGeom prst="roundRect">
            <a:avLst>
              <a:gd name="adj" fmla="val 5000"/>
            </a:avLst>
          </a:prstGeom>
          <a:solidFill>
            <a:schemeClr val="bg1"/>
          </a:solidFill>
          <a:ln w="38100">
            <a:solidFill>
              <a:schemeClr val="accent1"/>
            </a:solidFill>
            <a:prstDash val="solid"/>
          </a:ln>
        </p:spPr>
      </p:sp>
      <p:sp>
        <p:nvSpPr>
          <p:cNvPr id="24" name="Pico.css band"/>
          <p:cNvSpPr/>
          <p:nvPr/>
        </p:nvSpPr>
        <p:spPr>
          <a:xfrm>
            <a:off x="8065008" y="3995928"/>
            <a:ext cx="3346704" cy="548640"/>
          </a:xfrm>
          <a:prstGeom prst="rect">
            <a:avLst/>
          </a:prstGeom>
          <a:solidFill>
            <a:schemeClr val="accent1"/>
          </a:solidFill>
          <a:ln w="12700">
            <a:solidFill>
              <a:schemeClr val="accent1"/>
            </a:solidFill>
            <a:prstDash val="solid"/>
          </a:ln>
        </p:spPr>
      </p:sp>
      <p:sp>
        <p:nvSpPr>
          <p:cNvPr id="25" name="Pico.css head"/>
          <p:cNvSpPr txBox="1"/>
          <p:nvPr/>
        </p:nvSpPr>
        <p:spPr>
          <a:xfrm>
            <a:off x="82296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Pico.css</a:t>
            </a:r>
            <a:endParaRPr lang="en-US" sz="1800" dirty="0"/>
          </a:p>
        </p:txBody>
      </p:sp>
      <p:sp>
        <p:nvSpPr>
          <p:cNvPr id="26" name="Pico.css body"/>
          <p:cNvSpPr txBox="1"/>
          <p:nvPr/>
        </p:nvSpPr>
        <p:spPr>
          <a:xfrm>
            <a:off x="82296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"Classless." Write plain HTML and it already looks nice.</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2 Live Demo: One Button, Four Ways</a:t>
            </a:r>
            <a:endParaRPr lang="en-US" sz="3400" dirty="0"/>
          </a:p>
        </p:txBody>
      </p:sp>
      <p:sp>
        <p:nvSpPr>
          <p:cNvPr id="3" name="code frame"/>
          <p:cNvSpPr/>
          <p:nvPr/>
        </p:nvSpPr>
        <p:spPr>
          <a:xfrm>
            <a:off x="731520" y="1463040"/>
            <a:ext cx="10789920" cy="4114800"/>
          </a:xfrm>
          <a:prstGeom prst="roundRect">
            <a:avLst>
              <a:gd name="adj" fmla="val 1778"/>
            </a:avLst>
          </a:prstGeom>
          <a:solidFill>
            <a:schemeClr val="tx2"/>
          </a:solidFill>
          <a:ln w="25400">
            <a:solidFill>
              <a:schemeClr val="accent2"/>
            </a:solidFill>
            <a:prstDash val="solid"/>
          </a:ln>
        </p:spPr>
      </p:sp>
      <p:sp>
        <p:nvSpPr>
          <p:cNvPr id="4" name="code"/>
          <p:cNvSpPr txBox="1"/>
          <p:nvPr/>
        </p:nvSpPr>
        <p:spPr>
          <a:xfrm>
            <a:off x="1005840" y="1645920"/>
            <a:ext cx="10241280" cy="3749040"/>
          </a:xfrm>
          <a:prstGeom prst="rect">
            <a:avLst/>
          </a:prstGeom>
          <a:noFill/>
          <a:ln/>
        </p:spPr>
        <p:txBody>
          <a:bodyPr wrap="square" lIns="0" tIns="0" rIns="0" bIns="0" rtlCol="0" anchor="t"/>
          <a:lstStyle/>
          <a:p>
            <a:pPr indent="0" marL="0">
              <a:buNone/>
            </a:pPr>
            <a:r>
              <a:rPr lang="en-US" sz="1600" dirty="0">
                <a:solidFill>
                  <a:schemeClr val="bg2"/>
                </a:solidFill>
                <a:latin typeface="Consolas" pitchFamily="34" charset="0"/>
                <a:ea typeface="Consolas" pitchFamily="34" charset="-122"/>
                <a:cs typeface="Consolas" pitchFamily="34" charset="-120"/>
              </a:rPr>
              <a:t>&lt;!-- 1. Plain HTML: works, but looks like 1998 --&gt;</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&lt;button&gt;Play&lt;/button&gt;</a:t>
            </a:r>
            <a:endParaRPr lang="en-US" sz="1600" dirty="0"/>
          </a:p>
          <a:p>
            <a:pPr indent="0" marL="0">
              <a:buNone/>
            </a:pP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&lt;!-- 2. Tailwind: stack utility classes --&gt;</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&lt;button class="bg-red-500 text-white rounded-full px-6 py-2 shadow-lg"&gt;Play&lt;/button&gt;</a:t>
            </a:r>
            <a:endParaRPr lang="en-US" sz="1600" dirty="0"/>
          </a:p>
          <a:p>
            <a:pPr indent="0" marL="0">
              <a:buNone/>
            </a:pP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&lt;!-- 3. DaisyUI: one component class does it all --&gt;</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&lt;button class="btn btn-primary"&gt;Play&lt;/button&gt;</a:t>
            </a:r>
            <a:endParaRPr lang="en-US" sz="1600" dirty="0"/>
          </a:p>
          <a:p>
            <a:pPr indent="0" marL="0">
              <a:buNone/>
            </a:pP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&lt;!-- 4. Add Animate.css: now it bounces --&gt;</a:t>
            </a:r>
            <a:endParaRPr lang="en-US" sz="1600" dirty="0"/>
          </a:p>
          <a:p>
            <a:pPr indent="0" marL="0">
              <a:buNone/>
            </a:pPr>
            <a:r>
              <a:rPr lang="en-US" sz="1600" dirty="0">
                <a:solidFill>
                  <a:schemeClr val="bg2"/>
                </a:solidFill>
                <a:latin typeface="Consolas" pitchFamily="34" charset="0"/>
                <a:ea typeface="Consolas" pitchFamily="34" charset="-122"/>
                <a:cs typeface="Consolas" pitchFamily="34" charset="-120"/>
              </a:rPr>
              <a:t>&lt;button class="btn btn-primary animate__animated animate__bounce"&gt;Play&lt;/button&gt;</a:t>
            </a:r>
            <a:endParaRPr lang="en-US" sz="1600" dirty="0"/>
          </a:p>
        </p:txBody>
      </p:sp>
      <p:sp>
        <p:nvSpPr>
          <p:cNvPr id="5" name="Text 3"/>
          <p:cNvSpPr txBox="1"/>
          <p:nvPr/>
        </p:nvSpPr>
        <p:spPr>
          <a:xfrm>
            <a:off x="731520" y="5760720"/>
            <a:ext cx="10698480" cy="457200"/>
          </a:xfrm>
          <a:prstGeom prst="rect">
            <a:avLst/>
          </a:prstGeom>
          <a:noFill/>
          <a:ln/>
        </p:spPr>
        <p:txBody>
          <a:bodyPr wrap="square" lIns="0" tIns="0" rIns="0" bIns="0" rtlCol="0" anchor="ctr"/>
          <a:lstStyle/>
          <a:p>
            <a:pPr algn="ctr" indent="0" marL="0">
              <a:buNone/>
            </a:pPr>
            <a:r>
              <a:rPr lang="en-US" sz="1800" b="1" dirty="0">
                <a:solidFill>
                  <a:schemeClr val="accent3"/>
                </a:solidFill>
              </a:rPr>
              <a:t>Then: change the DaisyUI theme and watch every button change at once.</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3 Words: The Safety Inspector</a:t>
            </a:r>
            <a:endParaRPr lang="en-US" sz="3400" dirty="0"/>
          </a:p>
        </p:txBody>
      </p:sp>
      <p:sp>
        <p:nvSpPr>
          <p:cNvPr id="3" name="User input card"/>
          <p:cNvSpPr/>
          <p:nvPr/>
        </p:nvSpPr>
        <p:spPr>
          <a:xfrm>
            <a:off x="731520" y="1554480"/>
            <a:ext cx="3383280" cy="2194560"/>
          </a:xfrm>
          <a:prstGeom prst="roundRect">
            <a:avLst>
              <a:gd name="adj" fmla="val 5000"/>
            </a:avLst>
          </a:prstGeom>
          <a:solidFill>
            <a:schemeClr val="bg1"/>
          </a:solidFill>
          <a:ln w="38100">
            <a:solidFill>
              <a:schemeClr val="accent1"/>
            </a:solidFill>
            <a:prstDash val="solid"/>
          </a:ln>
        </p:spPr>
      </p:sp>
      <p:sp>
        <p:nvSpPr>
          <p:cNvPr id="4" name="User input band"/>
          <p:cNvSpPr/>
          <p:nvPr/>
        </p:nvSpPr>
        <p:spPr>
          <a:xfrm>
            <a:off x="749808" y="1572768"/>
            <a:ext cx="3346704" cy="548640"/>
          </a:xfrm>
          <a:prstGeom prst="rect">
            <a:avLst/>
          </a:prstGeom>
          <a:solidFill>
            <a:schemeClr val="accent1"/>
          </a:solidFill>
          <a:ln w="12700">
            <a:solidFill>
              <a:schemeClr val="accent1"/>
            </a:solidFill>
            <a:prstDash val="solid"/>
          </a:ln>
        </p:spPr>
      </p:sp>
      <p:sp>
        <p:nvSpPr>
          <p:cNvPr id="5" name="User input head"/>
          <p:cNvSpPr txBox="1"/>
          <p:nvPr/>
        </p:nvSpPr>
        <p:spPr>
          <a:xfrm>
            <a:off x="9144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User input</a:t>
            </a:r>
            <a:endParaRPr lang="en-US" sz="1800" dirty="0"/>
          </a:p>
        </p:txBody>
      </p:sp>
      <p:sp>
        <p:nvSpPr>
          <p:cNvPr id="6" name="User input body"/>
          <p:cNvSpPr txBox="1"/>
          <p:nvPr/>
        </p:nvSpPr>
        <p:spPr>
          <a:xfrm>
            <a:off x="9144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Anything a visitor types or uploads. Treat it like a stranger handing you a note.</a:t>
            </a:r>
            <a:endParaRPr lang="en-US" sz="1800" dirty="0"/>
          </a:p>
        </p:txBody>
      </p:sp>
      <p:sp>
        <p:nvSpPr>
          <p:cNvPr id="7" name="Validation card"/>
          <p:cNvSpPr/>
          <p:nvPr/>
        </p:nvSpPr>
        <p:spPr>
          <a:xfrm>
            <a:off x="4389120" y="1554480"/>
            <a:ext cx="3383280" cy="2194560"/>
          </a:xfrm>
          <a:prstGeom prst="roundRect">
            <a:avLst>
              <a:gd name="adj" fmla="val 5000"/>
            </a:avLst>
          </a:prstGeom>
          <a:solidFill>
            <a:schemeClr val="bg1"/>
          </a:solidFill>
          <a:ln w="38100">
            <a:solidFill>
              <a:schemeClr val="accent3"/>
            </a:solidFill>
            <a:prstDash val="solid"/>
          </a:ln>
        </p:spPr>
      </p:sp>
      <p:sp>
        <p:nvSpPr>
          <p:cNvPr id="8" name="Validation band"/>
          <p:cNvSpPr/>
          <p:nvPr/>
        </p:nvSpPr>
        <p:spPr>
          <a:xfrm>
            <a:off x="4407408" y="1572768"/>
            <a:ext cx="3346704" cy="548640"/>
          </a:xfrm>
          <a:prstGeom prst="rect">
            <a:avLst/>
          </a:prstGeom>
          <a:solidFill>
            <a:schemeClr val="accent3"/>
          </a:solidFill>
          <a:ln w="12700">
            <a:solidFill>
              <a:schemeClr val="accent3"/>
            </a:solidFill>
            <a:prstDash val="solid"/>
          </a:ln>
        </p:spPr>
      </p:sp>
      <p:sp>
        <p:nvSpPr>
          <p:cNvPr id="9" name="Validation head"/>
          <p:cNvSpPr txBox="1"/>
          <p:nvPr/>
        </p:nvSpPr>
        <p:spPr>
          <a:xfrm>
            <a:off x="45720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Validation</a:t>
            </a:r>
            <a:endParaRPr lang="en-US" sz="1800" dirty="0"/>
          </a:p>
        </p:txBody>
      </p:sp>
      <p:sp>
        <p:nvSpPr>
          <p:cNvPr id="10" name="Validation body"/>
          <p:cNvSpPr txBox="1"/>
          <p:nvPr/>
        </p:nvSpPr>
        <p:spPr>
          <a:xfrm>
            <a:off x="45720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Checking input before you accept it. Is the name blank? Is the message 50,000 characters?</a:t>
            </a:r>
            <a:endParaRPr lang="en-US" sz="1800" dirty="0"/>
          </a:p>
        </p:txBody>
      </p:sp>
      <p:sp>
        <p:nvSpPr>
          <p:cNvPr id="11" name="XSS card"/>
          <p:cNvSpPr/>
          <p:nvPr/>
        </p:nvSpPr>
        <p:spPr>
          <a:xfrm>
            <a:off x="8046720" y="1554480"/>
            <a:ext cx="3383280" cy="2194560"/>
          </a:xfrm>
          <a:prstGeom prst="roundRect">
            <a:avLst>
              <a:gd name="adj" fmla="val 5000"/>
            </a:avLst>
          </a:prstGeom>
          <a:solidFill>
            <a:schemeClr val="bg1"/>
          </a:solidFill>
          <a:ln w="38100">
            <a:solidFill>
              <a:schemeClr val="tx2"/>
            </a:solidFill>
            <a:prstDash val="solid"/>
          </a:ln>
        </p:spPr>
      </p:sp>
      <p:sp>
        <p:nvSpPr>
          <p:cNvPr id="12" name="XSS band"/>
          <p:cNvSpPr/>
          <p:nvPr/>
        </p:nvSpPr>
        <p:spPr>
          <a:xfrm>
            <a:off x="8065008" y="1572768"/>
            <a:ext cx="3346704" cy="548640"/>
          </a:xfrm>
          <a:prstGeom prst="rect">
            <a:avLst/>
          </a:prstGeom>
          <a:solidFill>
            <a:schemeClr val="tx2"/>
          </a:solidFill>
          <a:ln w="12700">
            <a:solidFill>
              <a:schemeClr val="tx2"/>
            </a:solidFill>
            <a:prstDash val="solid"/>
          </a:ln>
        </p:spPr>
      </p:sp>
      <p:sp>
        <p:nvSpPr>
          <p:cNvPr id="13" name="XSS head"/>
          <p:cNvSpPr txBox="1"/>
          <p:nvPr/>
        </p:nvSpPr>
        <p:spPr>
          <a:xfrm>
            <a:off x="8229600" y="157276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XSS</a:t>
            </a:r>
            <a:endParaRPr lang="en-US" sz="1800" dirty="0"/>
          </a:p>
        </p:txBody>
      </p:sp>
      <p:sp>
        <p:nvSpPr>
          <p:cNvPr id="14" name="XSS body"/>
          <p:cNvSpPr txBox="1"/>
          <p:nvPr/>
        </p:nvSpPr>
        <p:spPr>
          <a:xfrm>
            <a:off x="8229600" y="224028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Cross-site scripting. When sneaky text gets treated as part of the page and runs. (Guess 5!)</a:t>
            </a:r>
            <a:endParaRPr lang="en-US" sz="1800" dirty="0"/>
          </a:p>
        </p:txBody>
      </p:sp>
      <p:sp>
        <p:nvSpPr>
          <p:cNvPr id="15" name="API key / secret card"/>
          <p:cNvSpPr/>
          <p:nvPr/>
        </p:nvSpPr>
        <p:spPr>
          <a:xfrm>
            <a:off x="731520" y="3977640"/>
            <a:ext cx="3383280" cy="2194560"/>
          </a:xfrm>
          <a:prstGeom prst="roundRect">
            <a:avLst>
              <a:gd name="adj" fmla="val 5000"/>
            </a:avLst>
          </a:prstGeom>
          <a:solidFill>
            <a:schemeClr val="bg1"/>
          </a:solidFill>
          <a:ln w="38100">
            <a:solidFill>
              <a:schemeClr val="accent2"/>
            </a:solidFill>
            <a:prstDash val="solid"/>
          </a:ln>
        </p:spPr>
      </p:sp>
      <p:sp>
        <p:nvSpPr>
          <p:cNvPr id="16" name="API key / secret band"/>
          <p:cNvSpPr/>
          <p:nvPr/>
        </p:nvSpPr>
        <p:spPr>
          <a:xfrm>
            <a:off x="749808" y="3995928"/>
            <a:ext cx="3346704" cy="548640"/>
          </a:xfrm>
          <a:prstGeom prst="rect">
            <a:avLst/>
          </a:prstGeom>
          <a:solidFill>
            <a:schemeClr val="accent2"/>
          </a:solidFill>
          <a:ln w="12700">
            <a:solidFill>
              <a:schemeClr val="accent2"/>
            </a:solidFill>
            <a:prstDash val="solid"/>
          </a:ln>
        </p:spPr>
      </p:sp>
      <p:sp>
        <p:nvSpPr>
          <p:cNvPr id="17" name="API key / secret head"/>
          <p:cNvSpPr txBox="1"/>
          <p:nvPr/>
        </p:nvSpPr>
        <p:spPr>
          <a:xfrm>
            <a:off x="9144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API key / secret</a:t>
            </a:r>
            <a:endParaRPr lang="en-US" sz="1800" dirty="0"/>
          </a:p>
        </p:txBody>
      </p:sp>
      <p:sp>
        <p:nvSpPr>
          <p:cNvPr id="18" name="API key / secret body"/>
          <p:cNvSpPr txBox="1"/>
          <p:nvPr/>
        </p:nvSpPr>
        <p:spPr>
          <a:xfrm>
            <a:off x="9144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password your app uses to talk to another service. Like a key to the prize closet.</a:t>
            </a:r>
            <a:endParaRPr lang="en-US" sz="1800" dirty="0"/>
          </a:p>
        </p:txBody>
      </p:sp>
      <p:sp>
        <p:nvSpPr>
          <p:cNvPr id="19" name=".env file card"/>
          <p:cNvSpPr/>
          <p:nvPr/>
        </p:nvSpPr>
        <p:spPr>
          <a:xfrm>
            <a:off x="4389120" y="3977640"/>
            <a:ext cx="3383280" cy="2194560"/>
          </a:xfrm>
          <a:prstGeom prst="roundRect">
            <a:avLst>
              <a:gd name="adj" fmla="val 5000"/>
            </a:avLst>
          </a:prstGeom>
          <a:solidFill>
            <a:schemeClr val="bg1"/>
          </a:solidFill>
          <a:ln w="38100">
            <a:solidFill>
              <a:schemeClr val="accent5"/>
            </a:solidFill>
            <a:prstDash val="solid"/>
          </a:ln>
        </p:spPr>
      </p:sp>
      <p:sp>
        <p:nvSpPr>
          <p:cNvPr id="20" name=".env file band"/>
          <p:cNvSpPr/>
          <p:nvPr/>
        </p:nvSpPr>
        <p:spPr>
          <a:xfrm>
            <a:off x="4407408" y="3995928"/>
            <a:ext cx="3346704" cy="548640"/>
          </a:xfrm>
          <a:prstGeom prst="rect">
            <a:avLst/>
          </a:prstGeom>
          <a:solidFill>
            <a:schemeClr val="accent5"/>
          </a:solidFill>
          <a:ln w="12700">
            <a:solidFill>
              <a:schemeClr val="accent5"/>
            </a:solidFill>
            <a:prstDash val="solid"/>
          </a:ln>
        </p:spPr>
      </p:sp>
      <p:sp>
        <p:nvSpPr>
          <p:cNvPr id="21" name=".env file head"/>
          <p:cNvSpPr txBox="1"/>
          <p:nvPr/>
        </p:nvSpPr>
        <p:spPr>
          <a:xfrm>
            <a:off x="45720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.env file</a:t>
            </a:r>
            <a:endParaRPr lang="en-US" sz="1800" dirty="0"/>
          </a:p>
        </p:txBody>
      </p:sp>
      <p:sp>
        <p:nvSpPr>
          <p:cNvPr id="22" name=".env file body"/>
          <p:cNvSpPr txBox="1"/>
          <p:nvPr/>
        </p:nvSpPr>
        <p:spPr>
          <a:xfrm>
            <a:off x="45720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file that holds secrets on your computer or server, kept out of your code and out of GitHub.</a:t>
            </a:r>
            <a:endParaRPr lang="en-US" sz="1800" dirty="0"/>
          </a:p>
        </p:txBody>
      </p:sp>
      <p:sp>
        <p:nvSpPr>
          <p:cNvPr id="23" name="RLS card"/>
          <p:cNvSpPr/>
          <p:nvPr/>
        </p:nvSpPr>
        <p:spPr>
          <a:xfrm>
            <a:off x="8046720" y="3977640"/>
            <a:ext cx="3383280" cy="2194560"/>
          </a:xfrm>
          <a:prstGeom prst="roundRect">
            <a:avLst>
              <a:gd name="adj" fmla="val 5000"/>
            </a:avLst>
          </a:prstGeom>
          <a:solidFill>
            <a:schemeClr val="bg1"/>
          </a:solidFill>
          <a:ln w="38100">
            <a:solidFill>
              <a:schemeClr val="accent1"/>
            </a:solidFill>
            <a:prstDash val="solid"/>
          </a:ln>
        </p:spPr>
      </p:sp>
      <p:sp>
        <p:nvSpPr>
          <p:cNvPr id="24" name="RLS band"/>
          <p:cNvSpPr/>
          <p:nvPr/>
        </p:nvSpPr>
        <p:spPr>
          <a:xfrm>
            <a:off x="8065008" y="3995928"/>
            <a:ext cx="3346704" cy="548640"/>
          </a:xfrm>
          <a:prstGeom prst="rect">
            <a:avLst/>
          </a:prstGeom>
          <a:solidFill>
            <a:schemeClr val="accent1"/>
          </a:solidFill>
          <a:ln w="12700">
            <a:solidFill>
              <a:schemeClr val="accent1"/>
            </a:solidFill>
            <a:prstDash val="solid"/>
          </a:ln>
        </p:spPr>
      </p:sp>
      <p:sp>
        <p:nvSpPr>
          <p:cNvPr id="25" name="RLS head"/>
          <p:cNvSpPr txBox="1"/>
          <p:nvPr/>
        </p:nvSpPr>
        <p:spPr>
          <a:xfrm>
            <a:off x="8229600" y="399592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RLS</a:t>
            </a:r>
            <a:endParaRPr lang="en-US" sz="1800" dirty="0"/>
          </a:p>
        </p:txBody>
      </p:sp>
      <p:sp>
        <p:nvSpPr>
          <p:cNvPr id="26" name="RLS body"/>
          <p:cNvSpPr txBox="1"/>
          <p:nvPr/>
        </p:nvSpPr>
        <p:spPr>
          <a:xfrm>
            <a:off x="8229600" y="4663440"/>
            <a:ext cx="3017520" cy="1371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Row Level Security. Database rules about who may read or change which rows.</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Act 3: Three Inspection Rules</a:t>
            </a:r>
            <a:endParaRPr lang="en-US" sz="3400" dirty="0"/>
          </a:p>
        </p:txBody>
      </p:sp>
      <p:sp>
        <p:nvSpPr>
          <p:cNvPr id="3" name="rule 1 card"/>
          <p:cNvSpPr/>
          <p:nvPr/>
        </p:nvSpPr>
        <p:spPr>
          <a:xfrm>
            <a:off x="731520" y="1645920"/>
            <a:ext cx="3383280" cy="3108960"/>
          </a:xfrm>
          <a:prstGeom prst="roundRect">
            <a:avLst>
              <a:gd name="adj" fmla="val 3529"/>
            </a:avLst>
          </a:prstGeom>
          <a:solidFill>
            <a:schemeClr val="bg1"/>
          </a:solidFill>
          <a:ln w="38100">
            <a:solidFill>
              <a:schemeClr val="accent1"/>
            </a:solidFill>
            <a:prstDash val="solid"/>
          </a:ln>
        </p:spPr>
      </p:sp>
      <p:sp>
        <p:nvSpPr>
          <p:cNvPr id="4" name="rule 1 band"/>
          <p:cNvSpPr/>
          <p:nvPr/>
        </p:nvSpPr>
        <p:spPr>
          <a:xfrm>
            <a:off x="749808" y="1664208"/>
            <a:ext cx="3346704" cy="548640"/>
          </a:xfrm>
          <a:prstGeom prst="rect">
            <a:avLst/>
          </a:prstGeom>
          <a:solidFill>
            <a:schemeClr val="accent1"/>
          </a:solidFill>
          <a:ln w="12700">
            <a:solidFill>
              <a:schemeClr val="accent1"/>
            </a:solidFill>
            <a:prstDash val="solid"/>
          </a:ln>
        </p:spPr>
      </p:sp>
      <p:sp>
        <p:nvSpPr>
          <p:cNvPr id="5" name="rule 1 head"/>
          <p:cNvSpPr txBox="1"/>
          <p:nvPr/>
        </p:nvSpPr>
        <p:spPr>
          <a:xfrm>
            <a:off x="914400" y="166420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Visitor text is text</a:t>
            </a:r>
            <a:endParaRPr lang="en-US" sz="1800" dirty="0"/>
          </a:p>
        </p:txBody>
      </p:sp>
      <p:sp>
        <p:nvSpPr>
          <p:cNvPr id="6" name="rule 1 body"/>
          <p:cNvSpPr txBox="1"/>
          <p:nvPr/>
        </p:nvSpPr>
        <p:spPr>
          <a:xfrm>
            <a:off x="914400" y="2331720"/>
            <a:ext cx="3017520" cy="22860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Show what visitors type as plain text (textContent in JavaScript, {value} in React). Then it can never act like code.</a:t>
            </a:r>
            <a:endParaRPr lang="en-US" sz="1800" dirty="0"/>
          </a:p>
        </p:txBody>
      </p:sp>
      <p:sp>
        <p:nvSpPr>
          <p:cNvPr id="7" name="rule 2 card"/>
          <p:cNvSpPr/>
          <p:nvPr/>
        </p:nvSpPr>
        <p:spPr>
          <a:xfrm>
            <a:off x="4389120" y="1645920"/>
            <a:ext cx="3383280" cy="3108960"/>
          </a:xfrm>
          <a:prstGeom prst="roundRect">
            <a:avLst>
              <a:gd name="adj" fmla="val 3529"/>
            </a:avLst>
          </a:prstGeom>
          <a:solidFill>
            <a:schemeClr val="bg1"/>
          </a:solidFill>
          <a:ln w="38100">
            <a:solidFill>
              <a:schemeClr val="accent3"/>
            </a:solidFill>
            <a:prstDash val="solid"/>
          </a:ln>
        </p:spPr>
      </p:sp>
      <p:sp>
        <p:nvSpPr>
          <p:cNvPr id="8" name="rule 2 band"/>
          <p:cNvSpPr/>
          <p:nvPr/>
        </p:nvSpPr>
        <p:spPr>
          <a:xfrm>
            <a:off x="4407408" y="1664208"/>
            <a:ext cx="3346704" cy="548640"/>
          </a:xfrm>
          <a:prstGeom prst="rect">
            <a:avLst/>
          </a:prstGeom>
          <a:solidFill>
            <a:schemeClr val="accent3"/>
          </a:solidFill>
          <a:ln w="12700">
            <a:solidFill>
              <a:schemeClr val="accent3"/>
            </a:solidFill>
            <a:prstDash val="solid"/>
          </a:ln>
        </p:spPr>
      </p:sp>
      <p:sp>
        <p:nvSpPr>
          <p:cNvPr id="9" name="rule 2 head"/>
          <p:cNvSpPr txBox="1"/>
          <p:nvPr/>
        </p:nvSpPr>
        <p:spPr>
          <a:xfrm>
            <a:off x="4572000" y="166420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Check it twice</a:t>
            </a:r>
            <a:endParaRPr lang="en-US" sz="1800" dirty="0"/>
          </a:p>
        </p:txBody>
      </p:sp>
      <p:sp>
        <p:nvSpPr>
          <p:cNvPr id="10" name="rule 2 body"/>
          <p:cNvSpPr txBox="1"/>
          <p:nvPr/>
        </p:nvSpPr>
        <p:spPr>
          <a:xfrm>
            <a:off x="4572000" y="2331720"/>
            <a:ext cx="3017520" cy="22860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Check input in the browser for a friendly message, and again on the server or database, which is the real gate.</a:t>
            </a:r>
            <a:endParaRPr lang="en-US" sz="1800" dirty="0"/>
          </a:p>
        </p:txBody>
      </p:sp>
      <p:sp>
        <p:nvSpPr>
          <p:cNvPr id="11" name="rule 3 card"/>
          <p:cNvSpPr/>
          <p:nvPr/>
        </p:nvSpPr>
        <p:spPr>
          <a:xfrm>
            <a:off x="8046720" y="1645920"/>
            <a:ext cx="3383280" cy="3108960"/>
          </a:xfrm>
          <a:prstGeom prst="roundRect">
            <a:avLst>
              <a:gd name="adj" fmla="val 3529"/>
            </a:avLst>
          </a:prstGeom>
          <a:solidFill>
            <a:schemeClr val="bg1"/>
          </a:solidFill>
          <a:ln w="38100">
            <a:solidFill>
              <a:schemeClr val="tx2"/>
            </a:solidFill>
            <a:prstDash val="solid"/>
          </a:ln>
        </p:spPr>
      </p:sp>
      <p:sp>
        <p:nvSpPr>
          <p:cNvPr id="12" name="rule 3 band"/>
          <p:cNvSpPr/>
          <p:nvPr/>
        </p:nvSpPr>
        <p:spPr>
          <a:xfrm>
            <a:off x="8065008" y="1664208"/>
            <a:ext cx="3346704" cy="548640"/>
          </a:xfrm>
          <a:prstGeom prst="rect">
            <a:avLst/>
          </a:prstGeom>
          <a:solidFill>
            <a:schemeClr val="tx2"/>
          </a:solidFill>
          <a:ln w="12700">
            <a:solidFill>
              <a:schemeClr val="tx2"/>
            </a:solidFill>
            <a:prstDash val="solid"/>
          </a:ln>
        </p:spPr>
      </p:sp>
      <p:sp>
        <p:nvSpPr>
          <p:cNvPr id="13" name="rule 3 head"/>
          <p:cNvSpPr txBox="1"/>
          <p:nvPr/>
        </p:nvSpPr>
        <p:spPr>
          <a:xfrm>
            <a:off x="8229600" y="1664208"/>
            <a:ext cx="3017520" cy="548640"/>
          </a:xfrm>
          <a:prstGeom prst="rect">
            <a:avLst/>
          </a:prstGeom>
          <a:noFill/>
          <a:ln/>
        </p:spPr>
        <p:txBody>
          <a:bodyPr wrap="square" lIns="0" tIns="0" rIns="0" bIns="0" rtlCol="0" anchor="ctr"/>
          <a:lstStyle/>
          <a:p>
            <a:pPr indent="0" marL="0">
              <a:buNone/>
            </a:pPr>
            <a:r>
              <a:rPr lang="en-US" sz="1800" b="1" dirty="0">
                <a:solidFill>
                  <a:schemeClr val="bg1"/>
                </a:solidFill>
              </a:rPr>
              <a:t>Secrets stay backstage</a:t>
            </a:r>
            <a:endParaRPr lang="en-US" sz="1800" dirty="0"/>
          </a:p>
        </p:txBody>
      </p:sp>
      <p:sp>
        <p:nvSpPr>
          <p:cNvPr id="14" name="rule 3 body"/>
          <p:cNvSpPr txBox="1"/>
          <p:nvPr/>
        </p:nvSpPr>
        <p:spPr>
          <a:xfrm>
            <a:off x="8229600" y="2331720"/>
            <a:ext cx="3017520" cy="22860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Anything in browser code is public. Secrets live in a .env file on the server, and .env never goes to GitHub.</a:t>
            </a:r>
            <a:endParaRPr lang="en-US" sz="1800" dirty="0"/>
          </a:p>
        </p:txBody>
      </p:sp>
      <p:sp>
        <p:nvSpPr>
          <p:cNvPr id="15" name="Text 13"/>
          <p:cNvSpPr txBox="1"/>
          <p:nvPr/>
        </p:nvSpPr>
        <p:spPr>
          <a:xfrm>
            <a:off x="731520" y="5120640"/>
            <a:ext cx="10789920" cy="548640"/>
          </a:xfrm>
          <a:prstGeom prst="rect">
            <a:avLst/>
          </a:prstGeom>
          <a:noFill/>
          <a:ln/>
        </p:spPr>
        <p:txBody>
          <a:bodyPr wrap="square" lIns="0" tIns="0" rIns="0" bIns="0" rtlCol="0" anchor="ctr"/>
          <a:lstStyle/>
          <a:p>
            <a:pPr algn="ctr" indent="0" marL="0">
              <a:buNone/>
            </a:pPr>
            <a:r>
              <a:rPr lang="en-US" sz="2000" b="1" dirty="0">
                <a:solidFill>
                  <a:schemeClr val="accent1"/>
                </a:solidFill>
              </a:rPr>
              <a:t>A ride is only fun if it is safe for everyone who gets on.</a:t>
            </a:r>
            <a:endParaRPr lang="en-US" sz="20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1"/>
          <p:cNvSpPr/>
          <p:nvPr>
            <p:ph idx="121" type="title" hasCustomPrompt="1"/>
          </p:nvPr>
        </p:nvSpPr>
        <p:spPr>
          <a:xfrm>
            <a:off x="731520" y="2103120"/>
            <a:ext cx="10698480" cy="1280160"/>
          </a:xfrm>
          <a:prstGeom prst="rect">
            <a:avLst/>
          </a:prstGeom>
          <a:noFill/>
          <a:ln/>
        </p:spPr>
        <p:txBody>
          <a:bodyPr wrap="square" lIns="0" tIns="0" rIns="0" bIns="0" rtlCol="0" anchor="ctr"/>
          <a:lstStyle/>
          <a:p>
            <a:pPr algn="ctr" indent="0" marL="0">
              <a:buNone/>
            </a:pPr>
            <a:r>
              <a:rPr lang="en-US" sz="5400" b="1" dirty="0">
                <a:solidFill>
                  <a:schemeClr val="accent2"/>
                </a:solidFill>
              </a:rPr>
              <a:t>The Midway Is Open</a:t>
            </a:r>
            <a:endParaRPr lang="en-US" sz="5400" dirty="0"/>
          </a:p>
        </p:txBody>
      </p:sp>
      <p:sp>
        <p:nvSpPr>
          <p:cNvPr id="3" name="Text 21"/>
          <p:cNvSpPr/>
          <p:nvPr>
            <p:ph idx="122" type="body" hasCustomPrompt="1"/>
          </p:nvPr>
        </p:nvSpPr>
        <p:spPr>
          <a:xfrm>
            <a:off x="1371600" y="3474720"/>
            <a:ext cx="9418320" cy="1097280"/>
          </a:xfrm>
          <a:prstGeom prst="rect">
            <a:avLst/>
          </a:prstGeom>
          <a:noFill/>
          <a:ln/>
        </p:spPr>
        <p:txBody>
          <a:bodyPr wrap="square" lIns="0" tIns="0" rIns="0" bIns="0" rtlCol="0" anchor="t"/>
          <a:lstStyle/>
          <a:p>
            <a:pPr algn="ctr" indent="0" marL="0">
              <a:buNone/>
            </a:pPr>
            <a:r>
              <a:rPr lang="en-US" sz="2200" dirty="0">
                <a:solidFill>
                  <a:schemeClr val="bg2"/>
                </a:solidFill>
              </a:rPr>
              <a:t>Three booths. About 13 minutes each. Rotate on the kazoo.</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Rotation Map</a:t>
            </a:r>
            <a:endParaRPr lang="en-US" sz="3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698480" cy="914400"/>
        </p:xfrm>
        <a:graphic>
          <a:graphicData uri="http://schemas.openxmlformats.org/drawingml/2006/table">
            <a:tbl>
              <a:tblPr/>
              <a:tblGrid>
                <a:gridCol w="2468880"/>
                <a:gridCol w="2743200"/>
                <a:gridCol w="2743200"/>
                <a:gridCol w="2743200"/>
              </a:tblGrid>
              <a:tr h="731520">
                <a:tc>
                  <a:txBody>
                    <a:bodyPr/>
                    <a:lstStyle/>
                    <a:p>
                      <a:pPr algn="ctr" indent="0" marL="0">
                        <a:buNone/>
                      </a:pPr>
                      <a:r>
                        <a:rPr lang="en-US" sz="2000" b="1" dirty="0">
                          <a:solidFill>
                            <a:schemeClr val="bg1"/>
                          </a:solidFill>
                        </a:rPr>
                        <a:t>Round</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tx2"/>
                    </a:solidFill>
                  </a:tcPr>
                </a:tc>
                <a:tc>
                  <a:txBody>
                    <a:bodyPr/>
                    <a:lstStyle/>
                    <a:p>
                      <a:pPr algn="ctr" indent="0" marL="0">
                        <a:buNone/>
                      </a:pPr>
                      <a:r>
                        <a:rPr lang="en-US" sz="2000" b="1" dirty="0">
                          <a:solidFill>
                            <a:schemeClr val="bg1"/>
                          </a:solidFill>
                        </a:rPr>
                        <a:t>Ring Toss</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1"/>
                    </a:solidFill>
                  </a:tcPr>
                </a:tc>
                <a:tc>
                  <a:txBody>
                    <a:bodyPr/>
                    <a:lstStyle/>
                    <a:p>
                      <a:pPr algn="ctr" indent="0" marL="0">
                        <a:buNone/>
                      </a:pPr>
                      <a:r>
                        <a:rPr lang="en-US" sz="2000" b="1" dirty="0">
                          <a:solidFill>
                            <a:schemeClr val="bg1"/>
                          </a:solidFill>
                        </a:rPr>
                        <a:t>Fun House</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3"/>
                    </a:solidFill>
                  </a:tcPr>
                </a:tc>
                <a:tc>
                  <a:txBody>
                    <a:bodyPr/>
                    <a:lstStyle/>
                    <a:p>
                      <a:pPr algn="ctr" indent="0" marL="0">
                        <a:buNone/>
                      </a:pPr>
                      <a:r>
                        <a:rPr lang="en-US" sz="2000" b="1" dirty="0">
                          <a:solidFill>
                            <a:schemeClr val="tx1"/>
                          </a:solidFill>
                        </a:rPr>
                        <a:t>Safety Inspector</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accent2"/>
                    </a:solidFill>
                  </a:tcPr>
                </a:tc>
              </a:tr>
              <a:tr h="731520">
                <a:tc>
                  <a:txBody>
                    <a:bodyPr/>
                    <a:lstStyle/>
                    <a:p>
                      <a:pPr algn="ctr" indent="0" marL="0">
                        <a:buNone/>
                      </a:pPr>
                      <a:r>
                        <a:rPr lang="en-US" sz="2000" dirty="0">
                          <a:solidFill>
                            <a:schemeClr val="tx1"/>
                          </a:solidFill>
                        </a:rPr>
                        <a:t>Round 1  (0:40)</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1, 2, 3</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4, 5, 6</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7, 8, 9</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r>
              <a:tr h="731520">
                <a:tc>
                  <a:txBody>
                    <a:bodyPr/>
                    <a:lstStyle/>
                    <a:p>
                      <a:pPr algn="ctr" indent="0" marL="0">
                        <a:buNone/>
                      </a:pPr>
                      <a:r>
                        <a:rPr lang="en-US" sz="2000" dirty="0">
                          <a:solidFill>
                            <a:schemeClr val="tx1"/>
                          </a:solidFill>
                        </a:rPr>
                        <a:t>Round 2  (0:53)</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7, 8, 9</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1, 2, 3</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4, 5, 6</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r>
              <a:tr h="731520">
                <a:tc>
                  <a:txBody>
                    <a:bodyPr/>
                    <a:lstStyle/>
                    <a:p>
                      <a:pPr algn="ctr" indent="0" marL="0">
                        <a:buNone/>
                      </a:pPr>
                      <a:r>
                        <a:rPr lang="en-US" sz="2000" dirty="0">
                          <a:solidFill>
                            <a:schemeClr val="tx1"/>
                          </a:solidFill>
                        </a:rPr>
                        <a:t>Round 3  (1:06)</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4, 5, 6</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7, 8, 9</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Teams 1, 2, 3</a:t>
                      </a:r>
                      <a:endParaRPr lang="en-US" sz="2000" dirty="0"/>
                    </a:p>
                  </a:txBody>
                  <a:tcPr marL="91440" marR="91440" marT="45720" marB="45720" anchor="ct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731520" y="4937760"/>
            <a:ext cx="10698480" cy="548640"/>
          </a:xfrm>
          <a:prstGeom prst="rect">
            <a:avLst/>
          </a:prstGeom>
          <a:noFill/>
          <a:ln/>
        </p:spPr>
        <p:txBody>
          <a:bodyPr wrap="square" lIns="0" tIns="0" rIns="0" bIns="0" rtlCol="0" anchor="ctr"/>
          <a:lstStyle/>
          <a:p>
            <a:pPr algn="ctr" indent="0" marL="0">
              <a:buNone/>
            </a:pPr>
            <a:r>
              <a:rPr lang="en-US" sz="1700" dirty="0">
                <a:solidFill>
                  <a:schemeClr val="accent3"/>
                </a:solidFill>
              </a:rPr>
              <a:t>Ring Toss: on your own laptop  |  Fun House: one driver, two navigators  |  Safety Inspector: with me</a:t>
            </a:r>
            <a:endParaRPr lang="en-US" sz="17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Booth 1: The Ring Toss  (ring-toss/)</a:t>
            </a:r>
            <a:endParaRPr lang="en-US" sz="3400" dirty="0"/>
          </a:p>
        </p:txBody>
      </p:sp>
      <p:sp>
        <p:nvSpPr>
          <p:cNvPr id="3" name="Bronze ticket"/>
          <p:cNvSpPr/>
          <p:nvPr/>
        </p:nvSpPr>
        <p:spPr>
          <a:xfrm>
            <a:off x="731520" y="1645920"/>
            <a:ext cx="1371600" cy="502920"/>
          </a:xfrm>
          <a:prstGeom prst="rect">
            <a:avLst/>
          </a:prstGeom>
          <a:solidFill>
            <a:schemeClr val="accent1"/>
          </a:solidFill>
          <a:ln w="25400">
            <a:solidFill>
              <a:schemeClr val="tx2"/>
            </a:solidFill>
            <a:prstDash val="dash"/>
          </a:ln>
        </p:spPr>
      </p:sp>
      <p:sp>
        <p:nvSpPr>
          <p:cNvPr id="4" name="Text 2"/>
          <p:cNvSpPr txBox="1"/>
          <p:nvPr/>
        </p:nvSpPr>
        <p:spPr>
          <a:xfrm>
            <a:off x="731520" y="164592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Bronze</a:t>
            </a:r>
            <a:endParaRPr lang="en-US" sz="1600" dirty="0"/>
          </a:p>
        </p:txBody>
      </p:sp>
      <p:sp>
        <p:nvSpPr>
          <p:cNvPr id="5" name="Text 3"/>
          <p:cNvSpPr txBox="1"/>
          <p:nvPr/>
        </p:nvSpPr>
        <p:spPr>
          <a:xfrm>
            <a:off x="2377440" y="1554480"/>
            <a:ext cx="9144000" cy="685800"/>
          </a:xfrm>
          <a:prstGeom prst="rect">
            <a:avLst/>
          </a:prstGeom>
          <a:noFill/>
          <a:ln/>
        </p:spPr>
        <p:txBody>
          <a:bodyPr wrap="square" lIns="0" tIns="0" rIns="0" bIns="0" rtlCol="0" anchor="ctr"/>
          <a:lstStyle/>
          <a:p>
            <a:pPr indent="0" marL="0">
              <a:buNone/>
            </a:pPr>
            <a:r>
              <a:rPr lang="en-US" sz="1900" dirty="0">
                <a:solidFill>
                  <a:schemeClr val="tx1"/>
                </a:solidFill>
              </a:rPr>
              <a:t>Change numbers and colors: recolor the Ferris wheel, add cars, make it spin faster or backwards.</a:t>
            </a:r>
            <a:endParaRPr lang="en-US" sz="1900" dirty="0"/>
          </a:p>
        </p:txBody>
      </p:sp>
      <p:sp>
        <p:nvSpPr>
          <p:cNvPr id="6" name="Silver ticket"/>
          <p:cNvSpPr/>
          <p:nvPr/>
        </p:nvSpPr>
        <p:spPr>
          <a:xfrm>
            <a:off x="731520" y="2697480"/>
            <a:ext cx="1371600" cy="502920"/>
          </a:xfrm>
          <a:prstGeom prst="rect">
            <a:avLst/>
          </a:prstGeom>
          <a:solidFill>
            <a:schemeClr val="accent3"/>
          </a:solidFill>
          <a:ln w="25400">
            <a:solidFill>
              <a:schemeClr val="tx2"/>
            </a:solidFill>
            <a:prstDash val="dash"/>
          </a:ln>
        </p:spPr>
      </p:sp>
      <p:sp>
        <p:nvSpPr>
          <p:cNvPr id="7" name="Text 5"/>
          <p:cNvSpPr txBox="1"/>
          <p:nvPr/>
        </p:nvSpPr>
        <p:spPr>
          <a:xfrm>
            <a:off x="731520" y="269748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Silver</a:t>
            </a:r>
            <a:endParaRPr lang="en-US" sz="1600" dirty="0"/>
          </a:p>
        </p:txBody>
      </p:sp>
      <p:sp>
        <p:nvSpPr>
          <p:cNvPr id="8" name="Text 6"/>
          <p:cNvSpPr txBox="1"/>
          <p:nvPr/>
        </p:nvSpPr>
        <p:spPr>
          <a:xfrm>
            <a:off x="2377440" y="2606040"/>
            <a:ext cx="9144000" cy="685800"/>
          </a:xfrm>
          <a:prstGeom prst="rect">
            <a:avLst/>
          </a:prstGeom>
          <a:noFill/>
          <a:ln/>
        </p:spPr>
        <p:txBody>
          <a:bodyPr wrap="square" lIns="0" tIns="0" rIns="0" bIns="0" rtlCol="0" anchor="ctr"/>
          <a:lstStyle/>
          <a:p>
            <a:pPr indent="0" marL="0">
              <a:buNone/>
            </a:pPr>
            <a:r>
              <a:rPr lang="en-US" sz="1900" dirty="0">
                <a:solidFill>
                  <a:schemeClr val="tx1"/>
                </a:solidFill>
              </a:rPr>
              <a:t>Add a new actor: build a tent from a box shape and a cone shape (BoxGeometry, ConeGeometry).</a:t>
            </a:r>
            <a:endParaRPr lang="en-US" sz="1900" dirty="0"/>
          </a:p>
        </p:txBody>
      </p:sp>
      <p:sp>
        <p:nvSpPr>
          <p:cNvPr id="9" name="Gold ticket"/>
          <p:cNvSpPr/>
          <p:nvPr/>
        </p:nvSpPr>
        <p:spPr>
          <a:xfrm>
            <a:off x="731520" y="3749040"/>
            <a:ext cx="1371600" cy="502920"/>
          </a:xfrm>
          <a:prstGeom prst="rect">
            <a:avLst/>
          </a:prstGeom>
          <a:solidFill>
            <a:schemeClr val="accent2"/>
          </a:solidFill>
          <a:ln w="25400">
            <a:solidFill>
              <a:schemeClr val="tx2"/>
            </a:solidFill>
            <a:prstDash val="dash"/>
          </a:ln>
        </p:spPr>
      </p:sp>
      <p:sp>
        <p:nvSpPr>
          <p:cNvPr id="10" name="Text 8"/>
          <p:cNvSpPr txBox="1"/>
          <p:nvPr/>
        </p:nvSpPr>
        <p:spPr>
          <a:xfrm>
            <a:off x="731520" y="3749040"/>
            <a:ext cx="1371600" cy="502920"/>
          </a:xfrm>
          <a:prstGeom prst="rect">
            <a:avLst/>
          </a:prstGeom>
          <a:noFill/>
          <a:ln/>
        </p:spPr>
        <p:txBody>
          <a:bodyPr wrap="square" lIns="0" tIns="0" rIns="0" bIns="0" rtlCol="0" anchor="ctr"/>
          <a:lstStyle/>
          <a:p>
            <a:pPr algn="ctr" indent="0" marL="0">
              <a:buNone/>
            </a:pPr>
            <a:r>
              <a:rPr lang="en-US" sz="1600" b="1" dirty="0">
                <a:solidFill>
                  <a:schemeClr val="tx1"/>
                </a:solidFill>
              </a:rPr>
              <a:t>Gold</a:t>
            </a:r>
            <a:endParaRPr lang="en-US" sz="1600" dirty="0"/>
          </a:p>
        </p:txBody>
      </p:sp>
      <p:sp>
        <p:nvSpPr>
          <p:cNvPr id="11" name="Text 9"/>
          <p:cNvSpPr txBox="1"/>
          <p:nvPr/>
        </p:nvSpPr>
        <p:spPr>
          <a:xfrm>
            <a:off x="2377440" y="3657600"/>
            <a:ext cx="9144000" cy="685800"/>
          </a:xfrm>
          <a:prstGeom prst="rect">
            <a:avLst/>
          </a:prstGeom>
          <a:noFill/>
          <a:ln/>
        </p:spPr>
        <p:txBody>
          <a:bodyPr wrap="square" lIns="0" tIns="0" rIns="0" bIns="0" rtlCol="0" anchor="ctr"/>
          <a:lstStyle/>
          <a:p>
            <a:pPr indent="0" marL="0">
              <a:buNone/>
            </a:pPr>
            <a:r>
              <a:rPr lang="en-US" sz="1900" dirty="0">
                <a:solidFill>
                  <a:schemeClr val="tx1"/>
                </a:solidFill>
              </a:rPr>
              <a:t>Make it a game: clicking a peg drops a ring (a donut shape) onto it. The click detection is done for you.</a:t>
            </a:r>
            <a:endParaRPr lang="en-US" sz="1900" dirty="0"/>
          </a:p>
        </p:txBody>
      </p:sp>
      <p:sp>
        <p:nvSpPr>
          <p:cNvPr id="12" name="Bonus ticket"/>
          <p:cNvSpPr/>
          <p:nvPr/>
        </p:nvSpPr>
        <p:spPr>
          <a:xfrm>
            <a:off x="731520" y="4800600"/>
            <a:ext cx="1371600" cy="502920"/>
          </a:xfrm>
          <a:prstGeom prst="rect">
            <a:avLst/>
          </a:prstGeom>
          <a:solidFill>
            <a:schemeClr val="tx2"/>
          </a:solidFill>
          <a:ln w="25400">
            <a:solidFill>
              <a:schemeClr val="tx2"/>
            </a:solidFill>
            <a:prstDash val="dash"/>
          </a:ln>
        </p:spPr>
      </p:sp>
      <p:sp>
        <p:nvSpPr>
          <p:cNvPr id="13" name="Text 11"/>
          <p:cNvSpPr txBox="1"/>
          <p:nvPr/>
        </p:nvSpPr>
        <p:spPr>
          <a:xfrm>
            <a:off x="731520" y="480060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Bonus</a:t>
            </a:r>
            <a:endParaRPr lang="en-US" sz="1600" dirty="0"/>
          </a:p>
        </p:txBody>
      </p:sp>
      <p:sp>
        <p:nvSpPr>
          <p:cNvPr id="14" name="Text 12"/>
          <p:cNvSpPr txBox="1"/>
          <p:nvPr/>
        </p:nvSpPr>
        <p:spPr>
          <a:xfrm>
            <a:off x="2377440" y="4709160"/>
            <a:ext cx="9144000" cy="685800"/>
          </a:xfrm>
          <a:prstGeom prst="rect">
            <a:avLst/>
          </a:prstGeom>
          <a:noFill/>
          <a:ln/>
        </p:spPr>
        <p:txBody>
          <a:bodyPr wrap="square" lIns="0" tIns="0" rIns="0" bIns="0" rtlCol="0" anchor="ctr"/>
          <a:lstStyle/>
          <a:p>
            <a:pPr indent="0" marL="0">
              <a:buNone/>
            </a:pPr>
            <a:r>
              <a:rPr lang="en-US" sz="1900" dirty="0">
                <a:solidFill>
                  <a:schemeClr val="tx1"/>
                </a:solidFill>
              </a:rPr>
              <a:t>Drag to look around (OrbitControls), blinking lights, or load a free 3D model file.</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Booth 2: The Fun House  (fun-house/)</a:t>
            </a:r>
            <a:endParaRPr lang="en-US" sz="3400" dirty="0"/>
          </a:p>
        </p:txBody>
      </p:sp>
      <p:sp>
        <p:nvSpPr>
          <p:cNvPr id="3" name="Bronze ticket"/>
          <p:cNvSpPr/>
          <p:nvPr/>
        </p:nvSpPr>
        <p:spPr>
          <a:xfrm>
            <a:off x="731520" y="1645920"/>
            <a:ext cx="1371600" cy="502920"/>
          </a:xfrm>
          <a:prstGeom prst="rect">
            <a:avLst/>
          </a:prstGeom>
          <a:solidFill>
            <a:schemeClr val="accent1"/>
          </a:solidFill>
          <a:ln w="25400">
            <a:solidFill>
              <a:schemeClr val="tx2"/>
            </a:solidFill>
            <a:prstDash val="dash"/>
          </a:ln>
        </p:spPr>
      </p:sp>
      <p:sp>
        <p:nvSpPr>
          <p:cNvPr id="4" name="Text 2"/>
          <p:cNvSpPr txBox="1"/>
          <p:nvPr/>
        </p:nvSpPr>
        <p:spPr>
          <a:xfrm>
            <a:off x="731520" y="164592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Bronze</a:t>
            </a:r>
            <a:endParaRPr lang="en-US" sz="1600" dirty="0"/>
          </a:p>
        </p:txBody>
      </p:sp>
      <p:sp>
        <p:nvSpPr>
          <p:cNvPr id="5" name="Text 3"/>
          <p:cNvSpPr txBox="1"/>
          <p:nvPr/>
        </p:nvSpPr>
        <p:spPr>
          <a:xfrm>
            <a:off x="2377440" y="1554480"/>
            <a:ext cx="9144000" cy="685800"/>
          </a:xfrm>
          <a:prstGeom prst="rect">
            <a:avLst/>
          </a:prstGeom>
          <a:noFill/>
          <a:ln/>
        </p:spPr>
        <p:txBody>
          <a:bodyPr wrap="square" lIns="0" tIns="0" rIns="0" bIns="0" rtlCol="0" anchor="ctr"/>
          <a:lstStyle/>
          <a:p>
            <a:pPr indent="0" marL="0">
              <a:buNone/>
            </a:pPr>
            <a:r>
              <a:rPr lang="en-US" sz="1900" dirty="0">
                <a:solidFill>
                  <a:schemeClr val="tx1"/>
                </a:solidFill>
              </a:rPr>
              <a:t>Tailwind: style the plain prize card using the cheat sheet in the code comments.</a:t>
            </a:r>
            <a:endParaRPr lang="en-US" sz="1900" dirty="0"/>
          </a:p>
        </p:txBody>
      </p:sp>
      <p:sp>
        <p:nvSpPr>
          <p:cNvPr id="6" name="Silver ticket"/>
          <p:cNvSpPr/>
          <p:nvPr/>
        </p:nvSpPr>
        <p:spPr>
          <a:xfrm>
            <a:off x="731520" y="2697480"/>
            <a:ext cx="1371600" cy="502920"/>
          </a:xfrm>
          <a:prstGeom prst="rect">
            <a:avLst/>
          </a:prstGeom>
          <a:solidFill>
            <a:schemeClr val="accent3"/>
          </a:solidFill>
          <a:ln w="25400">
            <a:solidFill>
              <a:schemeClr val="tx2"/>
            </a:solidFill>
            <a:prstDash val="dash"/>
          </a:ln>
        </p:spPr>
      </p:sp>
      <p:sp>
        <p:nvSpPr>
          <p:cNvPr id="7" name="Text 5"/>
          <p:cNvSpPr txBox="1"/>
          <p:nvPr/>
        </p:nvSpPr>
        <p:spPr>
          <a:xfrm>
            <a:off x="731520" y="269748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Silver</a:t>
            </a:r>
            <a:endParaRPr lang="en-US" sz="1600" dirty="0"/>
          </a:p>
        </p:txBody>
      </p:sp>
      <p:sp>
        <p:nvSpPr>
          <p:cNvPr id="8" name="Text 6"/>
          <p:cNvSpPr txBox="1"/>
          <p:nvPr/>
        </p:nvSpPr>
        <p:spPr>
          <a:xfrm>
            <a:off x="2377440" y="2606040"/>
            <a:ext cx="9144000" cy="685800"/>
          </a:xfrm>
          <a:prstGeom prst="rect">
            <a:avLst/>
          </a:prstGeom>
          <a:noFill/>
          <a:ln/>
        </p:spPr>
        <p:txBody>
          <a:bodyPr wrap="square" lIns="0" tIns="0" rIns="0" bIns="0" rtlCol="0" anchor="ctr"/>
          <a:lstStyle/>
          <a:p>
            <a:pPr indent="0" marL="0">
              <a:buNone/>
            </a:pPr>
            <a:r>
              <a:rPr lang="en-US" sz="1900" dirty="0">
                <a:solidFill>
                  <a:schemeClr val="tx1"/>
                </a:solidFill>
              </a:rPr>
              <a:t>DaisyUI: add theme buttons and build two more booth cards from components.</a:t>
            </a:r>
            <a:endParaRPr lang="en-US" sz="1900" dirty="0"/>
          </a:p>
        </p:txBody>
      </p:sp>
      <p:sp>
        <p:nvSpPr>
          <p:cNvPr id="9" name="Gold ticket"/>
          <p:cNvSpPr/>
          <p:nvPr/>
        </p:nvSpPr>
        <p:spPr>
          <a:xfrm>
            <a:off x="731520" y="3749040"/>
            <a:ext cx="1371600" cy="502920"/>
          </a:xfrm>
          <a:prstGeom prst="rect">
            <a:avLst/>
          </a:prstGeom>
          <a:solidFill>
            <a:schemeClr val="accent2"/>
          </a:solidFill>
          <a:ln w="25400">
            <a:solidFill>
              <a:schemeClr val="tx2"/>
            </a:solidFill>
            <a:prstDash val="dash"/>
          </a:ln>
        </p:spPr>
      </p:sp>
      <p:sp>
        <p:nvSpPr>
          <p:cNvPr id="10" name="Text 8"/>
          <p:cNvSpPr txBox="1"/>
          <p:nvPr/>
        </p:nvSpPr>
        <p:spPr>
          <a:xfrm>
            <a:off x="731520" y="3749040"/>
            <a:ext cx="1371600" cy="502920"/>
          </a:xfrm>
          <a:prstGeom prst="rect">
            <a:avLst/>
          </a:prstGeom>
          <a:noFill/>
          <a:ln/>
        </p:spPr>
        <p:txBody>
          <a:bodyPr wrap="square" lIns="0" tIns="0" rIns="0" bIns="0" rtlCol="0" anchor="ctr"/>
          <a:lstStyle/>
          <a:p>
            <a:pPr algn="ctr" indent="0" marL="0">
              <a:buNone/>
            </a:pPr>
            <a:r>
              <a:rPr lang="en-US" sz="1600" b="1" dirty="0">
                <a:solidFill>
                  <a:schemeClr val="tx1"/>
                </a:solidFill>
              </a:rPr>
              <a:t>Gold</a:t>
            </a:r>
            <a:endParaRPr lang="en-US" sz="1600" dirty="0"/>
          </a:p>
        </p:txBody>
      </p:sp>
      <p:sp>
        <p:nvSpPr>
          <p:cNvPr id="11" name="Text 9"/>
          <p:cNvSpPr txBox="1"/>
          <p:nvPr/>
        </p:nvSpPr>
        <p:spPr>
          <a:xfrm>
            <a:off x="2377440" y="3657600"/>
            <a:ext cx="9144000" cy="685800"/>
          </a:xfrm>
          <a:prstGeom prst="rect">
            <a:avLst/>
          </a:prstGeom>
          <a:noFill/>
          <a:ln/>
        </p:spPr>
        <p:txBody>
          <a:bodyPr wrap="square" lIns="0" tIns="0" rIns="0" bIns="0" rtlCol="0" anchor="ctr"/>
          <a:lstStyle/>
          <a:p>
            <a:pPr indent="0" marL="0">
              <a:buNone/>
            </a:pPr>
            <a:r>
              <a:rPr lang="en-US" sz="1900" dirty="0">
                <a:solidFill>
                  <a:schemeClr val="tx1"/>
                </a:solidFill>
              </a:rPr>
              <a:t>Animate.css: make each prize do a celebration animation when clicked.</a:t>
            </a:r>
            <a:endParaRPr lang="en-US" sz="1900" dirty="0"/>
          </a:p>
        </p:txBody>
      </p:sp>
      <p:sp>
        <p:nvSpPr>
          <p:cNvPr id="12" name="Bonus ticket"/>
          <p:cNvSpPr/>
          <p:nvPr/>
        </p:nvSpPr>
        <p:spPr>
          <a:xfrm>
            <a:off x="731520" y="4800600"/>
            <a:ext cx="1371600" cy="502920"/>
          </a:xfrm>
          <a:prstGeom prst="rect">
            <a:avLst/>
          </a:prstGeom>
          <a:solidFill>
            <a:schemeClr val="tx2"/>
          </a:solidFill>
          <a:ln w="25400">
            <a:solidFill>
              <a:schemeClr val="tx2"/>
            </a:solidFill>
            <a:prstDash val="dash"/>
          </a:ln>
        </p:spPr>
      </p:sp>
      <p:sp>
        <p:nvSpPr>
          <p:cNvPr id="13" name="Text 11"/>
          <p:cNvSpPr txBox="1"/>
          <p:nvPr/>
        </p:nvSpPr>
        <p:spPr>
          <a:xfrm>
            <a:off x="731520" y="480060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Bonus</a:t>
            </a:r>
            <a:endParaRPr lang="en-US" sz="1600" dirty="0"/>
          </a:p>
        </p:txBody>
      </p:sp>
      <p:sp>
        <p:nvSpPr>
          <p:cNvPr id="14" name="Text 12"/>
          <p:cNvSpPr txBox="1"/>
          <p:nvPr/>
        </p:nvSpPr>
        <p:spPr>
          <a:xfrm>
            <a:off x="2377440" y="4709160"/>
            <a:ext cx="9144000" cy="685800"/>
          </a:xfrm>
          <a:prstGeom prst="rect">
            <a:avLst/>
          </a:prstGeom>
          <a:noFill/>
          <a:ln/>
        </p:spPr>
        <p:txBody>
          <a:bodyPr wrap="square" lIns="0" tIns="0" rIns="0" bIns="0" rtlCol="0" anchor="ctr"/>
          <a:lstStyle/>
          <a:p>
            <a:pPr indent="0" marL="0">
              <a:buNone/>
            </a:pPr>
            <a:r>
              <a:rPr lang="en-US" sz="1900" dirty="0">
                <a:solidFill>
                  <a:schemeClr val="tx1"/>
                </a:solidFill>
              </a:rPr>
              <a:t>Framework Tour: rebuild one card in Bootstrap, Pico.css, Bulma, or shadcn/ui.</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Booth 3: Safety Inspector  (safety-inspector/)</a:t>
            </a:r>
            <a:endParaRPr lang="en-US" sz="3400" dirty="0"/>
          </a:p>
        </p:txBody>
      </p:sp>
      <p:sp>
        <p:nvSpPr>
          <p:cNvPr id="3" name="Bronze ticket"/>
          <p:cNvSpPr/>
          <p:nvPr/>
        </p:nvSpPr>
        <p:spPr>
          <a:xfrm>
            <a:off x="731520" y="1645920"/>
            <a:ext cx="1371600" cy="502920"/>
          </a:xfrm>
          <a:prstGeom prst="rect">
            <a:avLst/>
          </a:prstGeom>
          <a:solidFill>
            <a:schemeClr val="accent1"/>
          </a:solidFill>
          <a:ln w="25400">
            <a:solidFill>
              <a:schemeClr val="tx2"/>
            </a:solidFill>
            <a:prstDash val="dash"/>
          </a:ln>
        </p:spPr>
      </p:sp>
      <p:sp>
        <p:nvSpPr>
          <p:cNvPr id="4" name="Text 2"/>
          <p:cNvSpPr txBox="1"/>
          <p:nvPr/>
        </p:nvSpPr>
        <p:spPr>
          <a:xfrm>
            <a:off x="731520" y="164592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Bronze</a:t>
            </a:r>
            <a:endParaRPr lang="en-US" sz="1600" dirty="0"/>
          </a:p>
        </p:txBody>
      </p:sp>
      <p:sp>
        <p:nvSpPr>
          <p:cNvPr id="5" name="Text 3"/>
          <p:cNvSpPr txBox="1"/>
          <p:nvPr/>
        </p:nvSpPr>
        <p:spPr>
          <a:xfrm>
            <a:off x="2377440" y="1554480"/>
            <a:ext cx="9144000" cy="685800"/>
          </a:xfrm>
          <a:prstGeom prst="rect">
            <a:avLst/>
          </a:prstGeom>
          <a:noFill/>
          <a:ln/>
        </p:spPr>
        <p:txBody>
          <a:bodyPr wrap="square" lIns="0" tIns="0" rIns="0" bIns="0" rtlCol="0" anchor="ctr"/>
          <a:lstStyle/>
          <a:p>
            <a:pPr indent="0" marL="0">
              <a:buNone/>
            </a:pPr>
            <a:r>
              <a:rPr lang="en-US" sz="1900" dirty="0">
                <a:solidFill>
                  <a:schemeClr val="tx1"/>
                </a:solidFill>
              </a:rPr>
              <a:t>Explain to the inspector why the guestbook renders with textContent.</a:t>
            </a:r>
            <a:endParaRPr lang="en-US" sz="1900" dirty="0"/>
          </a:p>
        </p:txBody>
      </p:sp>
      <p:sp>
        <p:nvSpPr>
          <p:cNvPr id="6" name="Silver ticket"/>
          <p:cNvSpPr/>
          <p:nvPr/>
        </p:nvSpPr>
        <p:spPr>
          <a:xfrm>
            <a:off x="731520" y="2697480"/>
            <a:ext cx="1371600" cy="502920"/>
          </a:xfrm>
          <a:prstGeom prst="rect">
            <a:avLst/>
          </a:prstGeom>
          <a:solidFill>
            <a:schemeClr val="accent3"/>
          </a:solidFill>
          <a:ln w="25400">
            <a:solidFill>
              <a:schemeClr val="tx2"/>
            </a:solidFill>
            <a:prstDash val="dash"/>
          </a:ln>
        </p:spPr>
      </p:sp>
      <p:sp>
        <p:nvSpPr>
          <p:cNvPr id="7" name="Text 5"/>
          <p:cNvSpPr txBox="1"/>
          <p:nvPr/>
        </p:nvSpPr>
        <p:spPr>
          <a:xfrm>
            <a:off x="731520" y="269748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Silver</a:t>
            </a:r>
            <a:endParaRPr lang="en-US" sz="1600" dirty="0"/>
          </a:p>
        </p:txBody>
      </p:sp>
      <p:sp>
        <p:nvSpPr>
          <p:cNvPr id="8" name="Text 6"/>
          <p:cNvSpPr txBox="1"/>
          <p:nvPr/>
        </p:nvSpPr>
        <p:spPr>
          <a:xfrm>
            <a:off x="2377440" y="2606040"/>
            <a:ext cx="9144000" cy="685800"/>
          </a:xfrm>
          <a:prstGeom prst="rect">
            <a:avLst/>
          </a:prstGeom>
          <a:noFill/>
          <a:ln/>
        </p:spPr>
        <p:txBody>
          <a:bodyPr wrap="square" lIns="0" tIns="0" rIns="0" bIns="0" rtlCol="0" anchor="ctr"/>
          <a:lstStyle/>
          <a:p>
            <a:pPr indent="0" marL="0">
              <a:buNone/>
            </a:pPr>
            <a:r>
              <a:rPr lang="en-US" sz="1900" dirty="0">
                <a:solidFill>
                  <a:schemeClr val="tx1"/>
                </a:solidFill>
              </a:rPr>
              <a:t>Write validate(): trim, name required, message 1 to 280 characters.</a:t>
            </a:r>
            <a:endParaRPr lang="en-US" sz="1900" dirty="0"/>
          </a:p>
        </p:txBody>
      </p:sp>
      <p:sp>
        <p:nvSpPr>
          <p:cNvPr id="9" name="Gold ticket"/>
          <p:cNvSpPr/>
          <p:nvPr/>
        </p:nvSpPr>
        <p:spPr>
          <a:xfrm>
            <a:off x="731520" y="3749040"/>
            <a:ext cx="1371600" cy="502920"/>
          </a:xfrm>
          <a:prstGeom prst="rect">
            <a:avLst/>
          </a:prstGeom>
          <a:solidFill>
            <a:schemeClr val="accent2"/>
          </a:solidFill>
          <a:ln w="25400">
            <a:solidFill>
              <a:schemeClr val="tx2"/>
            </a:solidFill>
            <a:prstDash val="dash"/>
          </a:ln>
        </p:spPr>
      </p:sp>
      <p:sp>
        <p:nvSpPr>
          <p:cNvPr id="10" name="Text 8"/>
          <p:cNvSpPr txBox="1"/>
          <p:nvPr/>
        </p:nvSpPr>
        <p:spPr>
          <a:xfrm>
            <a:off x="731520" y="3749040"/>
            <a:ext cx="1371600" cy="502920"/>
          </a:xfrm>
          <a:prstGeom prst="rect">
            <a:avLst/>
          </a:prstGeom>
          <a:noFill/>
          <a:ln/>
        </p:spPr>
        <p:txBody>
          <a:bodyPr wrap="square" lIns="0" tIns="0" rIns="0" bIns="0" rtlCol="0" anchor="ctr"/>
          <a:lstStyle/>
          <a:p>
            <a:pPr algn="ctr" indent="0" marL="0">
              <a:buNone/>
            </a:pPr>
            <a:r>
              <a:rPr lang="en-US" sz="1600" b="1" dirty="0">
                <a:solidFill>
                  <a:schemeClr val="tx1"/>
                </a:solidFill>
              </a:rPr>
              <a:t>Gold</a:t>
            </a:r>
            <a:endParaRPr lang="en-US" sz="1600" dirty="0"/>
          </a:p>
        </p:txBody>
      </p:sp>
      <p:sp>
        <p:nvSpPr>
          <p:cNvPr id="11" name="Text 9"/>
          <p:cNvSpPr txBox="1"/>
          <p:nvPr/>
        </p:nvSpPr>
        <p:spPr>
          <a:xfrm>
            <a:off x="2377440" y="3657600"/>
            <a:ext cx="9144000" cy="685800"/>
          </a:xfrm>
          <a:prstGeom prst="rect">
            <a:avLst/>
          </a:prstGeom>
          <a:noFill/>
          <a:ln/>
        </p:spPr>
        <p:txBody>
          <a:bodyPr wrap="square" lIns="0" tIns="0" rIns="0" bIns="0" rtlCol="0" anchor="ctr"/>
          <a:lstStyle/>
          <a:p>
            <a:pPr indent="0" marL="0">
              <a:buNone/>
            </a:pPr>
            <a:r>
              <a:rPr lang="en-US" sz="1900" dirty="0">
                <a:solidFill>
                  <a:schemeClr val="tx1"/>
                </a:solidFill>
              </a:rPr>
              <a:t>Complete all five Inspection Cards on your clipboard with the safe fix.</a:t>
            </a:r>
            <a:endParaRPr lang="en-US" sz="1900" dirty="0"/>
          </a:p>
        </p:txBody>
      </p:sp>
      <p:sp>
        <p:nvSpPr>
          <p:cNvPr id="12" name="Bonus ticket"/>
          <p:cNvSpPr/>
          <p:nvPr/>
        </p:nvSpPr>
        <p:spPr>
          <a:xfrm>
            <a:off x="731520" y="4800600"/>
            <a:ext cx="1371600" cy="502920"/>
          </a:xfrm>
          <a:prstGeom prst="rect">
            <a:avLst/>
          </a:prstGeom>
          <a:solidFill>
            <a:schemeClr val="tx2"/>
          </a:solidFill>
          <a:ln w="25400">
            <a:solidFill>
              <a:schemeClr val="tx2"/>
            </a:solidFill>
            <a:prstDash val="dash"/>
          </a:ln>
        </p:spPr>
      </p:sp>
      <p:sp>
        <p:nvSpPr>
          <p:cNvPr id="13" name="Text 11"/>
          <p:cNvSpPr txBox="1"/>
          <p:nvPr/>
        </p:nvSpPr>
        <p:spPr>
          <a:xfrm>
            <a:off x="731520" y="480060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Bonus</a:t>
            </a:r>
            <a:endParaRPr lang="en-US" sz="1600" dirty="0"/>
          </a:p>
        </p:txBody>
      </p:sp>
      <p:sp>
        <p:nvSpPr>
          <p:cNvPr id="14" name="Text 12"/>
          <p:cNvSpPr txBox="1"/>
          <p:nvPr/>
        </p:nvSpPr>
        <p:spPr>
          <a:xfrm>
            <a:off x="2377440" y="4709160"/>
            <a:ext cx="9144000" cy="685800"/>
          </a:xfrm>
          <a:prstGeom prst="rect">
            <a:avLst/>
          </a:prstGeom>
          <a:noFill/>
          <a:ln/>
        </p:spPr>
        <p:txBody>
          <a:bodyPr wrap="square" lIns="0" tIns="0" rIns="0" bIns="0" rtlCol="0" anchor="ctr"/>
          <a:lstStyle/>
          <a:p>
            <a:pPr indent="0" marL="0">
              <a:buNone/>
            </a:pPr>
            <a:r>
              <a:rPr lang="en-US" sz="1900" dirty="0">
                <a:solidFill>
                  <a:schemeClr val="tx1"/>
                </a:solidFill>
              </a:rPr>
              <a:t>Write database permission rules (RLS) so people can only edit their own posts.</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1"/>
          <p:cNvSpPr/>
          <p:nvPr>
            <p:ph idx="121" type="title" hasCustomPrompt="1"/>
          </p:nvPr>
        </p:nvSpPr>
        <p:spPr>
          <a:xfrm>
            <a:off x="731520" y="2103120"/>
            <a:ext cx="10698480" cy="1280160"/>
          </a:xfrm>
          <a:prstGeom prst="rect">
            <a:avLst/>
          </a:prstGeom>
          <a:noFill/>
          <a:ln/>
        </p:spPr>
        <p:txBody>
          <a:bodyPr wrap="square" lIns="0" tIns="0" rIns="0" bIns="0" rtlCol="0" anchor="ctr"/>
          <a:lstStyle/>
          <a:p>
            <a:pPr algn="ctr" indent="0" marL="0">
              <a:buNone/>
            </a:pPr>
            <a:r>
              <a:rPr lang="en-US" sz="5400" b="1" dirty="0">
                <a:solidFill>
                  <a:schemeClr val="accent2"/>
                </a:solidFill>
              </a:rPr>
              <a:t>Grand Finale</a:t>
            </a:r>
            <a:endParaRPr lang="en-US" sz="5400" dirty="0"/>
          </a:p>
        </p:txBody>
      </p:sp>
      <p:sp>
        <p:nvSpPr>
          <p:cNvPr id="3" name="Text 21"/>
          <p:cNvSpPr/>
          <p:nvPr>
            <p:ph idx="122" type="body" hasCustomPrompt="1"/>
          </p:nvPr>
        </p:nvSpPr>
        <p:spPr>
          <a:xfrm>
            <a:off x="1371600" y="3474720"/>
            <a:ext cx="9418320" cy="1097280"/>
          </a:xfrm>
          <a:prstGeom prst="rect">
            <a:avLst/>
          </a:prstGeom>
          <a:noFill/>
          <a:ln/>
        </p:spPr>
        <p:txBody>
          <a:bodyPr wrap="square" lIns="0" tIns="0" rIns="0" bIns="0" rtlCol="0" anchor="t"/>
          <a:lstStyle/>
          <a:p>
            <a:pPr algn="ctr" indent="0" marL="0">
              <a:buNone/>
            </a:pPr>
            <a:r>
              <a:rPr lang="en-US" sz="2200" dirty="0">
                <a:solidFill>
                  <a:schemeClr val="bg2"/>
                </a:solidFill>
              </a:rPr>
              <a:t>Build Your Own Booth  (your-booth/)</a:t>
            </a:r>
            <a:endParaRPr lang="en-US" sz="2200" dirty="0"/>
          </a:p>
          <a:p>
            <a:pPr algn="ctr" indent="0" marL="0">
              <a:buNone/>
            </a:pPr>
            <a:r>
              <a:rPr lang="en-US" sz="2200" dirty="0">
                <a:solidFill>
                  <a:schemeClr val="bg2"/>
                </a:solidFill>
              </a:rPr>
              <a:t>25 minutes. Doors open at 1:45.</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Your Booth Permit</a:t>
            </a:r>
            <a:endParaRPr lang="en-US" sz="3400" dirty="0"/>
          </a:p>
        </p:txBody>
      </p:sp>
      <p:sp>
        <p:nvSpPr>
          <p:cNvPr id="3" name="Bronze ticket"/>
          <p:cNvSpPr/>
          <p:nvPr/>
        </p:nvSpPr>
        <p:spPr>
          <a:xfrm>
            <a:off x="731520" y="1645920"/>
            <a:ext cx="1371600" cy="502920"/>
          </a:xfrm>
          <a:prstGeom prst="rect">
            <a:avLst/>
          </a:prstGeom>
          <a:solidFill>
            <a:schemeClr val="accent1"/>
          </a:solidFill>
          <a:ln w="25400">
            <a:solidFill>
              <a:schemeClr val="tx2"/>
            </a:solidFill>
            <a:prstDash val="dash"/>
          </a:ln>
        </p:spPr>
      </p:sp>
      <p:sp>
        <p:nvSpPr>
          <p:cNvPr id="4" name="Text 2"/>
          <p:cNvSpPr txBox="1"/>
          <p:nvPr/>
        </p:nvSpPr>
        <p:spPr>
          <a:xfrm>
            <a:off x="731520" y="164592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Bronze</a:t>
            </a:r>
            <a:endParaRPr lang="en-US" sz="1600" dirty="0"/>
          </a:p>
        </p:txBody>
      </p:sp>
      <p:sp>
        <p:nvSpPr>
          <p:cNvPr id="5" name="Text 3"/>
          <p:cNvSpPr txBox="1"/>
          <p:nvPr/>
        </p:nvSpPr>
        <p:spPr>
          <a:xfrm>
            <a:off x="2377440" y="1554480"/>
            <a:ext cx="9144000" cy="685800"/>
          </a:xfrm>
          <a:prstGeom prst="rect">
            <a:avLst/>
          </a:prstGeom>
          <a:noFill/>
          <a:ln/>
        </p:spPr>
        <p:txBody>
          <a:bodyPr wrap="square" lIns="0" tIns="0" rIns="0" bIns="0" rtlCol="0" anchor="ctr"/>
          <a:lstStyle/>
          <a:p>
            <a:pPr indent="0" marL="0">
              <a:buNone/>
            </a:pPr>
            <a:r>
              <a:rPr lang="en-US" sz="1900" dirty="0">
                <a:solidFill>
                  <a:schemeClr val="tx1"/>
                </a:solidFill>
              </a:rPr>
              <a:t>One framework attraction: Tailwind styling, a DaisyUI piece, or an Animate.css effect.</a:t>
            </a:r>
            <a:endParaRPr lang="en-US" sz="1900" dirty="0"/>
          </a:p>
        </p:txBody>
      </p:sp>
      <p:sp>
        <p:nvSpPr>
          <p:cNvPr id="6" name="Silver ticket"/>
          <p:cNvSpPr/>
          <p:nvPr/>
        </p:nvSpPr>
        <p:spPr>
          <a:xfrm>
            <a:off x="731520" y="2697480"/>
            <a:ext cx="1371600" cy="502920"/>
          </a:xfrm>
          <a:prstGeom prst="rect">
            <a:avLst/>
          </a:prstGeom>
          <a:solidFill>
            <a:schemeClr val="accent3"/>
          </a:solidFill>
          <a:ln w="25400">
            <a:solidFill>
              <a:schemeClr val="tx2"/>
            </a:solidFill>
            <a:prstDash val="dash"/>
          </a:ln>
        </p:spPr>
      </p:sp>
      <p:sp>
        <p:nvSpPr>
          <p:cNvPr id="7" name="Text 5"/>
          <p:cNvSpPr txBox="1"/>
          <p:nvPr/>
        </p:nvSpPr>
        <p:spPr>
          <a:xfrm>
            <a:off x="731520" y="269748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Silver</a:t>
            </a:r>
            <a:endParaRPr lang="en-US" sz="1600" dirty="0"/>
          </a:p>
        </p:txBody>
      </p:sp>
      <p:sp>
        <p:nvSpPr>
          <p:cNvPr id="8" name="Text 6"/>
          <p:cNvSpPr txBox="1"/>
          <p:nvPr/>
        </p:nvSpPr>
        <p:spPr>
          <a:xfrm>
            <a:off x="2377440" y="2606040"/>
            <a:ext cx="9144000" cy="685800"/>
          </a:xfrm>
          <a:prstGeom prst="rect">
            <a:avLst/>
          </a:prstGeom>
          <a:noFill/>
          <a:ln/>
        </p:spPr>
        <p:txBody>
          <a:bodyPr wrap="square" lIns="0" tIns="0" rIns="0" bIns="0" rtlCol="0" anchor="ctr"/>
          <a:lstStyle/>
          <a:p>
            <a:pPr indent="0" marL="0">
              <a:buNone/>
            </a:pPr>
            <a:r>
              <a:rPr lang="en-US" sz="1900" dirty="0">
                <a:solidFill>
                  <a:schemeClr val="tx1"/>
                </a:solidFill>
              </a:rPr>
              <a:t>One Three.js attraction in the #stage.</a:t>
            </a:r>
            <a:endParaRPr lang="en-US" sz="1900" dirty="0"/>
          </a:p>
        </p:txBody>
      </p:sp>
      <p:sp>
        <p:nvSpPr>
          <p:cNvPr id="9" name="Gold ticket"/>
          <p:cNvSpPr/>
          <p:nvPr/>
        </p:nvSpPr>
        <p:spPr>
          <a:xfrm>
            <a:off x="731520" y="3749040"/>
            <a:ext cx="1371600" cy="502920"/>
          </a:xfrm>
          <a:prstGeom prst="rect">
            <a:avLst/>
          </a:prstGeom>
          <a:solidFill>
            <a:schemeClr val="accent2"/>
          </a:solidFill>
          <a:ln w="25400">
            <a:solidFill>
              <a:schemeClr val="tx2"/>
            </a:solidFill>
            <a:prstDash val="dash"/>
          </a:ln>
        </p:spPr>
      </p:sp>
      <p:sp>
        <p:nvSpPr>
          <p:cNvPr id="10" name="Text 8"/>
          <p:cNvSpPr txBox="1"/>
          <p:nvPr/>
        </p:nvSpPr>
        <p:spPr>
          <a:xfrm>
            <a:off x="731520" y="3749040"/>
            <a:ext cx="1371600" cy="502920"/>
          </a:xfrm>
          <a:prstGeom prst="rect">
            <a:avLst/>
          </a:prstGeom>
          <a:noFill/>
          <a:ln/>
        </p:spPr>
        <p:txBody>
          <a:bodyPr wrap="square" lIns="0" tIns="0" rIns="0" bIns="0" rtlCol="0" anchor="ctr"/>
          <a:lstStyle/>
          <a:p>
            <a:pPr algn="ctr" indent="0" marL="0">
              <a:buNone/>
            </a:pPr>
            <a:r>
              <a:rPr lang="en-US" sz="1600" b="1" dirty="0">
                <a:solidFill>
                  <a:schemeClr val="tx1"/>
                </a:solidFill>
              </a:rPr>
              <a:t>Gold</a:t>
            </a:r>
            <a:endParaRPr lang="en-US" sz="1600" dirty="0"/>
          </a:p>
        </p:txBody>
      </p:sp>
      <p:sp>
        <p:nvSpPr>
          <p:cNvPr id="11" name="Text 9"/>
          <p:cNvSpPr txBox="1"/>
          <p:nvPr/>
        </p:nvSpPr>
        <p:spPr>
          <a:xfrm>
            <a:off x="2377440" y="3657600"/>
            <a:ext cx="9144000" cy="685800"/>
          </a:xfrm>
          <a:prstGeom prst="rect">
            <a:avLst/>
          </a:prstGeom>
          <a:noFill/>
          <a:ln/>
        </p:spPr>
        <p:txBody>
          <a:bodyPr wrap="square" lIns="0" tIns="0" rIns="0" bIns="0" rtlCol="0" anchor="ctr"/>
          <a:lstStyle/>
          <a:p>
            <a:pPr indent="0" marL="0">
              <a:buNone/>
            </a:pPr>
            <a:r>
              <a:rPr lang="en-US" sz="1900" dirty="0">
                <a:solidFill>
                  <a:schemeClr val="tx1"/>
                </a:solidFill>
              </a:rPr>
              <a:t>One safety feature: a validated visitor input rendered with textContent.</a:t>
            </a:r>
            <a:endParaRPr lang="en-US" sz="1900" dirty="0"/>
          </a:p>
        </p:txBody>
      </p:sp>
      <p:sp>
        <p:nvSpPr>
          <p:cNvPr id="12" name="Bonus ticket"/>
          <p:cNvSpPr/>
          <p:nvPr/>
        </p:nvSpPr>
        <p:spPr>
          <a:xfrm>
            <a:off x="731520" y="4800600"/>
            <a:ext cx="1371600" cy="502920"/>
          </a:xfrm>
          <a:prstGeom prst="rect">
            <a:avLst/>
          </a:prstGeom>
          <a:solidFill>
            <a:schemeClr val="tx2"/>
          </a:solidFill>
          <a:ln w="25400">
            <a:solidFill>
              <a:schemeClr val="tx2"/>
            </a:solidFill>
            <a:prstDash val="dash"/>
          </a:ln>
        </p:spPr>
      </p:sp>
      <p:sp>
        <p:nvSpPr>
          <p:cNvPr id="13" name="Text 11"/>
          <p:cNvSpPr txBox="1"/>
          <p:nvPr/>
        </p:nvSpPr>
        <p:spPr>
          <a:xfrm>
            <a:off x="731520" y="4800600"/>
            <a:ext cx="1371600" cy="502920"/>
          </a:xfrm>
          <a:prstGeom prst="rect">
            <a:avLst/>
          </a:prstGeom>
          <a:noFill/>
          <a:ln/>
        </p:spPr>
        <p:txBody>
          <a:bodyPr wrap="square" lIns="0" tIns="0" rIns="0" bIns="0" rtlCol="0" anchor="ctr"/>
          <a:lstStyle/>
          <a:p>
            <a:pPr algn="ctr" indent="0" marL="0">
              <a:buNone/>
            </a:pPr>
            <a:r>
              <a:rPr lang="en-US" sz="1600" b="1" dirty="0">
                <a:solidFill>
                  <a:schemeClr val="bg1"/>
                </a:solidFill>
              </a:rPr>
              <a:t>Bonus</a:t>
            </a:r>
            <a:endParaRPr lang="en-US" sz="1600" dirty="0"/>
          </a:p>
        </p:txBody>
      </p:sp>
      <p:sp>
        <p:nvSpPr>
          <p:cNvPr id="14" name="Text 12"/>
          <p:cNvSpPr txBox="1"/>
          <p:nvPr/>
        </p:nvSpPr>
        <p:spPr>
          <a:xfrm>
            <a:off x="2377440" y="4709160"/>
            <a:ext cx="9144000" cy="685800"/>
          </a:xfrm>
          <a:prstGeom prst="rect">
            <a:avLst/>
          </a:prstGeom>
          <a:noFill/>
          <a:ln/>
        </p:spPr>
        <p:txBody>
          <a:bodyPr wrap="square" lIns="0" tIns="0" rIns="0" bIns="0" rtlCol="0" anchor="ctr"/>
          <a:lstStyle/>
          <a:p>
            <a:pPr indent="0" marL="0">
              <a:buNone/>
            </a:pPr>
            <a:r>
              <a:rPr lang="en-US" sz="1900" dirty="0">
                <a:solidFill>
                  <a:schemeClr val="tx1"/>
                </a:solidFill>
              </a:rPr>
              <a:t>Make 3D and CSS talk to each other.</a:t>
            </a:r>
            <a:endParaRPr lang="en-US" sz="19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Stuck? Steal a Booth Idea</a:t>
            </a:r>
            <a:endParaRPr lang="en-US" sz="3400" dirty="0"/>
          </a:p>
        </p:txBody>
      </p:sp>
      <p:sp>
        <p:nvSpPr>
          <p:cNvPr id="3" name="Dunk Tank card"/>
          <p:cNvSpPr/>
          <p:nvPr/>
        </p:nvSpPr>
        <p:spPr>
          <a:xfrm>
            <a:off x="731520" y="1645920"/>
            <a:ext cx="5212080" cy="2011680"/>
          </a:xfrm>
          <a:prstGeom prst="roundRect">
            <a:avLst>
              <a:gd name="adj" fmla="val 5455"/>
            </a:avLst>
          </a:prstGeom>
          <a:solidFill>
            <a:schemeClr val="bg1"/>
          </a:solidFill>
          <a:ln w="38100">
            <a:solidFill>
              <a:schemeClr val="accent1"/>
            </a:solidFill>
            <a:prstDash val="solid"/>
          </a:ln>
        </p:spPr>
      </p:sp>
      <p:sp>
        <p:nvSpPr>
          <p:cNvPr id="4" name="Dunk Tank band"/>
          <p:cNvSpPr/>
          <p:nvPr/>
        </p:nvSpPr>
        <p:spPr>
          <a:xfrm>
            <a:off x="749808" y="1664208"/>
            <a:ext cx="5175504" cy="548640"/>
          </a:xfrm>
          <a:prstGeom prst="rect">
            <a:avLst/>
          </a:prstGeom>
          <a:solidFill>
            <a:schemeClr val="accent1"/>
          </a:solidFill>
          <a:ln w="12700">
            <a:solidFill>
              <a:schemeClr val="accent1"/>
            </a:solidFill>
            <a:prstDash val="solid"/>
          </a:ln>
        </p:spPr>
      </p:sp>
      <p:sp>
        <p:nvSpPr>
          <p:cNvPr id="5" name="Dunk Tank head"/>
          <p:cNvSpPr txBox="1"/>
          <p:nvPr/>
        </p:nvSpPr>
        <p:spPr>
          <a:xfrm>
            <a:off x="9144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Dunk Tank</a:t>
            </a:r>
            <a:endParaRPr lang="en-US" sz="1800" dirty="0"/>
          </a:p>
        </p:txBody>
      </p:sp>
      <p:sp>
        <p:nvSpPr>
          <p:cNvPr id="6" name="Dunk Tank body"/>
          <p:cNvSpPr txBox="1"/>
          <p:nvPr/>
        </p:nvSpPr>
        <p:spPr>
          <a:xfrm>
            <a:off x="914400" y="2331720"/>
            <a:ext cx="4846320" cy="118872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Click the target, a sphere drops into the tank.</a:t>
            </a:r>
            <a:endParaRPr lang="en-US" sz="1800" dirty="0"/>
          </a:p>
        </p:txBody>
      </p:sp>
      <p:sp>
        <p:nvSpPr>
          <p:cNvPr id="7" name="Fortune Teller card"/>
          <p:cNvSpPr/>
          <p:nvPr/>
        </p:nvSpPr>
        <p:spPr>
          <a:xfrm>
            <a:off x="6217920" y="1645920"/>
            <a:ext cx="5212080" cy="2011680"/>
          </a:xfrm>
          <a:prstGeom prst="roundRect">
            <a:avLst>
              <a:gd name="adj" fmla="val 5455"/>
            </a:avLst>
          </a:prstGeom>
          <a:solidFill>
            <a:schemeClr val="bg1"/>
          </a:solidFill>
          <a:ln w="38100">
            <a:solidFill>
              <a:schemeClr val="accent3"/>
            </a:solidFill>
            <a:prstDash val="solid"/>
          </a:ln>
        </p:spPr>
      </p:sp>
      <p:sp>
        <p:nvSpPr>
          <p:cNvPr id="8" name="Fortune Teller band"/>
          <p:cNvSpPr/>
          <p:nvPr/>
        </p:nvSpPr>
        <p:spPr>
          <a:xfrm>
            <a:off x="6236208" y="1664208"/>
            <a:ext cx="5175504" cy="548640"/>
          </a:xfrm>
          <a:prstGeom prst="rect">
            <a:avLst/>
          </a:prstGeom>
          <a:solidFill>
            <a:schemeClr val="accent3"/>
          </a:solidFill>
          <a:ln w="12700">
            <a:solidFill>
              <a:schemeClr val="accent3"/>
            </a:solidFill>
            <a:prstDash val="solid"/>
          </a:ln>
        </p:spPr>
      </p:sp>
      <p:sp>
        <p:nvSpPr>
          <p:cNvPr id="9" name="Fortune Teller head"/>
          <p:cNvSpPr txBox="1"/>
          <p:nvPr/>
        </p:nvSpPr>
        <p:spPr>
          <a:xfrm>
            <a:off x="64008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Fortune Teller</a:t>
            </a:r>
            <a:endParaRPr lang="en-US" sz="1800" dirty="0"/>
          </a:p>
        </p:txBody>
      </p:sp>
      <p:sp>
        <p:nvSpPr>
          <p:cNvPr id="10" name="Fortune Teller body"/>
          <p:cNvSpPr txBox="1"/>
          <p:nvPr/>
        </p:nvSpPr>
        <p:spPr>
          <a:xfrm>
            <a:off x="6400800" y="2331720"/>
            <a:ext cx="4846320" cy="118872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Ask a question, a DaisyUI card flips out with Animate.css.</a:t>
            </a:r>
            <a:endParaRPr lang="en-US" sz="1800" dirty="0"/>
          </a:p>
        </p:txBody>
      </p:sp>
      <p:sp>
        <p:nvSpPr>
          <p:cNvPr id="11" name="Strongman Bell card"/>
          <p:cNvSpPr/>
          <p:nvPr/>
        </p:nvSpPr>
        <p:spPr>
          <a:xfrm>
            <a:off x="731520" y="3931920"/>
            <a:ext cx="5212080" cy="2011680"/>
          </a:xfrm>
          <a:prstGeom prst="roundRect">
            <a:avLst>
              <a:gd name="adj" fmla="val 5455"/>
            </a:avLst>
          </a:prstGeom>
          <a:solidFill>
            <a:schemeClr val="bg1"/>
          </a:solidFill>
          <a:ln w="38100">
            <a:solidFill>
              <a:schemeClr val="accent2"/>
            </a:solidFill>
            <a:prstDash val="solid"/>
          </a:ln>
        </p:spPr>
      </p:sp>
      <p:sp>
        <p:nvSpPr>
          <p:cNvPr id="12" name="Strongman Bell band"/>
          <p:cNvSpPr/>
          <p:nvPr/>
        </p:nvSpPr>
        <p:spPr>
          <a:xfrm>
            <a:off x="749808" y="3950208"/>
            <a:ext cx="5175504" cy="548640"/>
          </a:xfrm>
          <a:prstGeom prst="rect">
            <a:avLst/>
          </a:prstGeom>
          <a:solidFill>
            <a:schemeClr val="accent2"/>
          </a:solidFill>
          <a:ln w="12700">
            <a:solidFill>
              <a:schemeClr val="accent2"/>
            </a:solidFill>
            <a:prstDash val="solid"/>
          </a:ln>
        </p:spPr>
      </p:sp>
      <p:sp>
        <p:nvSpPr>
          <p:cNvPr id="13" name="Strongman Bell head"/>
          <p:cNvSpPr txBox="1"/>
          <p:nvPr/>
        </p:nvSpPr>
        <p:spPr>
          <a:xfrm>
            <a:off x="914400" y="3950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Strongman Bell</a:t>
            </a:r>
            <a:endParaRPr lang="en-US" sz="1800" dirty="0"/>
          </a:p>
        </p:txBody>
      </p:sp>
      <p:sp>
        <p:nvSpPr>
          <p:cNvPr id="14" name="Strongman Bell body"/>
          <p:cNvSpPr txBox="1"/>
          <p:nvPr/>
        </p:nvSpPr>
        <p:spPr>
          <a:xfrm>
            <a:off x="914400" y="4617720"/>
            <a:ext cx="4846320" cy="118872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slider launches a puck up a 3D tower.</a:t>
            </a:r>
            <a:endParaRPr lang="en-US" sz="1800" dirty="0"/>
          </a:p>
        </p:txBody>
      </p:sp>
      <p:sp>
        <p:nvSpPr>
          <p:cNvPr id="15" name="Cotton Candy card"/>
          <p:cNvSpPr/>
          <p:nvPr/>
        </p:nvSpPr>
        <p:spPr>
          <a:xfrm>
            <a:off x="6217920" y="3931920"/>
            <a:ext cx="5212080" cy="2011680"/>
          </a:xfrm>
          <a:prstGeom prst="roundRect">
            <a:avLst>
              <a:gd name="adj" fmla="val 5455"/>
            </a:avLst>
          </a:prstGeom>
          <a:solidFill>
            <a:schemeClr val="bg1"/>
          </a:solidFill>
          <a:ln w="38100">
            <a:solidFill>
              <a:schemeClr val="tx2"/>
            </a:solidFill>
            <a:prstDash val="solid"/>
          </a:ln>
        </p:spPr>
      </p:sp>
      <p:sp>
        <p:nvSpPr>
          <p:cNvPr id="16" name="Cotton Candy band"/>
          <p:cNvSpPr/>
          <p:nvPr/>
        </p:nvSpPr>
        <p:spPr>
          <a:xfrm>
            <a:off x="6236208" y="3950208"/>
            <a:ext cx="5175504" cy="548640"/>
          </a:xfrm>
          <a:prstGeom prst="rect">
            <a:avLst/>
          </a:prstGeom>
          <a:solidFill>
            <a:schemeClr val="tx2"/>
          </a:solidFill>
          <a:ln w="12700">
            <a:solidFill>
              <a:schemeClr val="tx2"/>
            </a:solidFill>
            <a:prstDash val="solid"/>
          </a:ln>
        </p:spPr>
      </p:sp>
      <p:sp>
        <p:nvSpPr>
          <p:cNvPr id="17" name="Cotton Candy head"/>
          <p:cNvSpPr txBox="1"/>
          <p:nvPr/>
        </p:nvSpPr>
        <p:spPr>
          <a:xfrm>
            <a:off x="6400800" y="3950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Cotton Candy</a:t>
            </a:r>
            <a:endParaRPr lang="en-US" sz="1800" dirty="0"/>
          </a:p>
        </p:txBody>
      </p:sp>
      <p:sp>
        <p:nvSpPr>
          <p:cNvPr id="18" name="Cotton Candy body"/>
          <p:cNvSpPr txBox="1"/>
          <p:nvPr/>
        </p:nvSpPr>
        <p:spPr>
          <a:xfrm>
            <a:off x="6400800" y="4617720"/>
            <a:ext cx="4846320" cy="118872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 spinning donut shape grows with every guestbook name.</a:t>
            </a:r>
            <a:endParaRPr lang="en-US" sz="1800" dirty="0"/>
          </a:p>
        </p:txBody>
      </p:sp>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1"/>
          <p:cNvSpPr/>
          <p:nvPr>
            <p:ph idx="121" type="title" hasCustomPrompt="1"/>
          </p:nvPr>
        </p:nvSpPr>
        <p:spPr>
          <a:xfrm>
            <a:off x="548640" y="548640"/>
            <a:ext cx="11064240" cy="822960"/>
          </a:xfrm>
          <a:prstGeom prst="rect">
            <a:avLst/>
          </a:prstGeom>
          <a:noFill/>
          <a:ln/>
        </p:spPr>
        <p:txBody>
          <a:bodyPr wrap="square" lIns="0" tIns="0" rIns="0" bIns="0" rtlCol="0" anchor="ctr"/>
          <a:lstStyle/>
          <a:p>
            <a:pPr indent="0" marL="0">
              <a:buNone/>
            </a:pPr>
            <a:r>
              <a:rPr lang="en-US" sz="3400" b="1" dirty="0">
                <a:solidFill>
                  <a:schemeClr val="accent1"/>
                </a:solidFill>
              </a:rPr>
              <a:t>Midway Walk + Prize Counter</a:t>
            </a:r>
            <a:endParaRPr lang="en-US" sz="3400" dirty="0"/>
          </a:p>
        </p:txBody>
      </p:sp>
      <p:sp>
        <p:nvSpPr>
          <p:cNvPr id="3" name="walk card"/>
          <p:cNvSpPr/>
          <p:nvPr/>
        </p:nvSpPr>
        <p:spPr>
          <a:xfrm>
            <a:off x="731520" y="1645920"/>
            <a:ext cx="5212080" cy="3840480"/>
          </a:xfrm>
          <a:prstGeom prst="roundRect">
            <a:avLst>
              <a:gd name="adj" fmla="val 2857"/>
            </a:avLst>
          </a:prstGeom>
          <a:solidFill>
            <a:schemeClr val="bg1"/>
          </a:solidFill>
          <a:ln w="38100">
            <a:solidFill>
              <a:schemeClr val="accent3"/>
            </a:solidFill>
            <a:prstDash val="solid"/>
          </a:ln>
        </p:spPr>
      </p:sp>
      <p:sp>
        <p:nvSpPr>
          <p:cNvPr id="4" name="walk band"/>
          <p:cNvSpPr/>
          <p:nvPr/>
        </p:nvSpPr>
        <p:spPr>
          <a:xfrm>
            <a:off x="749808" y="1664208"/>
            <a:ext cx="5175504" cy="548640"/>
          </a:xfrm>
          <a:prstGeom prst="rect">
            <a:avLst/>
          </a:prstGeom>
          <a:solidFill>
            <a:schemeClr val="accent3"/>
          </a:solidFill>
          <a:ln w="12700">
            <a:solidFill>
              <a:schemeClr val="accent3"/>
            </a:solidFill>
            <a:prstDash val="solid"/>
          </a:ln>
        </p:spPr>
      </p:sp>
      <p:sp>
        <p:nvSpPr>
          <p:cNvPr id="5" name="walk head"/>
          <p:cNvSpPr txBox="1"/>
          <p:nvPr/>
        </p:nvSpPr>
        <p:spPr>
          <a:xfrm>
            <a:off x="914400" y="1664208"/>
            <a:ext cx="4846320" cy="548640"/>
          </a:xfrm>
          <a:prstGeom prst="rect">
            <a:avLst/>
          </a:prstGeom>
          <a:noFill/>
          <a:ln/>
        </p:spPr>
        <p:txBody>
          <a:bodyPr wrap="square" lIns="0" tIns="0" rIns="0" bIns="0" rtlCol="0" anchor="ctr"/>
          <a:lstStyle/>
          <a:p>
            <a:pPr indent="0" marL="0">
              <a:buNone/>
            </a:pPr>
            <a:r>
              <a:rPr lang="en-US" sz="1800" b="1" dirty="0">
                <a:solidFill>
                  <a:schemeClr val="bg1"/>
                </a:solidFill>
              </a:rPr>
              <a:t>Midway Walk  (5 min)</a:t>
            </a:r>
            <a:endParaRPr lang="en-US" sz="1800" dirty="0"/>
          </a:p>
        </p:txBody>
      </p:sp>
      <p:sp>
        <p:nvSpPr>
          <p:cNvPr id="6" name="walk body"/>
          <p:cNvSpPr txBox="1"/>
          <p:nvPr/>
        </p:nvSpPr>
        <p:spPr>
          <a:xfrm>
            <a:off x="914400" y="2331720"/>
            <a:ext cx="4846320" cy="301752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One teammate stays as the barker and pitches the booth in one sentence.</a:t>
            </a:r>
            <a:endParaRPr lang="en-US" sz="1800" dirty="0"/>
          </a:p>
          <a:p>
            <a:pPr indent="0" marL="0">
              <a:spcAft>
                <a:spcPts val="600"/>
              </a:spcAft>
              <a:buNone/>
            </a:pPr>
            <a:endParaRPr lang="en-US" sz="1800" dirty="0"/>
          </a:p>
          <a:p>
            <a:pPr indent="0" marL="0">
              <a:spcAft>
                <a:spcPts val="600"/>
              </a:spcAft>
              <a:buNone/>
            </a:pPr>
            <a:r>
              <a:rPr lang="en-US" sz="1800" dirty="0">
                <a:solidFill>
                  <a:schemeClr val="tx1"/>
                </a:solidFill>
              </a:rPr>
              <a:t>Everyone else walks. You have 3 voting tickets. Drop them on booths you love (not your own).</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309360" y="1645920"/>
          <a:ext cx="5120640" cy="914400"/>
        </p:xfrm>
        <a:graphic>
          <a:graphicData uri="http://schemas.openxmlformats.org/drawingml/2006/table">
            <a:tbl>
              <a:tblPr/>
              <a:tblGrid>
                <a:gridCol w="1005840"/>
                <a:gridCol w="4114800"/>
              </a:tblGrid>
              <a:tr h="566928">
                <a:tc>
                  <a:txBody>
                    <a:bodyPr/>
                    <a:lstStyle/>
                    <a:p>
                      <a:pPr indent="0" marL="0">
                        <a:buNone/>
                      </a:pPr>
                      <a:r>
                        <a:rPr lang="en-US" sz="1700" b="1" dirty="0">
                          <a:solidFill>
                            <a:schemeClr val="tx1"/>
                          </a:solidFill>
                        </a:rPr>
                        <a:t>Price</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solidFill>
                  </a:tcPr>
                </a:tc>
                <a:tc>
                  <a:txBody>
                    <a:bodyPr/>
                    <a:lstStyle/>
                    <a:p>
                      <a:pPr indent="0" marL="0">
                        <a:buNone/>
                      </a:pPr>
                      <a:r>
                        <a:rPr lang="en-US" sz="1700" b="1" dirty="0">
                          <a:solidFill>
                            <a:schemeClr val="tx1"/>
                          </a:solidFill>
                        </a:rPr>
                        <a:t>Prize</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accent2"/>
                    </a:solidFill>
                  </a:tcPr>
                </a:tc>
              </a:tr>
              <a:tr h="566928">
                <a:tc>
                  <a:txBody>
                    <a:bodyPr/>
                    <a:lstStyle/>
                    <a:p>
                      <a:pPr indent="0" marL="0">
                        <a:buNone/>
                      </a:pPr>
                      <a:r>
                        <a:rPr lang="en-US" sz="1700" dirty="0">
                          <a:solidFill>
                            <a:schemeClr val="tx1"/>
                          </a:solidFill>
                        </a:rPr>
                        <a:t>5</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Candy or a sticker</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r>
              <a:tr h="566928">
                <a:tc>
                  <a:txBody>
                    <a:bodyPr/>
                    <a:lstStyle/>
                    <a:p>
                      <a:pPr indent="0" marL="0">
                        <a:buNone/>
                      </a:pPr>
                      <a:r>
                        <a:rPr lang="en-US" sz="1700" dirty="0">
                          <a:solidFill>
                            <a:schemeClr val="tx1"/>
                          </a:solidFill>
                        </a:rPr>
                        <a:t>15</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Pick the next example app theme</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r>
              <a:tr h="566928">
                <a:tc>
                  <a:txBody>
                    <a:bodyPr/>
                    <a:lstStyle/>
                    <a:p>
                      <a:pPr indent="0" marL="0">
                        <a:buNone/>
                      </a:pPr>
                      <a:r>
                        <a:rPr lang="en-US" sz="1700" dirty="0">
                          <a:solidFill>
                            <a:schemeClr val="tx1"/>
                          </a:solidFill>
                        </a:rPr>
                        <a:t>25</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Skip one warm-up quiz</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r>
              <a:tr h="566928">
                <a:tc>
                  <a:txBody>
                    <a:bodyPr/>
                    <a:lstStyle/>
                    <a:p>
                      <a:pPr indent="0" marL="0">
                        <a:buNone/>
                      </a:pPr>
                      <a:r>
                        <a:rPr lang="en-US" sz="1700" dirty="0">
                          <a:solidFill>
                            <a:schemeClr val="tx1"/>
                          </a:solidFill>
                        </a:rPr>
                        <a:t>40</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Pick the build-block music</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r>
              <a:tr h="566928">
                <a:tc>
                  <a:txBody>
                    <a:bodyPr/>
                    <a:lstStyle/>
                    <a:p>
                      <a:pPr indent="0" marL="0">
                        <a:buNone/>
                      </a:pPr>
                      <a:r>
                        <a:rPr lang="en-US" sz="1700" dirty="0">
                          <a:solidFill>
                            <a:schemeClr val="tx1"/>
                          </a:solidFill>
                        </a:rPr>
                        <a:t>60</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Booth featured on the course site</a:t>
                      </a:r>
                      <a:endParaRPr lang="en-US" sz="1700" dirty="0"/>
                    </a:p>
                  </a:txBody>
                  <a:tcPr marL="91440" marR="91440" marT="45720" marB="4572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601968"/>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1"/>
          <p:cNvSpPr/>
          <p:nvPr>
            <p:ph idx="121" type="title" hasCustomPrompt="1"/>
          </p:nvPr>
        </p:nvSpPr>
        <p:spPr>
          <a:xfrm>
            <a:off x="731520" y="2103120"/>
            <a:ext cx="10698480" cy="1280160"/>
          </a:xfrm>
          <a:prstGeom prst="rect">
            <a:avLst/>
          </a:prstGeom>
          <a:noFill/>
          <a:ln/>
        </p:spPr>
        <p:txBody>
          <a:bodyPr wrap="square" lIns="0" tIns="0" rIns="0" bIns="0" rtlCol="0" anchor="ctr"/>
          <a:lstStyle/>
          <a:p>
            <a:pPr algn="ctr" indent="0" marL="0">
              <a:buNone/>
            </a:pPr>
            <a:r>
              <a:rPr lang="en-US" sz="5400" b="1" dirty="0">
                <a:solidFill>
                  <a:schemeClr val="accent2"/>
                </a:solidFill>
              </a:rPr>
              <a:t>That is a Wrap, Folks!</a:t>
            </a:r>
            <a:endParaRPr lang="en-US" sz="5400" dirty="0"/>
          </a:p>
        </p:txBody>
      </p:sp>
      <p:sp>
        <p:nvSpPr>
          <p:cNvPr id="3" name="Text 21"/>
          <p:cNvSpPr/>
          <p:nvPr>
            <p:ph idx="122" type="body" hasCustomPrompt="1"/>
          </p:nvPr>
        </p:nvSpPr>
        <p:spPr>
          <a:xfrm>
            <a:off x="1371600" y="3474720"/>
            <a:ext cx="9418320" cy="1097280"/>
          </a:xfrm>
          <a:prstGeom prst="rect">
            <a:avLst/>
          </a:prstGeom>
          <a:noFill/>
          <a:ln/>
        </p:spPr>
        <p:txBody>
          <a:bodyPr wrap="square" lIns="0" tIns="0" rIns="0" bIns="0" rtlCol="0" anchor="t"/>
          <a:lstStyle/>
          <a:p>
            <a:pPr algn="ctr" indent="0" marL="0">
              <a:buNone/>
            </a:pPr>
            <a:r>
              <a:rPr lang="en-US" sz="2200" dirty="0">
                <a:solidFill>
                  <a:schemeClr val="bg2"/>
                </a:solidFill>
              </a:rPr>
              <a:t>Push your booth to GitHub. Best booths go on the Student Projects tab.</a:t>
            </a:r>
            <a:endParaRPr lang="en-US" sz="2200" dirty="0"/>
          </a:p>
          <a:p>
            <a:pPr algn="ctr" indent="0" marL="0">
              <a:buNone/>
            </a:pPr>
            <a:r>
              <a:rPr lang="en-US" sz="2200" dirty="0">
                <a:solidFill>
                  <a:schemeClr val="bg2"/>
                </a:solidFill>
              </a:rPr>
              <a:t>Keep your tickets: the carnival may come back to town.</a:t>
            </a:r>
            <a:endParaRPr lang="en-US" sz="2200" dirty="0"/>
          </a:p>
        </p:txBody>
      </p:sp>
    </p:spTree>
  </p:cSld>
  <p:clrMapOvr>
    <a:masterClrMapping/>
  </p:clrMapOvr>
</p:sld>
</file>

<file path=ppt/theme/theme1.xml><?xml version="1.0" encoding="utf-8"?>
<a:theme xmlns:a="http://schemas.openxmlformats.org/drawingml/2006/main" name="Code Carnival">
  <a:themeElements>
    <a:clrScheme name="Code Carnival">
      <a:dk1>
        <a:srgbClr val="241A12"/>
      </a:dk1>
      <a:lt1>
        <a:srgbClr val="FFFFFF"/>
      </a:lt1>
      <a:dk2>
        <a:srgbClr val="1B1F3B"/>
      </a:dk2>
      <a:lt2>
        <a:srgbClr val="FFF4DC"/>
      </a:lt2>
      <a:accent1>
        <a:srgbClr val="D62839"/>
      </a:accent1>
      <a:accent2>
        <a:srgbClr val="F4B400"/>
      </a:accent2>
      <a:accent3>
        <a:srgbClr val="1FA7A0"/>
      </a:accent3>
      <a:accent4>
        <a:srgbClr val="2E7D32"/>
      </a:accent4>
      <a:accent5>
        <a:srgbClr val="7A3E9D"/>
      </a:accent5>
      <a:accent6>
        <a:srgbClr val="F3EEE0"/>
      </a:accent6>
      <a:hlink>
        <a:srgbClr val="1FA7A0"/>
      </a:hlink>
      <a:folHlink>
        <a:srgbClr val="7A3E9D"/>
      </a:folHlink>
    </a:clrScheme>
    <a:fontScheme name="Code Carniva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436 Code Carnival</dc:title>
  <dc:subject>PptxGenJS Presentation</dc:subject>
  <dc:creator>PptxGenJS</dc:creator>
  <cp:lastModifiedBy>PptxGenJS</cp:lastModifiedBy>
  <cp:revision>1</cp:revision>
  <dcterms:created xsi:type="dcterms:W3CDTF">2026-10-15T11:16:48Z</dcterms:created>
  <dcterms:modified xsi:type="dcterms:W3CDTF">2026-10-15T11:16:48Z</dcterms:modified>
</cp:coreProperties>
</file>