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640080"/>
            <a:ext cx="1371600" cy="1371600"/>
          </a:xfrm>
          <a:prstGeom prst="rect">
            <a:avLst/>
          </a:prstGeom>
          <a:solidFill>
            <a:srgbClr val="0E2238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1737360"/>
            <a:ext cx="822960" cy="822960"/>
          </a:xfrm>
          <a:prstGeom prst="rect">
            <a:avLst/>
          </a:prstGeom>
          <a:solidFill>
            <a:srgbClr val="0B6A6C"/>
          </a:solidFill>
          <a:ln/>
        </p:spPr>
      </p:sp>
      <p:sp>
        <p:nvSpPr>
          <p:cNvPr id="4" name="Shape 2"/>
          <p:cNvSpPr/>
          <p:nvPr/>
        </p:nvSpPr>
        <p:spPr>
          <a:xfrm>
            <a:off x="9235440" y="2103120"/>
            <a:ext cx="502920" cy="5029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436  |  MODERN WEB DEVELOPMENT  |  WEEK 2, SESSION 4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9456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Enchanted Forge</a:t>
            </a:r>
            <a:endParaRPr lang="en-US" sz="5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383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3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and State-Driven UI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114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quest board. Half the code. Zero desync.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Thursday  |  12:20 to 2:15  |  Room 1N-004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7160" y="6519672"/>
            <a:ext cx="201168" cy="201168"/>
          </a:xfrm>
          <a:prstGeom prst="rect">
            <a:avLst/>
          </a:prstGeom>
          <a:solidFill>
            <a:srgbClr val="0F8B8D"/>
          </a:solidFill>
          <a:ln/>
        </p:spPr>
      </p:sp>
      <p:sp>
        <p:nvSpPr>
          <p:cNvPr id="11" name="Shape 9"/>
          <p:cNvSpPr/>
          <p:nvPr/>
        </p:nvSpPr>
        <p:spPr>
          <a:xfrm>
            <a:off x="429768" y="6519672"/>
            <a:ext cx="140818" cy="140818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2" name="Shape 10"/>
          <p:cNvSpPr/>
          <p:nvPr/>
        </p:nvSpPr>
        <p:spPr>
          <a:xfrm>
            <a:off x="137160" y="6227064"/>
            <a:ext cx="140818" cy="140818"/>
          </a:xfrm>
          <a:prstGeom prst="rect">
            <a:avLst/>
          </a:prstGeom>
          <a:solidFill>
            <a:srgbClr val="16324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 |  12:20 TO 12:35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Sharpen the Blade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853367" y="6519672"/>
            <a:ext cx="201168" cy="201168"/>
          </a:xfrm>
          <a:prstGeom prst="rect">
            <a:avLst/>
          </a:prstGeom>
          <a:solidFill>
            <a:srgbClr val="0F8B8D"/>
          </a:solidFill>
          <a:ln/>
        </p:spPr>
      </p:sp>
      <p:sp>
        <p:nvSpPr>
          <p:cNvPr id="5" name="Shape 3"/>
          <p:cNvSpPr/>
          <p:nvPr/>
        </p:nvSpPr>
        <p:spPr>
          <a:xfrm>
            <a:off x="11560759" y="6519672"/>
            <a:ext cx="140818" cy="140818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6" name="Shape 4"/>
          <p:cNvSpPr/>
          <p:nvPr/>
        </p:nvSpPr>
        <p:spPr>
          <a:xfrm>
            <a:off x="11853367" y="6227064"/>
            <a:ext cx="140818" cy="140818"/>
          </a:xfrm>
          <a:prstGeom prst="rect">
            <a:avLst/>
          </a:prstGeom>
          <a:solidFill>
            <a:srgbClr val="1632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691640"/>
            <a:ext cx="47548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smith enchants a dull weapon. Before React, we inspect Tuesdays steel.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rounds in todays Brightspace announcement. Rounds 1 to 4 are predict-the-output: write your prediction down BEFORE you run the code. A wrong prediction you committed to teaches more than a right guess.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 5 and 6 drill the immutability moves. They look like review. They are actually the exact spells useState demands in one hour.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0" y="1691640"/>
            <a:ext cx="5943600" cy="3977640"/>
          </a:xfrm>
          <a:prstGeom prst="roundRect">
            <a:avLst>
              <a:gd name="adj" fmla="val 2299"/>
            </a:avLst>
          </a:prstGeom>
          <a:solidFill>
            <a:srgbClr val="1632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0" y="185623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ROUNDS AT THE WHETSTONE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2240280"/>
            <a:ext cx="868680" cy="594360"/>
          </a:xfrm>
          <a:prstGeom prst="roundRect">
            <a:avLst>
              <a:gd name="adj" fmla="val 12308"/>
            </a:avLst>
          </a:prstGeom>
          <a:solidFill>
            <a:srgbClr val="0F8B8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0" y="224028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1-3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225856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the output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995160" y="255117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3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Tuesdays DOM code, three traps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0" y="3063240"/>
            <a:ext cx="868680" cy="594360"/>
          </a:xfrm>
          <a:prstGeom prst="roundRect">
            <a:avLst>
              <a:gd name="adj" fmla="val 12308"/>
            </a:avLst>
          </a:prstGeom>
          <a:solidFill>
            <a:srgbClr val="0F8B8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0" y="306324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995160" y="30815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 the lie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6995160" y="337413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3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sync bug hides in plain sight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43600" y="3886200"/>
            <a:ext cx="868680" cy="594360"/>
          </a:xfrm>
          <a:prstGeom prst="roundRect">
            <a:avLst>
              <a:gd name="adj" fmla="val 12308"/>
            </a:avLst>
          </a:prstGeom>
          <a:solidFill>
            <a:srgbClr val="0F8B8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43600" y="388620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995160" y="390448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reference riddle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6995160" y="419709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3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const protect your array?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43600" y="4709160"/>
            <a:ext cx="868680" cy="594360"/>
          </a:xfrm>
          <a:prstGeom prst="roundRect">
            <a:avLst>
              <a:gd name="adj" fmla="val 12308"/>
            </a:avLst>
          </a:prstGeom>
          <a:solidFill>
            <a:srgbClr val="C9A9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943600" y="470916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995160" y="472744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replacement spell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6995160" y="502005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3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array, one quest changed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D3EDE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296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Ranks: </a:t>
            </a:r>
            <a:pPr indent="0" marL="0">
              <a:buNone/>
            </a:pPr>
            <a:r>
              <a:rPr lang="en-US" sz="13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correct and your blade is Sharpened. All 6, Battle Ready. All 6 plus the bonus, Edge of Legend.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436  |  Session 4  |  The Enchanted Forge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 |  12:35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Debrief: the lie you found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853367" y="6519672"/>
            <a:ext cx="201168" cy="201168"/>
          </a:xfrm>
          <a:prstGeom prst="rect">
            <a:avLst/>
          </a:prstGeom>
          <a:solidFill>
            <a:srgbClr val="0F8B8D"/>
          </a:solidFill>
          <a:ln/>
        </p:spPr>
      </p:sp>
      <p:sp>
        <p:nvSpPr>
          <p:cNvPr id="5" name="Shape 3"/>
          <p:cNvSpPr/>
          <p:nvPr/>
        </p:nvSpPr>
        <p:spPr>
          <a:xfrm>
            <a:off x="11560759" y="6519672"/>
            <a:ext cx="140818" cy="140818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6" name="Shape 4"/>
          <p:cNvSpPr/>
          <p:nvPr/>
        </p:nvSpPr>
        <p:spPr>
          <a:xfrm>
            <a:off x="11853367" y="6227064"/>
            <a:ext cx="140818" cy="140818"/>
          </a:xfrm>
          <a:prstGeom prst="rect">
            <a:avLst/>
          </a:prstGeom>
          <a:solidFill>
            <a:srgbClr val="16324F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45920"/>
            <a:ext cx="6309360" cy="3566160"/>
          </a:xfrm>
          <a:prstGeom prst="roundRect">
            <a:avLst>
              <a:gd name="adj" fmla="val 2051"/>
            </a:avLst>
          </a:prstGeom>
          <a:solidFill>
            <a:srgbClr val="0E223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1783080"/>
            <a:ext cx="5852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7FD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openCount = quests.length; 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E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stored once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7FD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accept(id) {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7FD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 = quests.find(q =&gt; q.id === id);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q.accepted =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FD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render();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7FD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render() {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countEl.textContent = openCount; 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lie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1737360"/>
            <a:ext cx="43891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openCount was stored once and trusted forever.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changed. The copy did not. The render function faithfully painted a stale number, and no error was ever thrown. The page just lies.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B6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Tuesdays Wall in four lines. Hold onto it: the next 25 minutes are the story of the team that hit this bug at a billion-user scale and burned their whole approach down to fix it.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632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55321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round 5s answer: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b = a copies the reference, not the array. b.push changed a. That is why React demands new arrays, never edited ones.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436  |  Session 4  |  The Enchanted Forge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Tuesday, you hit the Wall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853367" y="6519672"/>
            <a:ext cx="201168" cy="201168"/>
          </a:xfrm>
          <a:prstGeom prst="rect">
            <a:avLst/>
          </a:prstGeom>
          <a:solidFill>
            <a:srgbClr val="0F8B8D"/>
          </a:solidFill>
          <a:ln/>
        </p:spPr>
      </p:sp>
      <p:sp>
        <p:nvSpPr>
          <p:cNvPr id="5" name="Shape 3"/>
          <p:cNvSpPr/>
          <p:nvPr/>
        </p:nvSpPr>
        <p:spPr>
          <a:xfrm>
            <a:off x="11560759" y="6519672"/>
            <a:ext cx="140818" cy="140818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6" name="Shape 4"/>
          <p:cNvSpPr/>
          <p:nvPr/>
        </p:nvSpPr>
        <p:spPr>
          <a:xfrm>
            <a:off x="11853367" y="6227064"/>
            <a:ext cx="140818" cy="140818"/>
          </a:xfrm>
          <a:prstGeom prst="rect">
            <a:avLst/>
          </a:prstGeom>
          <a:solidFill>
            <a:srgbClr val="1632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69164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Guildmaster asked for three features. Each one forced you to hand-update the DOM in multiple places per event.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bug was never your skill. The bug was the architecture: </a:t>
            </a:r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truth lived in two places at once.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4206240"/>
            <a:ext cx="5029200" cy="1737360"/>
          </a:xfrm>
          <a:prstGeom prst="roundRect">
            <a:avLst>
              <a:gd name="adj" fmla="val 4211"/>
            </a:avLst>
          </a:prstGeom>
          <a:solidFill>
            <a:srgbClr val="D3EDE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4370832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Todays promise
</a:t>
            </a:r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2:15 the exact features that broke your board Tuesday will take you one line each, and it will be impossible for the counters to lie.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26480" y="1691640"/>
            <a:ext cx="5486400" cy="2011680"/>
          </a:xfrm>
          <a:prstGeom prst="roundRect">
            <a:avLst>
              <a:gd name="adj" fmla="val 3636"/>
            </a:avLst>
          </a:prstGeom>
          <a:solidFill>
            <a:srgbClr val="F3D9D9"/>
          </a:solidFill>
          <a:ln w="15875">
            <a:solidFill>
              <a:srgbClr val="B34A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1828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VANILLA, TUESDAY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14884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A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array, update class, update counter, update gold, update title... per click, by hand, forever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3931920"/>
            <a:ext cx="54864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875">
            <a:solidFill>
              <a:srgbClr val="0F8B8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4069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B6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TODAY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43891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632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 the state.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632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Everything that depends on it redraws itself.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436  |  Session 4  |  The Enchanted Forge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STORY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was born from this exact bug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853367" y="6519672"/>
            <a:ext cx="201168" cy="201168"/>
          </a:xfrm>
          <a:prstGeom prst="rect">
            <a:avLst/>
          </a:prstGeom>
          <a:solidFill>
            <a:srgbClr val="0F8B8D"/>
          </a:solidFill>
          <a:ln/>
        </p:spPr>
      </p:sp>
      <p:sp>
        <p:nvSpPr>
          <p:cNvPr id="5" name="Shape 3"/>
          <p:cNvSpPr/>
          <p:nvPr/>
        </p:nvSpPr>
        <p:spPr>
          <a:xfrm>
            <a:off x="11560759" y="6519672"/>
            <a:ext cx="140818" cy="140818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6" name="Shape 4"/>
          <p:cNvSpPr/>
          <p:nvPr/>
        </p:nvSpPr>
        <p:spPr>
          <a:xfrm>
            <a:off x="11853367" y="6227064"/>
            <a:ext cx="140818" cy="140818"/>
          </a:xfrm>
          <a:prstGeom prst="rect">
            <a:avLst/>
          </a:prstGeom>
          <a:solidFill>
            <a:srgbClr val="16324F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91640"/>
            <a:ext cx="1234440" cy="502920"/>
          </a:xfrm>
          <a:prstGeom prst="roundRect">
            <a:avLst>
              <a:gd name="adj" fmla="val 49091"/>
            </a:avLst>
          </a:prstGeom>
          <a:solidFill>
            <a:srgbClr val="16324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6916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161288" y="2194560"/>
            <a:ext cx="0" cy="960120"/>
          </a:xfrm>
          <a:prstGeom prst="line">
            <a:avLst/>
          </a:prstGeom>
          <a:noFill/>
          <a:ln w="19050">
            <a:solidFill>
              <a:srgbClr val="5B6B7A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2103120" y="167335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chat counter that lied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103120" y="205740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keeps shipping the same bug: unread message counts drift out of sync with reality. Sound familiar? It is the Wall, at a billion-user scale.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1234440" cy="502920"/>
          </a:xfrm>
          <a:prstGeom prst="roundRect">
            <a:avLst>
              <a:gd name="adj" fmla="val 49091"/>
            </a:avLst>
          </a:prstGeom>
          <a:solidFill>
            <a:srgbClr val="16324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1546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161288" y="3657600"/>
            <a:ext cx="0" cy="960120"/>
          </a:xfrm>
          <a:prstGeom prst="line">
            <a:avLst/>
          </a:prstGeom>
          <a:noFill/>
          <a:ln w="19050">
            <a:solidFill>
              <a:srgbClr val="5B6B7A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2103120" y="313639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heretical idea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2103120" y="352044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Jordan Walke proposes something wasteful-sounding: stop patching the page. When state changes, throw the UI away and re-render everything from data.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617720"/>
            <a:ext cx="1234440" cy="502920"/>
          </a:xfrm>
          <a:prstGeom prst="roundRect">
            <a:avLst>
              <a:gd name="adj" fmla="val 49091"/>
            </a:avLst>
          </a:prstGeom>
          <a:solidFill>
            <a:srgbClr val="C9A9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6177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2103120" y="459943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Booed, then adopted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2103120" y="498348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goes public at JSConf US. The room is skeptical bordering on hostile. The rebuttal that saved it: give it five minutes. A decade later it runs most of the web you use.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B6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did not fail Tuesday. You reproduced the bug that created React.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436  |  Session 4  |  The Enchanted Forge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 = f(state)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38328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interface is not a thing you edit. It is the output of a function of your data.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31520" y="420624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0E223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43891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3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never touch the DOM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498348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B9C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querySelector. No createElement. You describe what the board should look like for any given state.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420624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0E223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63440" y="43891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3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changes, UI follows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498348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B9C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 state setter and React re-runs your function and updates the screen. The loop you hand-cranked Tuesday, automated.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420624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0E223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66760" y="43891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3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 bugs become impossible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8366760" y="498348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B9C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one source of truth. Nothing on screen can disagree with it, because everything on screen is computed from it.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1853367" y="6519672"/>
            <a:ext cx="201168" cy="201168"/>
          </a:xfrm>
          <a:prstGeom prst="rect">
            <a:avLst/>
          </a:prstGeom>
          <a:solidFill>
            <a:srgbClr val="0F8B8D"/>
          </a:solidFill>
          <a:ln/>
        </p:spPr>
      </p:sp>
      <p:sp>
        <p:nvSpPr>
          <p:cNvPr id="15" name="Shape 13"/>
          <p:cNvSpPr/>
          <p:nvPr/>
        </p:nvSpPr>
        <p:spPr>
          <a:xfrm>
            <a:off x="11560759" y="6519672"/>
            <a:ext cx="140818" cy="140818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6" name="Shape 14"/>
          <p:cNvSpPr/>
          <p:nvPr/>
        </p:nvSpPr>
        <p:spPr>
          <a:xfrm>
            <a:off x="11853367" y="6227064"/>
            <a:ext cx="140818" cy="140818"/>
          </a:xfrm>
          <a:prstGeom prst="rect">
            <a:avLst/>
          </a:prstGeom>
          <a:solidFill>
            <a:srgbClr val="0B6A6C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Components: cards that build themselves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853367" y="6519672"/>
            <a:ext cx="201168" cy="201168"/>
          </a:xfrm>
          <a:prstGeom prst="rect">
            <a:avLst/>
          </a:prstGeom>
          <a:solidFill>
            <a:srgbClr val="0F8B8D"/>
          </a:solidFill>
          <a:ln/>
        </p:spPr>
      </p:sp>
      <p:sp>
        <p:nvSpPr>
          <p:cNvPr id="5" name="Shape 3"/>
          <p:cNvSpPr/>
          <p:nvPr/>
        </p:nvSpPr>
        <p:spPr>
          <a:xfrm>
            <a:off x="11560759" y="6519672"/>
            <a:ext cx="140818" cy="140818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6" name="Shape 4"/>
          <p:cNvSpPr/>
          <p:nvPr/>
        </p:nvSpPr>
        <p:spPr>
          <a:xfrm>
            <a:off x="11853367" y="6227064"/>
            <a:ext cx="140818" cy="140818"/>
          </a:xfrm>
          <a:prstGeom prst="rect">
            <a:avLst/>
          </a:prstGeom>
          <a:solidFill>
            <a:srgbClr val="16324F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91640"/>
            <a:ext cx="6309360" cy="4023360"/>
          </a:xfrm>
          <a:prstGeom prst="roundRect">
            <a:avLst>
              <a:gd name="adj" fmla="val 1818"/>
            </a:avLst>
          </a:prstGeom>
          <a:solidFill>
            <a:srgbClr val="0E223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1828800"/>
            <a:ext cx="58521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7FD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QuestCard({ quest, onAccept }) {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7FD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&lt;article className=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9A9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"quest-card"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&lt;h3&gt;{quest.title}&lt;/h3&gt;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&lt;p&gt;{quest.difficulty} | {quest.gold}g&lt;/p&gt;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&lt;button onClick={() =&gt; onAccept(quest.id)}&gt;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Accept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&lt;/button&gt;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&lt;/article&gt;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1737360"/>
            <a:ext cx="43891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JSX: HTML-shaped JavaScript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looks like your Tuesday template literals because it is solving the same problem, with a compiler behind it.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Props: the quest rides in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component is a function. Props are its arguments. Same quest data as Tuesday, new delivery method.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className, not class. JSX is JavaScript, and class was taken.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436  |  Session 4  |  The Enchanted Forge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useState: the enchanted variable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853367" y="6519672"/>
            <a:ext cx="201168" cy="201168"/>
          </a:xfrm>
          <a:prstGeom prst="rect">
            <a:avLst/>
          </a:prstGeom>
          <a:solidFill>
            <a:srgbClr val="0F8B8D"/>
          </a:solidFill>
          <a:ln/>
        </p:spPr>
      </p:sp>
      <p:sp>
        <p:nvSpPr>
          <p:cNvPr id="5" name="Shape 3"/>
          <p:cNvSpPr/>
          <p:nvPr/>
        </p:nvSpPr>
        <p:spPr>
          <a:xfrm>
            <a:off x="11560759" y="6519672"/>
            <a:ext cx="140818" cy="140818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6" name="Shape 4"/>
          <p:cNvSpPr/>
          <p:nvPr/>
        </p:nvSpPr>
        <p:spPr>
          <a:xfrm>
            <a:off x="11853367" y="6227064"/>
            <a:ext cx="140818" cy="140818"/>
          </a:xfrm>
          <a:prstGeom prst="rect">
            <a:avLst/>
          </a:prstGeom>
          <a:solidFill>
            <a:srgbClr val="16324F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91640"/>
            <a:ext cx="6309360" cy="4023360"/>
          </a:xfrm>
          <a:prstGeom prst="roundRect">
            <a:avLst>
              <a:gd name="adj" fmla="val 1818"/>
            </a:avLst>
          </a:prstGeom>
          <a:solidFill>
            <a:srgbClr val="0E223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1828800"/>
            <a:ext cx="58521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7FD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useState }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7FD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A9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"react"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7FD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QuestBoard() 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7FD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[quests, setQuests] = useState(startingQuests);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7FD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function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acceptQuest(id) 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setQuests(quests.map(q =&gt;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q.id === id ? { ...q, accepted: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FD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 : q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change state, and React redraws the board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1737360"/>
            <a:ext cx="43891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 variable forgets. State remembers.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 gives you two things: the current value, and a setter that tells React the truth changed.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the setter is what triggers the re-render. Assigning to a plain variable does nothing on screen, which is the number one first-week React bug.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map and spread: we replace the array, never mutate it. React trusts new objects, not edited ones.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436  |  Session 4  |  The Enchanted Forge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counters you never store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853367" y="6519672"/>
            <a:ext cx="201168" cy="201168"/>
          </a:xfrm>
          <a:prstGeom prst="rect">
            <a:avLst/>
          </a:prstGeom>
          <a:solidFill>
            <a:srgbClr val="0F8B8D"/>
          </a:solidFill>
          <a:ln/>
        </p:spPr>
      </p:sp>
      <p:sp>
        <p:nvSpPr>
          <p:cNvPr id="5" name="Shape 3"/>
          <p:cNvSpPr/>
          <p:nvPr/>
        </p:nvSpPr>
        <p:spPr>
          <a:xfrm>
            <a:off x="11560759" y="6519672"/>
            <a:ext cx="140818" cy="140818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6" name="Shape 4"/>
          <p:cNvSpPr/>
          <p:nvPr/>
        </p:nvSpPr>
        <p:spPr>
          <a:xfrm>
            <a:off x="11853367" y="6227064"/>
            <a:ext cx="140818" cy="140818"/>
          </a:xfrm>
          <a:prstGeom prst="rect">
            <a:avLst/>
          </a:prstGeom>
          <a:solidFill>
            <a:srgbClr val="1632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5361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B6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Tuesday's killer bug dies here. The counts are not state. They are math.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6309360" cy="3108960"/>
          </a:xfrm>
          <a:prstGeom prst="roundRect">
            <a:avLst>
              <a:gd name="adj" fmla="val 2353"/>
            </a:avLst>
          </a:prstGeom>
          <a:solidFill>
            <a:srgbClr val="0E223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148840"/>
            <a:ext cx="5852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7FD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QuestBoard()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7FD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[quests, setQuests] = useState(startingQuests);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derived, computed fresh on every render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7FD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open = quests.filter(q =&gt; !q.accepted);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7FD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goldOnOffer = open.reduce((s, q) =&gt; s + q.gold, 0);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7FD1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&lt;h2&gt;Open: {open.length} | {goldOnOffer}g&lt;/h2&gt;;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223760" y="2011680"/>
            <a:ext cx="4389120" cy="1463040"/>
          </a:xfrm>
          <a:prstGeom prst="roundRect">
            <a:avLst>
              <a:gd name="adj" fmla="val 6250"/>
            </a:avLst>
          </a:prstGeom>
          <a:solidFill>
            <a:srgbClr val="D3EDEE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52360" y="21305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Cannot desync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7452360" y="24688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counter is recomputed from the quests array every render. It is physically incapable of disagreeing with the board.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223760" y="3611880"/>
            <a:ext cx="43891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52360" y="37307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Filters for free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7452360" y="40690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the array before rendering and the counts, the cards, and the totals all agree automatically. The Wall's request 2 becomes one line.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6324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54406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the forge: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 compute it from existing state, never store it. Stored copies drift. Computed values cannot.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436  |  Session 4  |  The Enchanted Forge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TODAYS BLOCK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plan: 12:20 to 2:15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853367" y="6519672"/>
            <a:ext cx="201168" cy="201168"/>
          </a:xfrm>
          <a:prstGeom prst="rect">
            <a:avLst/>
          </a:prstGeom>
          <a:solidFill>
            <a:srgbClr val="0F8B8D"/>
          </a:solidFill>
          <a:ln/>
        </p:spPr>
      </p:sp>
      <p:sp>
        <p:nvSpPr>
          <p:cNvPr id="5" name="Shape 3"/>
          <p:cNvSpPr/>
          <p:nvPr/>
        </p:nvSpPr>
        <p:spPr>
          <a:xfrm>
            <a:off x="11560759" y="6519672"/>
            <a:ext cx="140818" cy="140818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6" name="Shape 4"/>
          <p:cNvSpPr/>
          <p:nvPr/>
        </p:nvSpPr>
        <p:spPr>
          <a:xfrm>
            <a:off x="11853367" y="6227064"/>
            <a:ext cx="140818" cy="140818"/>
          </a:xfrm>
          <a:prstGeom prst="rect">
            <a:avLst/>
          </a:prstGeom>
          <a:solidFill>
            <a:srgbClr val="16324F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572768"/>
            <a:ext cx="1371600" cy="841248"/>
          </a:xfrm>
          <a:prstGeom prst="roundRect">
            <a:avLst>
              <a:gd name="adj" fmla="val 8696"/>
            </a:avLst>
          </a:prstGeom>
          <a:solidFill>
            <a:srgbClr val="0F8B8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65506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12:20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0299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3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194560" y="1572768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Sharpen the Blade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2194560" y="1920240"/>
            <a:ext cx="9326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Warm-up: predict-the-output on Tuesdays code, plus the immutability moves React demands.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542032"/>
            <a:ext cx="1371600" cy="841248"/>
          </a:xfrm>
          <a:prstGeom prst="roundRect">
            <a:avLst>
              <a:gd name="adj" fmla="val 8696"/>
            </a:avLst>
          </a:prstGeom>
          <a:solidFill>
            <a:srgbClr val="16324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262432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12:35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9992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3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194560" y="2542032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Whole group: the re-forging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2194560" y="2889504"/>
            <a:ext cx="9326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story, UI = f(state), then we live-convert Tuesdays board together: components, props, useState.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511296"/>
            <a:ext cx="1371600" cy="841248"/>
          </a:xfrm>
          <a:prstGeom prst="roundRect">
            <a:avLst>
              <a:gd name="adj" fmla="val 8696"/>
            </a:avLst>
          </a:prstGeom>
          <a:solidFill>
            <a:srgbClr val="16324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359359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1:00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968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3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2194560" y="3511296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Rotations: three stations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2194560" y="3858768"/>
            <a:ext cx="9326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A: JSX conversion drills. Station B: useState labs. Station C: derived state puzzles. 13 minutes each, then rotate.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480560"/>
            <a:ext cx="1371600" cy="841248"/>
          </a:xfrm>
          <a:prstGeom prst="roundRect">
            <a:avLst>
              <a:gd name="adj" fmla="val 8696"/>
            </a:avLst>
          </a:prstGeom>
          <a:solidFill>
            <a:srgbClr val="1632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456285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1:40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937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3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2194560" y="4480560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Guild build: enchant your board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2194560" y="4828032"/>
            <a:ext cx="9326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React starter. Rebuild your quest board and slay the Wall. Milestones next slide.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5449824"/>
            <a:ext cx="1371600" cy="841248"/>
          </a:xfrm>
          <a:prstGeom prst="roundRect">
            <a:avLst>
              <a:gd name="adj" fmla="val 8696"/>
            </a:avLst>
          </a:prstGeom>
          <a:solidFill>
            <a:srgbClr val="C9A96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48640" y="55321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2:05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9070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2194560" y="5449824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rematch + exit ticket</a:t>
            </a:r>
            <a:endParaRPr lang="en-US" sz="1550" dirty="0"/>
          </a:p>
        </p:txBody>
      </p:sp>
      <p:sp>
        <p:nvSpPr>
          <p:cNvPr id="31" name="Text 29"/>
          <p:cNvSpPr txBox="1"/>
          <p:nvPr/>
        </p:nvSpPr>
        <p:spPr>
          <a:xfrm>
            <a:off x="2194560" y="5797296"/>
            <a:ext cx="9326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re-run Tuesdays three feature requests live on a React board and count the lines.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436  |  Session 4  |  The Enchanted Forge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ASSIGNMENT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Guild build: milestones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853367" y="6519672"/>
            <a:ext cx="201168" cy="201168"/>
          </a:xfrm>
          <a:prstGeom prst="rect">
            <a:avLst/>
          </a:prstGeom>
          <a:solidFill>
            <a:srgbClr val="0F8B8D"/>
          </a:solidFill>
          <a:ln/>
        </p:spPr>
      </p:sp>
      <p:sp>
        <p:nvSpPr>
          <p:cNvPr id="5" name="Shape 3"/>
          <p:cNvSpPr/>
          <p:nvPr/>
        </p:nvSpPr>
        <p:spPr>
          <a:xfrm>
            <a:off x="11560759" y="6519672"/>
            <a:ext cx="140818" cy="140818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6" name="Shape 4"/>
          <p:cNvSpPr/>
          <p:nvPr/>
        </p:nvSpPr>
        <p:spPr>
          <a:xfrm>
            <a:off x="11853367" y="6227064"/>
            <a:ext cx="140818" cy="140818"/>
          </a:xfrm>
          <a:prstGeom prst="rect">
            <a:avLst/>
          </a:prstGeom>
          <a:solidFill>
            <a:srgbClr val="16324F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737360"/>
            <a:ext cx="3520440" cy="37490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96596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0F8B8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965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6060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Board renders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10896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QuestCard component takes a quest as a prop. Map over the quests array to render the board. No copy-pasted cards.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343400" y="1737360"/>
            <a:ext cx="3520440" cy="37490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96596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0B6A6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0" y="1965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6060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 works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310896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quests lives in useState. Clicking Accept updates state immutably and the card re-renders itself. No DOM code anywhere.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138160" y="1737360"/>
            <a:ext cx="3520440" cy="37490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66760" y="196596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C9A9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66760" y="1965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26060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Slay the Wall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8366760" y="310896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count, gold total, and a difficulty filter, all derived, never stored. The three features that broke you Tuesday, now trivially correct.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B6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finishers: add a sort by reward, then diff your line count against Tuesday's vanilla version. Bring the number to the rematch.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436  |  Session 4  |  The Enchanted Forge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WEEK-ONE GOTCHAS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of the enchanted forge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853367" y="6519672"/>
            <a:ext cx="201168" cy="201168"/>
          </a:xfrm>
          <a:prstGeom prst="rect">
            <a:avLst/>
          </a:prstGeom>
          <a:solidFill>
            <a:srgbClr val="0F8B8D"/>
          </a:solidFill>
          <a:ln/>
        </p:spPr>
      </p:sp>
      <p:sp>
        <p:nvSpPr>
          <p:cNvPr id="5" name="Shape 3"/>
          <p:cNvSpPr/>
          <p:nvPr/>
        </p:nvSpPr>
        <p:spPr>
          <a:xfrm>
            <a:off x="11560759" y="6519672"/>
            <a:ext cx="140818" cy="140818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6" name="Shape 4"/>
          <p:cNvSpPr/>
          <p:nvPr/>
        </p:nvSpPr>
        <p:spPr>
          <a:xfrm>
            <a:off x="11853367" y="6227064"/>
            <a:ext cx="140818" cy="140818"/>
          </a:xfrm>
          <a:prstGeom prst="rect">
            <a:avLst/>
          </a:prstGeom>
          <a:solidFill>
            <a:srgbClr val="16324F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73736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5875">
            <a:solidFill>
              <a:srgbClr val="D3ED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19933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mutate state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395728"/>
            <a:ext cx="4251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quests.push(q) changes nothing on screen. setQuests([...quests, q]) is the move. New arrays and objects, always.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173736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5875">
            <a:solidFill>
              <a:srgbClr val="D3ED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196596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9224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19933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setter is the spell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2395728"/>
            <a:ext cx="4251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Updating a plain variable is writing in a book nobody reads. Only the setter tells React to redraw.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84048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5875">
            <a:solidFill>
              <a:srgbClr val="D3ED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406908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40965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Keys on every list item</a:t>
            </a:r>
            <a:endParaRPr lang="en-US" sz="165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4498848"/>
            <a:ext cx="4251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map over quests, each card needs key={quest.id}. React uses it to track which card is which between renders.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63640" y="384048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5875">
            <a:solidFill>
              <a:srgbClr val="D3ED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92240" y="4069080"/>
            <a:ext cx="457200" cy="457200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92240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132320" y="40965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Derive, do not duplicate</a:t>
            </a:r>
            <a:endParaRPr lang="en-US" sz="1650" dirty="0"/>
          </a:p>
        </p:txBody>
      </p:sp>
      <p:sp>
        <p:nvSpPr>
          <p:cNvPr id="26" name="Text 24"/>
          <p:cNvSpPr txBox="1"/>
          <p:nvPr/>
        </p:nvSpPr>
        <p:spPr>
          <a:xfrm>
            <a:off x="7132320" y="4498848"/>
            <a:ext cx="4251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Counts, totals, filtered views: compute them in the component body. The moment you store a copy, you are back at the Wall.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436  |  Session 4  |  The Enchanted Forge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LEAVE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972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 ticket + quest log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502920" cy="50292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76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21671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 your enchantment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54203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3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and push your React quest board to GitHub Classroom. Bronze, Silver, or Gold, push what you have.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337560"/>
            <a:ext cx="502920" cy="50292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319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33101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 ticket on Brightspace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368503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3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questions: what does calling a state setter actually cause, and name one value you derived instead of stored.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4480560"/>
            <a:ext cx="502920" cy="50292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462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44531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Carry both hammers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482803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3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hold vanilla and React versions of the same app. Keep them side by side. Next week we give the board a real backend.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8978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felt the pain by hand. Now you understand the cure. That order matters.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11853367" y="6519672"/>
            <a:ext cx="201168" cy="201168"/>
          </a:xfrm>
          <a:prstGeom prst="rect">
            <a:avLst/>
          </a:prstGeom>
          <a:solidFill>
            <a:srgbClr val="0F8B8D"/>
          </a:solidFill>
          <a:ln/>
        </p:spPr>
      </p:sp>
      <p:sp>
        <p:nvSpPr>
          <p:cNvPr id="18" name="Shape 16"/>
          <p:cNvSpPr/>
          <p:nvPr/>
        </p:nvSpPr>
        <p:spPr>
          <a:xfrm>
            <a:off x="11560759" y="6519672"/>
            <a:ext cx="140818" cy="140818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9" name="Shape 17"/>
          <p:cNvSpPr/>
          <p:nvPr/>
        </p:nvSpPr>
        <p:spPr>
          <a:xfrm>
            <a:off x="11853367" y="6227064"/>
            <a:ext cx="140818" cy="140818"/>
          </a:xfrm>
          <a:prstGeom prst="rect">
            <a:avLst/>
          </a:prstGeom>
          <a:solidFill>
            <a:srgbClr val="0B6A6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2026-09-07T15:52:18Z</dcterms:created>
  <dcterms:modified xsi:type="dcterms:W3CDTF">2026-09-07T15:52:18Z</dcterms:modified>
</cp:coreProperties>
</file>